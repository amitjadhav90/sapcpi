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9010" r:id="rId2"/>
    <p:sldId id="2147471644" r:id="rId3"/>
    <p:sldId id="214747163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avind Medur" userId="c65fd9fb-e335-430d-96eb-40f127fd0789" providerId="ADAL" clId="{F1888BFF-EA06-48F9-AD58-611FEB85275D}"/>
    <pc:docChg chg="modSld">
      <pc:chgData name="Aravind Medur" userId="c65fd9fb-e335-430d-96eb-40f127fd0789" providerId="ADAL" clId="{F1888BFF-EA06-48F9-AD58-611FEB85275D}" dt="2024-09-01T16:52:33.643" v="4" actId="14100"/>
      <pc:docMkLst>
        <pc:docMk/>
      </pc:docMkLst>
      <pc:sldChg chg="modSp mod">
        <pc:chgData name="Aravind Medur" userId="c65fd9fb-e335-430d-96eb-40f127fd0789" providerId="ADAL" clId="{F1888BFF-EA06-48F9-AD58-611FEB85275D}" dt="2024-09-01T16:52:33.643" v="4" actId="14100"/>
        <pc:sldMkLst>
          <pc:docMk/>
          <pc:sldMk cId="3134224953" sldId="2147471638"/>
        </pc:sldMkLst>
        <pc:spChg chg="mod">
          <ac:chgData name="Aravind Medur" userId="c65fd9fb-e335-430d-96eb-40f127fd0789" providerId="ADAL" clId="{F1888BFF-EA06-48F9-AD58-611FEB85275D}" dt="2024-09-01T16:52:23.952" v="2" actId="1076"/>
          <ac:spMkLst>
            <pc:docMk/>
            <pc:sldMk cId="3134224953" sldId="2147471638"/>
            <ac:spMk id="36" creationId="{796F5070-2078-0B6B-6475-0254B4A95934}"/>
          </ac:spMkLst>
        </pc:spChg>
        <pc:cxnChg chg="mod">
          <ac:chgData name="Aravind Medur" userId="c65fd9fb-e335-430d-96eb-40f127fd0789" providerId="ADAL" clId="{F1888BFF-EA06-48F9-AD58-611FEB85275D}" dt="2024-09-01T16:52:33.643" v="4" actId="14100"/>
          <ac:cxnSpMkLst>
            <pc:docMk/>
            <pc:sldMk cId="3134224953" sldId="2147471638"/>
            <ac:cxnSpMk id="62" creationId="{93892946-46BE-679E-FC29-862EC8856A70}"/>
          </ac:cxnSpMkLst>
        </pc:cxnChg>
        <pc:cxnChg chg="mod">
          <ac:chgData name="Aravind Medur" userId="c65fd9fb-e335-430d-96eb-40f127fd0789" providerId="ADAL" clId="{F1888BFF-EA06-48F9-AD58-611FEB85275D}" dt="2024-09-01T16:52:30.175" v="3" actId="14100"/>
          <ac:cxnSpMkLst>
            <pc:docMk/>
            <pc:sldMk cId="3134224953" sldId="2147471638"/>
            <ac:cxnSpMk id="120" creationId="{3CE0193B-5AAA-471D-9E9F-79E1726ECE5B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FBA29-C8B7-4C4E-8C81-C75566523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72271-086E-4FC1-9362-D725AEF5A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46" y="1119911"/>
            <a:ext cx="11430316" cy="4350712"/>
          </a:xfrm>
        </p:spPr>
        <p:txBody>
          <a:bodyPr vert="horz" lIns="0" tIns="45720" rIns="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marL="228584" lvl="0" indent="-228584">
              <a:buClr>
                <a:srgbClr val="F03782"/>
              </a:buClr>
            </a:pPr>
            <a:r>
              <a:rPr lang="en-US" dirty="0"/>
              <a:t>Click to edit Master text styles</a:t>
            </a:r>
          </a:p>
          <a:p>
            <a:pPr marL="505793" lvl="1" indent="-228584">
              <a:buClr>
                <a:srgbClr val="F03782"/>
              </a:buClr>
              <a:buFont typeface="Symbol" panose="05050102010706020507" pitchFamily="18" charset="2"/>
              <a:buChar char="-"/>
            </a:pPr>
            <a:r>
              <a:rPr lang="en-US" dirty="0"/>
              <a:t>Second level</a:t>
            </a:r>
          </a:p>
          <a:p>
            <a:pPr marL="782999" lvl="2" indent="-228584">
              <a:buClr>
                <a:srgbClr val="F03782"/>
              </a:buClr>
            </a:pPr>
            <a:r>
              <a:rPr lang="en-US" dirty="0"/>
              <a:t>Third level</a:t>
            </a:r>
          </a:p>
          <a:p>
            <a:pPr marL="1060208" lvl="3" indent="-228584">
              <a:buClr>
                <a:srgbClr val="F03782"/>
              </a:buClr>
              <a:buFont typeface="Courier New" panose="02070309020205020404" pitchFamily="49" charset="0"/>
              <a:buChar char="o"/>
            </a:pPr>
            <a:r>
              <a:rPr lang="en-US" dirty="0"/>
              <a:t>Fourth level</a:t>
            </a:r>
          </a:p>
          <a:p>
            <a:pPr marL="1337417" lvl="4" indent="-228584">
              <a:buClr>
                <a:srgbClr val="F03782"/>
              </a:buClr>
            </a:pPr>
            <a:r>
              <a:rPr lang="en-US" dirty="0"/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211BC2-9726-E8AF-5579-465A150A501D}"/>
              </a:ext>
            </a:extLst>
          </p:cNvPr>
          <p:cNvSpPr txBox="1"/>
          <p:nvPr userDrawn="1"/>
        </p:nvSpPr>
        <p:spPr>
          <a:xfrm>
            <a:off x="6096000" y="652889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TCS – IHCL Confidential</a:t>
            </a:r>
          </a:p>
        </p:txBody>
      </p:sp>
    </p:spTree>
    <p:extLst>
      <p:ext uri="{BB962C8B-B14F-4D97-AF65-F5344CB8AC3E}">
        <p14:creationId xmlns:p14="http://schemas.microsoft.com/office/powerpoint/2010/main" val="3625763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D8D87-8B94-4E76-9CDA-6586738B0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4D5C33-AE96-4EA1-B2BB-AAA290AC8A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 dirty="0"/>
              <a:t>TCS –  IHCL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418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4550AEC-3A88-47B0-9049-F10815084B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 dirty="0"/>
              <a:t>TCS – IHCL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869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79" y="80968"/>
            <a:ext cx="9063567" cy="563563"/>
          </a:xfrm>
          <a:prstGeom prst="rect">
            <a:avLst/>
          </a:prstGeom>
        </p:spPr>
        <p:txBody>
          <a:bodyPr/>
          <a:lstStyle>
            <a:lvl1pPr algn="l">
              <a:lnSpc>
                <a:spcPct val="80000"/>
              </a:lnSpc>
              <a:defRPr sz="2800" b="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8" name="Group 11">
            <a:extLst>
              <a:ext uri="{FF2B5EF4-FFF2-40B4-BE49-F238E27FC236}">
                <a16:creationId xmlns:a16="http://schemas.microsoft.com/office/drawing/2014/main" id="{D725C37D-BA30-4A04-800A-8C13632BB976}"/>
              </a:ext>
            </a:extLst>
          </p:cNvPr>
          <p:cNvGrpSpPr/>
          <p:nvPr userDrawn="1"/>
        </p:nvGrpSpPr>
        <p:grpSpPr>
          <a:xfrm>
            <a:off x="6929945" y="6485325"/>
            <a:ext cx="2664000" cy="144000"/>
            <a:chOff x="380880" y="333360"/>
            <a:chExt cx="2227320" cy="111960"/>
          </a:xfrm>
          <a:solidFill>
            <a:schemeClr val="tx2"/>
          </a:solidFill>
        </p:grpSpPr>
        <p:sp>
          <p:nvSpPr>
            <p:cNvPr id="9" name="CustomShape 12">
              <a:extLst>
                <a:ext uri="{FF2B5EF4-FFF2-40B4-BE49-F238E27FC236}">
                  <a16:creationId xmlns:a16="http://schemas.microsoft.com/office/drawing/2014/main" id="{85CE6F4F-6E78-4731-B1B8-92B4B682C119}"/>
                </a:ext>
              </a:extLst>
            </p:cNvPr>
            <p:cNvSpPr/>
            <p:nvPr/>
          </p:nvSpPr>
          <p:spPr>
            <a:xfrm>
              <a:off x="1955880" y="333360"/>
              <a:ext cx="652320" cy="111960"/>
            </a:xfrm>
            <a:custGeom>
              <a:avLst/>
              <a:gdLst/>
              <a:ahLst/>
              <a:cxnLst/>
              <a:rect l="l" t="t" r="r" b="b"/>
              <a:pathLst>
                <a:path w="3691" h="641">
                  <a:moveTo>
                    <a:pt x="3288" y="601"/>
                  </a:moveTo>
                  <a:lnTo>
                    <a:pt x="3302" y="609"/>
                  </a:lnTo>
                  <a:lnTo>
                    <a:pt x="3319" y="616"/>
                  </a:lnTo>
                  <a:lnTo>
                    <a:pt x="3338" y="622"/>
                  </a:lnTo>
                  <a:lnTo>
                    <a:pt x="3360" y="629"/>
                  </a:lnTo>
                  <a:lnTo>
                    <a:pt x="3382" y="634"/>
                  </a:lnTo>
                  <a:lnTo>
                    <a:pt x="3406" y="637"/>
                  </a:lnTo>
                  <a:lnTo>
                    <a:pt x="3431" y="640"/>
                  </a:lnTo>
                  <a:lnTo>
                    <a:pt x="3455" y="641"/>
                  </a:lnTo>
                  <a:lnTo>
                    <a:pt x="3484" y="640"/>
                  </a:lnTo>
                  <a:lnTo>
                    <a:pt x="3511" y="637"/>
                  </a:lnTo>
                  <a:lnTo>
                    <a:pt x="3524" y="635"/>
                  </a:lnTo>
                  <a:lnTo>
                    <a:pt x="3536" y="632"/>
                  </a:lnTo>
                  <a:lnTo>
                    <a:pt x="3548" y="629"/>
                  </a:lnTo>
                  <a:lnTo>
                    <a:pt x="3559" y="625"/>
                  </a:lnTo>
                  <a:lnTo>
                    <a:pt x="3570" y="621"/>
                  </a:lnTo>
                  <a:lnTo>
                    <a:pt x="3581" y="617"/>
                  </a:lnTo>
                  <a:lnTo>
                    <a:pt x="3590" y="613"/>
                  </a:lnTo>
                  <a:lnTo>
                    <a:pt x="3600" y="608"/>
                  </a:lnTo>
                  <a:lnTo>
                    <a:pt x="3608" y="603"/>
                  </a:lnTo>
                  <a:lnTo>
                    <a:pt x="3618" y="597"/>
                  </a:lnTo>
                  <a:lnTo>
                    <a:pt x="3625" y="591"/>
                  </a:lnTo>
                  <a:lnTo>
                    <a:pt x="3633" y="584"/>
                  </a:lnTo>
                  <a:lnTo>
                    <a:pt x="3639" y="578"/>
                  </a:lnTo>
                  <a:lnTo>
                    <a:pt x="3646" y="571"/>
                  </a:lnTo>
                  <a:lnTo>
                    <a:pt x="3653" y="564"/>
                  </a:lnTo>
                  <a:lnTo>
                    <a:pt x="3658" y="557"/>
                  </a:lnTo>
                  <a:lnTo>
                    <a:pt x="3668" y="541"/>
                  </a:lnTo>
                  <a:lnTo>
                    <a:pt x="3676" y="526"/>
                  </a:lnTo>
                  <a:lnTo>
                    <a:pt x="3682" y="508"/>
                  </a:lnTo>
                  <a:lnTo>
                    <a:pt x="3687" y="491"/>
                  </a:lnTo>
                  <a:lnTo>
                    <a:pt x="3690" y="472"/>
                  </a:lnTo>
                  <a:lnTo>
                    <a:pt x="3691" y="454"/>
                  </a:lnTo>
                  <a:lnTo>
                    <a:pt x="3690" y="437"/>
                  </a:lnTo>
                  <a:lnTo>
                    <a:pt x="3688" y="422"/>
                  </a:lnTo>
                  <a:lnTo>
                    <a:pt x="3684" y="407"/>
                  </a:lnTo>
                  <a:lnTo>
                    <a:pt x="3680" y="393"/>
                  </a:lnTo>
                  <a:lnTo>
                    <a:pt x="3675" y="380"/>
                  </a:lnTo>
                  <a:lnTo>
                    <a:pt x="3668" y="367"/>
                  </a:lnTo>
                  <a:lnTo>
                    <a:pt x="3660" y="355"/>
                  </a:lnTo>
                  <a:lnTo>
                    <a:pt x="3651" y="344"/>
                  </a:lnTo>
                  <a:lnTo>
                    <a:pt x="3640" y="332"/>
                  </a:lnTo>
                  <a:lnTo>
                    <a:pt x="3629" y="322"/>
                  </a:lnTo>
                  <a:lnTo>
                    <a:pt x="3616" y="313"/>
                  </a:lnTo>
                  <a:lnTo>
                    <a:pt x="3601" y="303"/>
                  </a:lnTo>
                  <a:lnTo>
                    <a:pt x="3586" y="294"/>
                  </a:lnTo>
                  <a:lnTo>
                    <a:pt x="3568" y="286"/>
                  </a:lnTo>
                  <a:lnTo>
                    <a:pt x="3550" y="278"/>
                  </a:lnTo>
                  <a:lnTo>
                    <a:pt x="3530" y="270"/>
                  </a:lnTo>
                  <a:lnTo>
                    <a:pt x="3502" y="258"/>
                  </a:lnTo>
                  <a:lnTo>
                    <a:pt x="3477" y="247"/>
                  </a:lnTo>
                  <a:lnTo>
                    <a:pt x="3467" y="242"/>
                  </a:lnTo>
                  <a:lnTo>
                    <a:pt x="3457" y="236"/>
                  </a:lnTo>
                  <a:lnTo>
                    <a:pt x="3448" y="230"/>
                  </a:lnTo>
                  <a:lnTo>
                    <a:pt x="3441" y="224"/>
                  </a:lnTo>
                  <a:lnTo>
                    <a:pt x="3434" y="219"/>
                  </a:lnTo>
                  <a:lnTo>
                    <a:pt x="3428" y="213"/>
                  </a:lnTo>
                  <a:lnTo>
                    <a:pt x="3423" y="206"/>
                  </a:lnTo>
                  <a:lnTo>
                    <a:pt x="3419" y="200"/>
                  </a:lnTo>
                  <a:lnTo>
                    <a:pt x="3416" y="192"/>
                  </a:lnTo>
                  <a:lnTo>
                    <a:pt x="3414" y="184"/>
                  </a:lnTo>
                  <a:lnTo>
                    <a:pt x="3412" y="177"/>
                  </a:lnTo>
                  <a:lnTo>
                    <a:pt x="3412" y="168"/>
                  </a:lnTo>
                  <a:lnTo>
                    <a:pt x="3412" y="162"/>
                  </a:lnTo>
                  <a:lnTo>
                    <a:pt x="3413" y="154"/>
                  </a:lnTo>
                  <a:lnTo>
                    <a:pt x="3415" y="147"/>
                  </a:lnTo>
                  <a:lnTo>
                    <a:pt x="3418" y="141"/>
                  </a:lnTo>
                  <a:lnTo>
                    <a:pt x="3421" y="135"/>
                  </a:lnTo>
                  <a:lnTo>
                    <a:pt x="3426" y="129"/>
                  </a:lnTo>
                  <a:lnTo>
                    <a:pt x="3431" y="122"/>
                  </a:lnTo>
                  <a:lnTo>
                    <a:pt x="3437" y="117"/>
                  </a:lnTo>
                  <a:lnTo>
                    <a:pt x="3443" y="112"/>
                  </a:lnTo>
                  <a:lnTo>
                    <a:pt x="3450" y="107"/>
                  </a:lnTo>
                  <a:lnTo>
                    <a:pt x="3459" y="103"/>
                  </a:lnTo>
                  <a:lnTo>
                    <a:pt x="3469" y="100"/>
                  </a:lnTo>
                  <a:lnTo>
                    <a:pt x="3479" y="97"/>
                  </a:lnTo>
                  <a:lnTo>
                    <a:pt x="3489" y="95"/>
                  </a:lnTo>
                  <a:lnTo>
                    <a:pt x="3502" y="94"/>
                  </a:lnTo>
                  <a:lnTo>
                    <a:pt x="3515" y="94"/>
                  </a:lnTo>
                  <a:lnTo>
                    <a:pt x="3535" y="94"/>
                  </a:lnTo>
                  <a:lnTo>
                    <a:pt x="3555" y="96"/>
                  </a:lnTo>
                  <a:lnTo>
                    <a:pt x="3573" y="100"/>
                  </a:lnTo>
                  <a:lnTo>
                    <a:pt x="3590" y="104"/>
                  </a:lnTo>
                  <a:lnTo>
                    <a:pt x="3604" y="108"/>
                  </a:lnTo>
                  <a:lnTo>
                    <a:pt x="3618" y="113"/>
                  </a:lnTo>
                  <a:lnTo>
                    <a:pt x="3629" y="118"/>
                  </a:lnTo>
                  <a:lnTo>
                    <a:pt x="3638" y="122"/>
                  </a:lnTo>
                  <a:lnTo>
                    <a:pt x="3666" y="31"/>
                  </a:lnTo>
                  <a:lnTo>
                    <a:pt x="3653" y="25"/>
                  </a:lnTo>
                  <a:lnTo>
                    <a:pt x="3638" y="20"/>
                  </a:lnTo>
                  <a:lnTo>
                    <a:pt x="3622" y="14"/>
                  </a:lnTo>
                  <a:lnTo>
                    <a:pt x="3604" y="9"/>
                  </a:lnTo>
                  <a:lnTo>
                    <a:pt x="3585" y="6"/>
                  </a:lnTo>
                  <a:lnTo>
                    <a:pt x="3564" y="3"/>
                  </a:lnTo>
                  <a:lnTo>
                    <a:pt x="3542" y="1"/>
                  </a:lnTo>
                  <a:lnTo>
                    <a:pt x="3517" y="0"/>
                  </a:lnTo>
                  <a:lnTo>
                    <a:pt x="3492" y="1"/>
                  </a:lnTo>
                  <a:lnTo>
                    <a:pt x="3469" y="4"/>
                  </a:lnTo>
                  <a:lnTo>
                    <a:pt x="3447" y="8"/>
                  </a:lnTo>
                  <a:lnTo>
                    <a:pt x="3426" y="14"/>
                  </a:lnTo>
                  <a:lnTo>
                    <a:pt x="3406" y="22"/>
                  </a:lnTo>
                  <a:lnTo>
                    <a:pt x="3389" y="30"/>
                  </a:lnTo>
                  <a:lnTo>
                    <a:pt x="3372" y="40"/>
                  </a:lnTo>
                  <a:lnTo>
                    <a:pt x="3357" y="51"/>
                  </a:lnTo>
                  <a:lnTo>
                    <a:pt x="3343" y="64"/>
                  </a:lnTo>
                  <a:lnTo>
                    <a:pt x="3331" y="77"/>
                  </a:lnTo>
                  <a:lnTo>
                    <a:pt x="3322" y="93"/>
                  </a:lnTo>
                  <a:lnTo>
                    <a:pt x="3312" y="108"/>
                  </a:lnTo>
                  <a:lnTo>
                    <a:pt x="3306" y="124"/>
                  </a:lnTo>
                  <a:lnTo>
                    <a:pt x="3301" y="142"/>
                  </a:lnTo>
                  <a:lnTo>
                    <a:pt x="3298" y="159"/>
                  </a:lnTo>
                  <a:lnTo>
                    <a:pt x="3297" y="179"/>
                  </a:lnTo>
                  <a:lnTo>
                    <a:pt x="3298" y="194"/>
                  </a:lnTo>
                  <a:lnTo>
                    <a:pt x="3300" y="211"/>
                  </a:lnTo>
                  <a:lnTo>
                    <a:pt x="3304" y="225"/>
                  </a:lnTo>
                  <a:lnTo>
                    <a:pt x="3309" y="240"/>
                  </a:lnTo>
                  <a:lnTo>
                    <a:pt x="3316" y="253"/>
                  </a:lnTo>
                  <a:lnTo>
                    <a:pt x="3324" y="265"/>
                  </a:lnTo>
                  <a:lnTo>
                    <a:pt x="3333" y="277"/>
                  </a:lnTo>
                  <a:lnTo>
                    <a:pt x="3343" y="288"/>
                  </a:lnTo>
                  <a:lnTo>
                    <a:pt x="3355" y="299"/>
                  </a:lnTo>
                  <a:lnTo>
                    <a:pt x="3367" y="310"/>
                  </a:lnTo>
                  <a:lnTo>
                    <a:pt x="3381" y="319"/>
                  </a:lnTo>
                  <a:lnTo>
                    <a:pt x="3396" y="328"/>
                  </a:lnTo>
                  <a:lnTo>
                    <a:pt x="3412" y="336"/>
                  </a:lnTo>
                  <a:lnTo>
                    <a:pt x="3429" y="345"/>
                  </a:lnTo>
                  <a:lnTo>
                    <a:pt x="3447" y="352"/>
                  </a:lnTo>
                  <a:lnTo>
                    <a:pt x="3466" y="359"/>
                  </a:lnTo>
                  <a:lnTo>
                    <a:pt x="3492" y="369"/>
                  </a:lnTo>
                  <a:lnTo>
                    <a:pt x="3516" y="381"/>
                  </a:lnTo>
                  <a:lnTo>
                    <a:pt x="3525" y="386"/>
                  </a:lnTo>
                  <a:lnTo>
                    <a:pt x="3534" y="392"/>
                  </a:lnTo>
                  <a:lnTo>
                    <a:pt x="3543" y="397"/>
                  </a:lnTo>
                  <a:lnTo>
                    <a:pt x="3550" y="403"/>
                  </a:lnTo>
                  <a:lnTo>
                    <a:pt x="3556" y="409"/>
                  </a:lnTo>
                  <a:lnTo>
                    <a:pt x="3561" y="417"/>
                  </a:lnTo>
                  <a:lnTo>
                    <a:pt x="3565" y="423"/>
                  </a:lnTo>
                  <a:lnTo>
                    <a:pt x="3569" y="430"/>
                  </a:lnTo>
                  <a:lnTo>
                    <a:pt x="3571" y="437"/>
                  </a:lnTo>
                  <a:lnTo>
                    <a:pt x="3573" y="445"/>
                  </a:lnTo>
                  <a:lnTo>
                    <a:pt x="3575" y="454"/>
                  </a:lnTo>
                  <a:lnTo>
                    <a:pt x="3576" y="462"/>
                  </a:lnTo>
                  <a:lnTo>
                    <a:pt x="3575" y="471"/>
                  </a:lnTo>
                  <a:lnTo>
                    <a:pt x="3573" y="480"/>
                  </a:lnTo>
                  <a:lnTo>
                    <a:pt x="3571" y="489"/>
                  </a:lnTo>
                  <a:lnTo>
                    <a:pt x="3567" y="497"/>
                  </a:lnTo>
                  <a:lnTo>
                    <a:pt x="3563" y="504"/>
                  </a:lnTo>
                  <a:lnTo>
                    <a:pt x="3558" y="511"/>
                  </a:lnTo>
                  <a:lnTo>
                    <a:pt x="3553" y="517"/>
                  </a:lnTo>
                  <a:lnTo>
                    <a:pt x="3546" y="524"/>
                  </a:lnTo>
                  <a:lnTo>
                    <a:pt x="3539" y="529"/>
                  </a:lnTo>
                  <a:lnTo>
                    <a:pt x="3530" y="533"/>
                  </a:lnTo>
                  <a:lnTo>
                    <a:pt x="3521" y="537"/>
                  </a:lnTo>
                  <a:lnTo>
                    <a:pt x="3511" y="540"/>
                  </a:lnTo>
                  <a:lnTo>
                    <a:pt x="3500" y="543"/>
                  </a:lnTo>
                  <a:lnTo>
                    <a:pt x="3488" y="545"/>
                  </a:lnTo>
                  <a:lnTo>
                    <a:pt x="3476" y="546"/>
                  </a:lnTo>
                  <a:lnTo>
                    <a:pt x="3463" y="546"/>
                  </a:lnTo>
                  <a:lnTo>
                    <a:pt x="3441" y="546"/>
                  </a:lnTo>
                  <a:lnTo>
                    <a:pt x="3420" y="543"/>
                  </a:lnTo>
                  <a:lnTo>
                    <a:pt x="3400" y="540"/>
                  </a:lnTo>
                  <a:lnTo>
                    <a:pt x="3379" y="535"/>
                  </a:lnTo>
                  <a:lnTo>
                    <a:pt x="3361" y="529"/>
                  </a:lnTo>
                  <a:lnTo>
                    <a:pt x="3343" y="523"/>
                  </a:lnTo>
                  <a:lnTo>
                    <a:pt x="3327" y="514"/>
                  </a:lnTo>
                  <a:lnTo>
                    <a:pt x="3312" y="507"/>
                  </a:lnTo>
                  <a:lnTo>
                    <a:pt x="3288" y="601"/>
                  </a:lnTo>
                  <a:close/>
                  <a:moveTo>
                    <a:pt x="3188" y="263"/>
                  </a:moveTo>
                  <a:lnTo>
                    <a:pt x="2955" y="263"/>
                  </a:lnTo>
                  <a:lnTo>
                    <a:pt x="2955" y="104"/>
                  </a:lnTo>
                  <a:lnTo>
                    <a:pt x="3202" y="104"/>
                  </a:lnTo>
                  <a:lnTo>
                    <a:pt x="3202" y="10"/>
                  </a:lnTo>
                  <a:lnTo>
                    <a:pt x="2841" y="10"/>
                  </a:lnTo>
                  <a:lnTo>
                    <a:pt x="2841" y="631"/>
                  </a:lnTo>
                  <a:lnTo>
                    <a:pt x="3216" y="631"/>
                  </a:lnTo>
                  <a:lnTo>
                    <a:pt x="3216" y="537"/>
                  </a:lnTo>
                  <a:lnTo>
                    <a:pt x="2955" y="537"/>
                  </a:lnTo>
                  <a:lnTo>
                    <a:pt x="2955" y="355"/>
                  </a:lnTo>
                  <a:lnTo>
                    <a:pt x="3188" y="355"/>
                  </a:lnTo>
                  <a:lnTo>
                    <a:pt x="3188" y="263"/>
                  </a:lnTo>
                  <a:close/>
                  <a:moveTo>
                    <a:pt x="2727" y="523"/>
                  </a:moveTo>
                  <a:lnTo>
                    <a:pt x="2714" y="528"/>
                  </a:lnTo>
                  <a:lnTo>
                    <a:pt x="2701" y="532"/>
                  </a:lnTo>
                  <a:lnTo>
                    <a:pt x="2687" y="536"/>
                  </a:lnTo>
                  <a:lnTo>
                    <a:pt x="2671" y="539"/>
                  </a:lnTo>
                  <a:lnTo>
                    <a:pt x="2655" y="542"/>
                  </a:lnTo>
                  <a:lnTo>
                    <a:pt x="2637" y="544"/>
                  </a:lnTo>
                  <a:lnTo>
                    <a:pt x="2621" y="545"/>
                  </a:lnTo>
                  <a:lnTo>
                    <a:pt x="2604" y="545"/>
                  </a:lnTo>
                  <a:lnTo>
                    <a:pt x="2590" y="545"/>
                  </a:lnTo>
                  <a:lnTo>
                    <a:pt x="2579" y="544"/>
                  </a:lnTo>
                  <a:lnTo>
                    <a:pt x="2567" y="543"/>
                  </a:lnTo>
                  <a:lnTo>
                    <a:pt x="2555" y="541"/>
                  </a:lnTo>
                  <a:lnTo>
                    <a:pt x="2544" y="539"/>
                  </a:lnTo>
                  <a:lnTo>
                    <a:pt x="2533" y="537"/>
                  </a:lnTo>
                  <a:lnTo>
                    <a:pt x="2522" y="534"/>
                  </a:lnTo>
                  <a:lnTo>
                    <a:pt x="2512" y="530"/>
                  </a:lnTo>
                  <a:lnTo>
                    <a:pt x="2502" y="526"/>
                  </a:lnTo>
                  <a:lnTo>
                    <a:pt x="2493" y="522"/>
                  </a:lnTo>
                  <a:lnTo>
                    <a:pt x="2483" y="516"/>
                  </a:lnTo>
                  <a:lnTo>
                    <a:pt x="2475" y="511"/>
                  </a:lnTo>
                  <a:lnTo>
                    <a:pt x="2467" y="505"/>
                  </a:lnTo>
                  <a:lnTo>
                    <a:pt x="2459" y="499"/>
                  </a:lnTo>
                  <a:lnTo>
                    <a:pt x="2451" y="492"/>
                  </a:lnTo>
                  <a:lnTo>
                    <a:pt x="2444" y="486"/>
                  </a:lnTo>
                  <a:lnTo>
                    <a:pt x="2437" y="477"/>
                  </a:lnTo>
                  <a:lnTo>
                    <a:pt x="2431" y="470"/>
                  </a:lnTo>
                  <a:lnTo>
                    <a:pt x="2426" y="462"/>
                  </a:lnTo>
                  <a:lnTo>
                    <a:pt x="2420" y="453"/>
                  </a:lnTo>
                  <a:lnTo>
                    <a:pt x="2414" y="443"/>
                  </a:lnTo>
                  <a:lnTo>
                    <a:pt x="2410" y="434"/>
                  </a:lnTo>
                  <a:lnTo>
                    <a:pt x="2406" y="425"/>
                  </a:lnTo>
                  <a:lnTo>
                    <a:pt x="2402" y="415"/>
                  </a:lnTo>
                  <a:lnTo>
                    <a:pt x="2396" y="393"/>
                  </a:lnTo>
                  <a:lnTo>
                    <a:pt x="2391" y="371"/>
                  </a:lnTo>
                  <a:lnTo>
                    <a:pt x="2389" y="347"/>
                  </a:lnTo>
                  <a:lnTo>
                    <a:pt x="2388" y="322"/>
                  </a:lnTo>
                  <a:lnTo>
                    <a:pt x="2388" y="309"/>
                  </a:lnTo>
                  <a:lnTo>
                    <a:pt x="2389" y="295"/>
                  </a:lnTo>
                  <a:lnTo>
                    <a:pt x="2390" y="282"/>
                  </a:lnTo>
                  <a:lnTo>
                    <a:pt x="2392" y="270"/>
                  </a:lnTo>
                  <a:lnTo>
                    <a:pt x="2394" y="257"/>
                  </a:lnTo>
                  <a:lnTo>
                    <a:pt x="2397" y="246"/>
                  </a:lnTo>
                  <a:lnTo>
                    <a:pt x="2400" y="235"/>
                  </a:lnTo>
                  <a:lnTo>
                    <a:pt x="2403" y="223"/>
                  </a:lnTo>
                  <a:lnTo>
                    <a:pt x="2408" y="213"/>
                  </a:lnTo>
                  <a:lnTo>
                    <a:pt x="2412" y="203"/>
                  </a:lnTo>
                  <a:lnTo>
                    <a:pt x="2418" y="193"/>
                  </a:lnTo>
                  <a:lnTo>
                    <a:pt x="2423" y="184"/>
                  </a:lnTo>
                  <a:lnTo>
                    <a:pt x="2429" y="176"/>
                  </a:lnTo>
                  <a:lnTo>
                    <a:pt x="2435" y="168"/>
                  </a:lnTo>
                  <a:lnTo>
                    <a:pt x="2441" y="159"/>
                  </a:lnTo>
                  <a:lnTo>
                    <a:pt x="2448" y="152"/>
                  </a:lnTo>
                  <a:lnTo>
                    <a:pt x="2457" y="145"/>
                  </a:lnTo>
                  <a:lnTo>
                    <a:pt x="2464" y="139"/>
                  </a:lnTo>
                  <a:lnTo>
                    <a:pt x="2472" y="133"/>
                  </a:lnTo>
                  <a:lnTo>
                    <a:pt x="2480" y="127"/>
                  </a:lnTo>
                  <a:lnTo>
                    <a:pt x="2489" y="121"/>
                  </a:lnTo>
                  <a:lnTo>
                    <a:pt x="2499" y="117"/>
                  </a:lnTo>
                  <a:lnTo>
                    <a:pt x="2508" y="112"/>
                  </a:lnTo>
                  <a:lnTo>
                    <a:pt x="2517" y="109"/>
                  </a:lnTo>
                  <a:lnTo>
                    <a:pt x="2538" y="102"/>
                  </a:lnTo>
                  <a:lnTo>
                    <a:pt x="2559" y="98"/>
                  </a:lnTo>
                  <a:lnTo>
                    <a:pt x="2582" y="95"/>
                  </a:lnTo>
                  <a:lnTo>
                    <a:pt x="2605" y="94"/>
                  </a:lnTo>
                  <a:lnTo>
                    <a:pt x="2623" y="95"/>
                  </a:lnTo>
                  <a:lnTo>
                    <a:pt x="2641" y="96"/>
                  </a:lnTo>
                  <a:lnTo>
                    <a:pt x="2658" y="98"/>
                  </a:lnTo>
                  <a:lnTo>
                    <a:pt x="2673" y="101"/>
                  </a:lnTo>
                  <a:lnTo>
                    <a:pt x="2688" y="105"/>
                  </a:lnTo>
                  <a:lnTo>
                    <a:pt x="2701" y="109"/>
                  </a:lnTo>
                  <a:lnTo>
                    <a:pt x="2714" y="113"/>
                  </a:lnTo>
                  <a:lnTo>
                    <a:pt x="2726" y="118"/>
                  </a:lnTo>
                  <a:lnTo>
                    <a:pt x="2750" y="28"/>
                  </a:lnTo>
                  <a:lnTo>
                    <a:pt x="2740" y="24"/>
                  </a:lnTo>
                  <a:lnTo>
                    <a:pt x="2728" y="19"/>
                  </a:lnTo>
                  <a:lnTo>
                    <a:pt x="2712" y="13"/>
                  </a:lnTo>
                  <a:lnTo>
                    <a:pt x="2695" y="9"/>
                  </a:lnTo>
                  <a:lnTo>
                    <a:pt x="2674" y="6"/>
                  </a:lnTo>
                  <a:lnTo>
                    <a:pt x="2652" y="3"/>
                  </a:lnTo>
                  <a:lnTo>
                    <a:pt x="2627" y="1"/>
                  </a:lnTo>
                  <a:lnTo>
                    <a:pt x="2600" y="0"/>
                  </a:lnTo>
                  <a:lnTo>
                    <a:pt x="2583" y="1"/>
                  </a:lnTo>
                  <a:lnTo>
                    <a:pt x="2566" y="2"/>
                  </a:lnTo>
                  <a:lnTo>
                    <a:pt x="2548" y="4"/>
                  </a:lnTo>
                  <a:lnTo>
                    <a:pt x="2532" y="6"/>
                  </a:lnTo>
                  <a:lnTo>
                    <a:pt x="2515" y="9"/>
                  </a:lnTo>
                  <a:lnTo>
                    <a:pt x="2499" y="13"/>
                  </a:lnTo>
                  <a:lnTo>
                    <a:pt x="2483" y="17"/>
                  </a:lnTo>
                  <a:lnTo>
                    <a:pt x="2468" y="23"/>
                  </a:lnTo>
                  <a:lnTo>
                    <a:pt x="2454" y="29"/>
                  </a:lnTo>
                  <a:lnTo>
                    <a:pt x="2439" y="35"/>
                  </a:lnTo>
                  <a:lnTo>
                    <a:pt x="2426" y="42"/>
                  </a:lnTo>
                  <a:lnTo>
                    <a:pt x="2411" y="50"/>
                  </a:lnTo>
                  <a:lnTo>
                    <a:pt x="2399" y="59"/>
                  </a:lnTo>
                  <a:lnTo>
                    <a:pt x="2387" y="68"/>
                  </a:lnTo>
                  <a:lnTo>
                    <a:pt x="2374" y="77"/>
                  </a:lnTo>
                  <a:lnTo>
                    <a:pt x="2363" y="87"/>
                  </a:lnTo>
                  <a:lnTo>
                    <a:pt x="2352" y="99"/>
                  </a:lnTo>
                  <a:lnTo>
                    <a:pt x="2342" y="110"/>
                  </a:lnTo>
                  <a:lnTo>
                    <a:pt x="2332" y="122"/>
                  </a:lnTo>
                  <a:lnTo>
                    <a:pt x="2323" y="135"/>
                  </a:lnTo>
                  <a:lnTo>
                    <a:pt x="2315" y="148"/>
                  </a:lnTo>
                  <a:lnTo>
                    <a:pt x="2307" y="162"/>
                  </a:lnTo>
                  <a:lnTo>
                    <a:pt x="2300" y="176"/>
                  </a:lnTo>
                  <a:lnTo>
                    <a:pt x="2293" y="190"/>
                  </a:lnTo>
                  <a:lnTo>
                    <a:pt x="2288" y="206"/>
                  </a:lnTo>
                  <a:lnTo>
                    <a:pt x="2283" y="222"/>
                  </a:lnTo>
                  <a:lnTo>
                    <a:pt x="2278" y="239"/>
                  </a:lnTo>
                  <a:lnTo>
                    <a:pt x="2275" y="255"/>
                  </a:lnTo>
                  <a:lnTo>
                    <a:pt x="2272" y="273"/>
                  </a:lnTo>
                  <a:lnTo>
                    <a:pt x="2270" y="290"/>
                  </a:lnTo>
                  <a:lnTo>
                    <a:pt x="2269" y="309"/>
                  </a:lnTo>
                  <a:lnTo>
                    <a:pt x="2269" y="328"/>
                  </a:lnTo>
                  <a:lnTo>
                    <a:pt x="2269" y="346"/>
                  </a:lnTo>
                  <a:lnTo>
                    <a:pt x="2270" y="362"/>
                  </a:lnTo>
                  <a:lnTo>
                    <a:pt x="2272" y="380"/>
                  </a:lnTo>
                  <a:lnTo>
                    <a:pt x="2274" y="395"/>
                  </a:lnTo>
                  <a:lnTo>
                    <a:pt x="2277" y="412"/>
                  </a:lnTo>
                  <a:lnTo>
                    <a:pt x="2281" y="427"/>
                  </a:lnTo>
                  <a:lnTo>
                    <a:pt x="2285" y="441"/>
                  </a:lnTo>
                  <a:lnTo>
                    <a:pt x="2290" y="457"/>
                  </a:lnTo>
                  <a:lnTo>
                    <a:pt x="2295" y="470"/>
                  </a:lnTo>
                  <a:lnTo>
                    <a:pt x="2302" y="484"/>
                  </a:lnTo>
                  <a:lnTo>
                    <a:pt x="2309" y="497"/>
                  </a:lnTo>
                  <a:lnTo>
                    <a:pt x="2317" y="509"/>
                  </a:lnTo>
                  <a:lnTo>
                    <a:pt x="2325" y="522"/>
                  </a:lnTo>
                  <a:lnTo>
                    <a:pt x="2333" y="534"/>
                  </a:lnTo>
                  <a:lnTo>
                    <a:pt x="2343" y="544"/>
                  </a:lnTo>
                  <a:lnTo>
                    <a:pt x="2353" y="555"/>
                  </a:lnTo>
                  <a:lnTo>
                    <a:pt x="2363" y="565"/>
                  </a:lnTo>
                  <a:lnTo>
                    <a:pt x="2374" y="574"/>
                  </a:lnTo>
                  <a:lnTo>
                    <a:pt x="2386" y="583"/>
                  </a:lnTo>
                  <a:lnTo>
                    <a:pt x="2398" y="592"/>
                  </a:lnTo>
                  <a:lnTo>
                    <a:pt x="2411" y="599"/>
                  </a:lnTo>
                  <a:lnTo>
                    <a:pt x="2424" y="606"/>
                  </a:lnTo>
                  <a:lnTo>
                    <a:pt x="2438" y="612"/>
                  </a:lnTo>
                  <a:lnTo>
                    <a:pt x="2452" y="618"/>
                  </a:lnTo>
                  <a:lnTo>
                    <a:pt x="2467" y="623"/>
                  </a:lnTo>
                  <a:lnTo>
                    <a:pt x="2482" y="628"/>
                  </a:lnTo>
                  <a:lnTo>
                    <a:pt x="2499" y="632"/>
                  </a:lnTo>
                  <a:lnTo>
                    <a:pt x="2515" y="635"/>
                  </a:lnTo>
                  <a:lnTo>
                    <a:pt x="2532" y="637"/>
                  </a:lnTo>
                  <a:lnTo>
                    <a:pt x="2549" y="639"/>
                  </a:lnTo>
                  <a:lnTo>
                    <a:pt x="2567" y="640"/>
                  </a:lnTo>
                  <a:lnTo>
                    <a:pt x="2585" y="641"/>
                  </a:lnTo>
                  <a:lnTo>
                    <a:pt x="2612" y="640"/>
                  </a:lnTo>
                  <a:lnTo>
                    <a:pt x="2637" y="638"/>
                  </a:lnTo>
                  <a:lnTo>
                    <a:pt x="2661" y="635"/>
                  </a:lnTo>
                  <a:lnTo>
                    <a:pt x="2684" y="632"/>
                  </a:lnTo>
                  <a:lnTo>
                    <a:pt x="2702" y="628"/>
                  </a:lnTo>
                  <a:lnTo>
                    <a:pt x="2720" y="622"/>
                  </a:lnTo>
                  <a:lnTo>
                    <a:pt x="2734" y="617"/>
                  </a:lnTo>
                  <a:lnTo>
                    <a:pt x="2745" y="612"/>
                  </a:lnTo>
                  <a:lnTo>
                    <a:pt x="2727" y="523"/>
                  </a:lnTo>
                  <a:close/>
                  <a:moveTo>
                    <a:pt x="2058" y="10"/>
                  </a:moveTo>
                  <a:lnTo>
                    <a:pt x="2058" y="631"/>
                  </a:lnTo>
                  <a:lnTo>
                    <a:pt x="2171" y="631"/>
                  </a:lnTo>
                  <a:lnTo>
                    <a:pt x="2171" y="10"/>
                  </a:lnTo>
                  <a:lnTo>
                    <a:pt x="2058" y="10"/>
                  </a:lnTo>
                  <a:close/>
                  <a:moveTo>
                    <a:pt x="1776" y="631"/>
                  </a:moveTo>
                  <a:lnTo>
                    <a:pt x="1991" y="10"/>
                  </a:lnTo>
                  <a:lnTo>
                    <a:pt x="1871" y="10"/>
                  </a:lnTo>
                  <a:lnTo>
                    <a:pt x="1780" y="294"/>
                  </a:lnTo>
                  <a:lnTo>
                    <a:pt x="1771" y="322"/>
                  </a:lnTo>
                  <a:lnTo>
                    <a:pt x="1762" y="351"/>
                  </a:lnTo>
                  <a:lnTo>
                    <a:pt x="1754" y="379"/>
                  </a:lnTo>
                  <a:lnTo>
                    <a:pt x="1746" y="407"/>
                  </a:lnTo>
                  <a:lnTo>
                    <a:pt x="1738" y="435"/>
                  </a:lnTo>
                  <a:lnTo>
                    <a:pt x="1730" y="463"/>
                  </a:lnTo>
                  <a:lnTo>
                    <a:pt x="1724" y="491"/>
                  </a:lnTo>
                  <a:lnTo>
                    <a:pt x="1717" y="518"/>
                  </a:lnTo>
                  <a:lnTo>
                    <a:pt x="1715" y="518"/>
                  </a:lnTo>
                  <a:lnTo>
                    <a:pt x="1709" y="491"/>
                  </a:lnTo>
                  <a:lnTo>
                    <a:pt x="1702" y="462"/>
                  </a:lnTo>
                  <a:lnTo>
                    <a:pt x="1695" y="434"/>
                  </a:lnTo>
                  <a:lnTo>
                    <a:pt x="1688" y="406"/>
                  </a:lnTo>
                  <a:lnTo>
                    <a:pt x="1680" y="379"/>
                  </a:lnTo>
                  <a:lnTo>
                    <a:pt x="1672" y="350"/>
                  </a:lnTo>
                  <a:lnTo>
                    <a:pt x="1663" y="321"/>
                  </a:lnTo>
                  <a:lnTo>
                    <a:pt x="1654" y="292"/>
                  </a:lnTo>
                  <a:lnTo>
                    <a:pt x="1570" y="10"/>
                  </a:lnTo>
                  <a:lnTo>
                    <a:pt x="1447" y="10"/>
                  </a:lnTo>
                  <a:lnTo>
                    <a:pt x="1647" y="631"/>
                  </a:lnTo>
                  <a:lnTo>
                    <a:pt x="1776" y="631"/>
                  </a:lnTo>
                  <a:close/>
                  <a:moveTo>
                    <a:pt x="1090" y="97"/>
                  </a:moveTo>
                  <a:lnTo>
                    <a:pt x="1101" y="95"/>
                  </a:lnTo>
                  <a:lnTo>
                    <a:pt x="1117" y="93"/>
                  </a:lnTo>
                  <a:lnTo>
                    <a:pt x="1136" y="92"/>
                  </a:lnTo>
                  <a:lnTo>
                    <a:pt x="1161" y="91"/>
                  </a:lnTo>
                  <a:lnTo>
                    <a:pt x="1174" y="92"/>
                  </a:lnTo>
                  <a:lnTo>
                    <a:pt x="1187" y="93"/>
                  </a:lnTo>
                  <a:lnTo>
                    <a:pt x="1199" y="95"/>
                  </a:lnTo>
                  <a:lnTo>
                    <a:pt x="1210" y="97"/>
                  </a:lnTo>
                  <a:lnTo>
                    <a:pt x="1222" y="100"/>
                  </a:lnTo>
                  <a:lnTo>
                    <a:pt x="1231" y="105"/>
                  </a:lnTo>
                  <a:lnTo>
                    <a:pt x="1240" y="109"/>
                  </a:lnTo>
                  <a:lnTo>
                    <a:pt x="1248" y="115"/>
                  </a:lnTo>
                  <a:lnTo>
                    <a:pt x="1256" y="121"/>
                  </a:lnTo>
                  <a:lnTo>
                    <a:pt x="1263" y="130"/>
                  </a:lnTo>
                  <a:lnTo>
                    <a:pt x="1268" y="137"/>
                  </a:lnTo>
                  <a:lnTo>
                    <a:pt x="1273" y="146"/>
                  </a:lnTo>
                  <a:lnTo>
                    <a:pt x="1277" y="156"/>
                  </a:lnTo>
                  <a:lnTo>
                    <a:pt x="1279" y="167"/>
                  </a:lnTo>
                  <a:lnTo>
                    <a:pt x="1281" y="178"/>
                  </a:lnTo>
                  <a:lnTo>
                    <a:pt x="1281" y="190"/>
                  </a:lnTo>
                  <a:lnTo>
                    <a:pt x="1281" y="202"/>
                  </a:lnTo>
                  <a:lnTo>
                    <a:pt x="1279" y="212"/>
                  </a:lnTo>
                  <a:lnTo>
                    <a:pt x="1277" y="222"/>
                  </a:lnTo>
                  <a:lnTo>
                    <a:pt x="1273" y="232"/>
                  </a:lnTo>
                  <a:lnTo>
                    <a:pt x="1268" y="242"/>
                  </a:lnTo>
                  <a:lnTo>
                    <a:pt x="1263" y="250"/>
                  </a:lnTo>
                  <a:lnTo>
                    <a:pt x="1255" y="257"/>
                  </a:lnTo>
                  <a:lnTo>
                    <a:pt x="1248" y="264"/>
                  </a:lnTo>
                  <a:lnTo>
                    <a:pt x="1240" y="271"/>
                  </a:lnTo>
                  <a:lnTo>
                    <a:pt x="1231" y="277"/>
                  </a:lnTo>
                  <a:lnTo>
                    <a:pt x="1221" y="281"/>
                  </a:lnTo>
                  <a:lnTo>
                    <a:pt x="1209" y="285"/>
                  </a:lnTo>
                  <a:lnTo>
                    <a:pt x="1197" y="288"/>
                  </a:lnTo>
                  <a:lnTo>
                    <a:pt x="1185" y="291"/>
                  </a:lnTo>
                  <a:lnTo>
                    <a:pt x="1171" y="292"/>
                  </a:lnTo>
                  <a:lnTo>
                    <a:pt x="1158" y="292"/>
                  </a:lnTo>
                  <a:lnTo>
                    <a:pt x="1090" y="292"/>
                  </a:lnTo>
                  <a:lnTo>
                    <a:pt x="1090" y="97"/>
                  </a:lnTo>
                  <a:close/>
                  <a:moveTo>
                    <a:pt x="978" y="631"/>
                  </a:moveTo>
                  <a:lnTo>
                    <a:pt x="1090" y="631"/>
                  </a:lnTo>
                  <a:lnTo>
                    <a:pt x="1090" y="375"/>
                  </a:lnTo>
                  <a:lnTo>
                    <a:pt x="1148" y="375"/>
                  </a:lnTo>
                  <a:lnTo>
                    <a:pt x="1159" y="377"/>
                  </a:lnTo>
                  <a:lnTo>
                    <a:pt x="1170" y="378"/>
                  </a:lnTo>
                  <a:lnTo>
                    <a:pt x="1180" y="380"/>
                  </a:lnTo>
                  <a:lnTo>
                    <a:pt x="1190" y="382"/>
                  </a:lnTo>
                  <a:lnTo>
                    <a:pt x="1198" y="385"/>
                  </a:lnTo>
                  <a:lnTo>
                    <a:pt x="1206" y="389"/>
                  </a:lnTo>
                  <a:lnTo>
                    <a:pt x="1213" y="394"/>
                  </a:lnTo>
                  <a:lnTo>
                    <a:pt x="1221" y="400"/>
                  </a:lnTo>
                  <a:lnTo>
                    <a:pt x="1227" y="407"/>
                  </a:lnTo>
                  <a:lnTo>
                    <a:pt x="1233" y="415"/>
                  </a:lnTo>
                  <a:lnTo>
                    <a:pt x="1238" y="424"/>
                  </a:lnTo>
                  <a:lnTo>
                    <a:pt x="1243" y="433"/>
                  </a:lnTo>
                  <a:lnTo>
                    <a:pt x="1247" y="444"/>
                  </a:lnTo>
                  <a:lnTo>
                    <a:pt x="1251" y="457"/>
                  </a:lnTo>
                  <a:lnTo>
                    <a:pt x="1255" y="470"/>
                  </a:lnTo>
                  <a:lnTo>
                    <a:pt x="1259" y="485"/>
                  </a:lnTo>
                  <a:lnTo>
                    <a:pt x="1272" y="537"/>
                  </a:lnTo>
                  <a:lnTo>
                    <a:pt x="1283" y="579"/>
                  </a:lnTo>
                  <a:lnTo>
                    <a:pt x="1288" y="597"/>
                  </a:lnTo>
                  <a:lnTo>
                    <a:pt x="1292" y="611"/>
                  </a:lnTo>
                  <a:lnTo>
                    <a:pt x="1297" y="622"/>
                  </a:lnTo>
                  <a:lnTo>
                    <a:pt x="1301" y="631"/>
                  </a:lnTo>
                  <a:lnTo>
                    <a:pt x="1417" y="631"/>
                  </a:lnTo>
                  <a:lnTo>
                    <a:pt x="1413" y="619"/>
                  </a:lnTo>
                  <a:lnTo>
                    <a:pt x="1406" y="605"/>
                  </a:lnTo>
                  <a:lnTo>
                    <a:pt x="1401" y="585"/>
                  </a:lnTo>
                  <a:lnTo>
                    <a:pt x="1395" y="565"/>
                  </a:lnTo>
                  <a:lnTo>
                    <a:pt x="1389" y="540"/>
                  </a:lnTo>
                  <a:lnTo>
                    <a:pt x="1382" y="514"/>
                  </a:lnTo>
                  <a:lnTo>
                    <a:pt x="1376" y="487"/>
                  </a:lnTo>
                  <a:lnTo>
                    <a:pt x="1368" y="458"/>
                  </a:lnTo>
                  <a:lnTo>
                    <a:pt x="1362" y="436"/>
                  </a:lnTo>
                  <a:lnTo>
                    <a:pt x="1354" y="416"/>
                  </a:lnTo>
                  <a:lnTo>
                    <a:pt x="1346" y="398"/>
                  </a:lnTo>
                  <a:lnTo>
                    <a:pt x="1336" y="382"/>
                  </a:lnTo>
                  <a:lnTo>
                    <a:pt x="1330" y="374"/>
                  </a:lnTo>
                  <a:lnTo>
                    <a:pt x="1324" y="367"/>
                  </a:lnTo>
                  <a:lnTo>
                    <a:pt x="1318" y="361"/>
                  </a:lnTo>
                  <a:lnTo>
                    <a:pt x="1312" y="355"/>
                  </a:lnTo>
                  <a:lnTo>
                    <a:pt x="1305" y="350"/>
                  </a:lnTo>
                  <a:lnTo>
                    <a:pt x="1298" y="346"/>
                  </a:lnTo>
                  <a:lnTo>
                    <a:pt x="1290" y="342"/>
                  </a:lnTo>
                  <a:lnTo>
                    <a:pt x="1282" y="337"/>
                  </a:lnTo>
                  <a:lnTo>
                    <a:pt x="1282" y="335"/>
                  </a:lnTo>
                  <a:lnTo>
                    <a:pt x="1292" y="330"/>
                  </a:lnTo>
                  <a:lnTo>
                    <a:pt x="1304" y="326"/>
                  </a:lnTo>
                  <a:lnTo>
                    <a:pt x="1314" y="320"/>
                  </a:lnTo>
                  <a:lnTo>
                    <a:pt x="1324" y="314"/>
                  </a:lnTo>
                  <a:lnTo>
                    <a:pt x="1334" y="306"/>
                  </a:lnTo>
                  <a:lnTo>
                    <a:pt x="1343" y="298"/>
                  </a:lnTo>
                  <a:lnTo>
                    <a:pt x="1352" y="289"/>
                  </a:lnTo>
                  <a:lnTo>
                    <a:pt x="1360" y="280"/>
                  </a:lnTo>
                  <a:lnTo>
                    <a:pt x="1367" y="270"/>
                  </a:lnTo>
                  <a:lnTo>
                    <a:pt x="1374" y="258"/>
                  </a:lnTo>
                  <a:lnTo>
                    <a:pt x="1380" y="247"/>
                  </a:lnTo>
                  <a:lnTo>
                    <a:pt x="1385" y="235"/>
                  </a:lnTo>
                  <a:lnTo>
                    <a:pt x="1389" y="222"/>
                  </a:lnTo>
                  <a:lnTo>
                    <a:pt x="1392" y="209"/>
                  </a:lnTo>
                  <a:lnTo>
                    <a:pt x="1394" y="194"/>
                  </a:lnTo>
                  <a:lnTo>
                    <a:pt x="1394" y="180"/>
                  </a:lnTo>
                  <a:lnTo>
                    <a:pt x="1393" y="160"/>
                  </a:lnTo>
                  <a:lnTo>
                    <a:pt x="1391" y="142"/>
                  </a:lnTo>
                  <a:lnTo>
                    <a:pt x="1386" y="124"/>
                  </a:lnTo>
                  <a:lnTo>
                    <a:pt x="1381" y="108"/>
                  </a:lnTo>
                  <a:lnTo>
                    <a:pt x="1373" y="94"/>
                  </a:lnTo>
                  <a:lnTo>
                    <a:pt x="1363" y="79"/>
                  </a:lnTo>
                  <a:lnTo>
                    <a:pt x="1353" y="67"/>
                  </a:lnTo>
                  <a:lnTo>
                    <a:pt x="1341" y="56"/>
                  </a:lnTo>
                  <a:lnTo>
                    <a:pt x="1333" y="49"/>
                  </a:lnTo>
                  <a:lnTo>
                    <a:pt x="1324" y="43"/>
                  </a:lnTo>
                  <a:lnTo>
                    <a:pt x="1315" y="38"/>
                  </a:lnTo>
                  <a:lnTo>
                    <a:pt x="1306" y="33"/>
                  </a:lnTo>
                  <a:lnTo>
                    <a:pt x="1296" y="28"/>
                  </a:lnTo>
                  <a:lnTo>
                    <a:pt x="1285" y="24"/>
                  </a:lnTo>
                  <a:lnTo>
                    <a:pt x="1275" y="21"/>
                  </a:lnTo>
                  <a:lnTo>
                    <a:pt x="1263" y="17"/>
                  </a:lnTo>
                  <a:lnTo>
                    <a:pt x="1238" y="12"/>
                  </a:lnTo>
                  <a:lnTo>
                    <a:pt x="1211" y="8"/>
                  </a:lnTo>
                  <a:lnTo>
                    <a:pt x="1181" y="6"/>
                  </a:lnTo>
                  <a:lnTo>
                    <a:pt x="1150" y="5"/>
                  </a:lnTo>
                  <a:lnTo>
                    <a:pt x="1125" y="5"/>
                  </a:lnTo>
                  <a:lnTo>
                    <a:pt x="1101" y="6"/>
                  </a:lnTo>
                  <a:lnTo>
                    <a:pt x="1078" y="7"/>
                  </a:lnTo>
                  <a:lnTo>
                    <a:pt x="1055" y="9"/>
                  </a:lnTo>
                  <a:lnTo>
                    <a:pt x="1034" y="11"/>
                  </a:lnTo>
                  <a:lnTo>
                    <a:pt x="1014" y="13"/>
                  </a:lnTo>
                  <a:lnTo>
                    <a:pt x="995" y="15"/>
                  </a:lnTo>
                  <a:lnTo>
                    <a:pt x="978" y="19"/>
                  </a:lnTo>
                  <a:lnTo>
                    <a:pt x="978" y="631"/>
                  </a:lnTo>
                  <a:close/>
                  <a:moveTo>
                    <a:pt x="852" y="263"/>
                  </a:moveTo>
                  <a:lnTo>
                    <a:pt x="617" y="263"/>
                  </a:lnTo>
                  <a:lnTo>
                    <a:pt x="617" y="104"/>
                  </a:lnTo>
                  <a:lnTo>
                    <a:pt x="865" y="104"/>
                  </a:lnTo>
                  <a:lnTo>
                    <a:pt x="865" y="10"/>
                  </a:lnTo>
                  <a:lnTo>
                    <a:pt x="504" y="10"/>
                  </a:lnTo>
                  <a:lnTo>
                    <a:pt x="504" y="631"/>
                  </a:lnTo>
                  <a:lnTo>
                    <a:pt x="879" y="631"/>
                  </a:lnTo>
                  <a:lnTo>
                    <a:pt x="879" y="537"/>
                  </a:lnTo>
                  <a:lnTo>
                    <a:pt x="617" y="537"/>
                  </a:lnTo>
                  <a:lnTo>
                    <a:pt x="617" y="355"/>
                  </a:lnTo>
                  <a:lnTo>
                    <a:pt x="852" y="355"/>
                  </a:lnTo>
                  <a:lnTo>
                    <a:pt x="852" y="263"/>
                  </a:lnTo>
                  <a:close/>
                  <a:moveTo>
                    <a:pt x="0" y="601"/>
                  </a:moveTo>
                  <a:lnTo>
                    <a:pt x="14" y="609"/>
                  </a:lnTo>
                  <a:lnTo>
                    <a:pt x="32" y="616"/>
                  </a:lnTo>
                  <a:lnTo>
                    <a:pt x="50" y="622"/>
                  </a:lnTo>
                  <a:lnTo>
                    <a:pt x="72" y="629"/>
                  </a:lnTo>
                  <a:lnTo>
                    <a:pt x="94" y="634"/>
                  </a:lnTo>
                  <a:lnTo>
                    <a:pt x="118" y="637"/>
                  </a:lnTo>
                  <a:lnTo>
                    <a:pt x="143" y="640"/>
                  </a:lnTo>
                  <a:lnTo>
                    <a:pt x="167" y="641"/>
                  </a:lnTo>
                  <a:lnTo>
                    <a:pt x="196" y="640"/>
                  </a:lnTo>
                  <a:lnTo>
                    <a:pt x="224" y="637"/>
                  </a:lnTo>
                  <a:lnTo>
                    <a:pt x="236" y="635"/>
                  </a:lnTo>
                  <a:lnTo>
                    <a:pt x="248" y="632"/>
                  </a:lnTo>
                  <a:lnTo>
                    <a:pt x="261" y="629"/>
                  </a:lnTo>
                  <a:lnTo>
                    <a:pt x="272" y="625"/>
                  </a:lnTo>
                  <a:lnTo>
                    <a:pt x="282" y="621"/>
                  </a:lnTo>
                  <a:lnTo>
                    <a:pt x="293" y="617"/>
                  </a:lnTo>
                  <a:lnTo>
                    <a:pt x="303" y="613"/>
                  </a:lnTo>
                  <a:lnTo>
                    <a:pt x="312" y="608"/>
                  </a:lnTo>
                  <a:lnTo>
                    <a:pt x="321" y="603"/>
                  </a:lnTo>
                  <a:lnTo>
                    <a:pt x="330" y="597"/>
                  </a:lnTo>
                  <a:lnTo>
                    <a:pt x="338" y="591"/>
                  </a:lnTo>
                  <a:lnTo>
                    <a:pt x="345" y="584"/>
                  </a:lnTo>
                  <a:lnTo>
                    <a:pt x="352" y="578"/>
                  </a:lnTo>
                  <a:lnTo>
                    <a:pt x="358" y="571"/>
                  </a:lnTo>
                  <a:lnTo>
                    <a:pt x="365" y="564"/>
                  </a:lnTo>
                  <a:lnTo>
                    <a:pt x="371" y="557"/>
                  </a:lnTo>
                  <a:lnTo>
                    <a:pt x="380" y="541"/>
                  </a:lnTo>
                  <a:lnTo>
                    <a:pt x="388" y="526"/>
                  </a:lnTo>
                  <a:lnTo>
                    <a:pt x="394" y="508"/>
                  </a:lnTo>
                  <a:lnTo>
                    <a:pt x="400" y="491"/>
                  </a:lnTo>
                  <a:lnTo>
                    <a:pt x="402" y="472"/>
                  </a:lnTo>
                  <a:lnTo>
                    <a:pt x="403" y="454"/>
                  </a:lnTo>
                  <a:lnTo>
                    <a:pt x="402" y="437"/>
                  </a:lnTo>
                  <a:lnTo>
                    <a:pt x="401" y="422"/>
                  </a:lnTo>
                  <a:lnTo>
                    <a:pt x="397" y="407"/>
                  </a:lnTo>
                  <a:lnTo>
                    <a:pt x="393" y="393"/>
                  </a:lnTo>
                  <a:lnTo>
                    <a:pt x="387" y="380"/>
                  </a:lnTo>
                  <a:lnTo>
                    <a:pt x="381" y="367"/>
                  </a:lnTo>
                  <a:lnTo>
                    <a:pt x="373" y="355"/>
                  </a:lnTo>
                  <a:lnTo>
                    <a:pt x="364" y="344"/>
                  </a:lnTo>
                  <a:lnTo>
                    <a:pt x="353" y="332"/>
                  </a:lnTo>
                  <a:lnTo>
                    <a:pt x="341" y="322"/>
                  </a:lnTo>
                  <a:lnTo>
                    <a:pt x="328" y="313"/>
                  </a:lnTo>
                  <a:lnTo>
                    <a:pt x="313" y="303"/>
                  </a:lnTo>
                  <a:lnTo>
                    <a:pt x="298" y="294"/>
                  </a:lnTo>
                  <a:lnTo>
                    <a:pt x="281" y="286"/>
                  </a:lnTo>
                  <a:lnTo>
                    <a:pt x="263" y="278"/>
                  </a:lnTo>
                  <a:lnTo>
                    <a:pt x="243" y="270"/>
                  </a:lnTo>
                  <a:lnTo>
                    <a:pt x="215" y="258"/>
                  </a:lnTo>
                  <a:lnTo>
                    <a:pt x="190" y="247"/>
                  </a:lnTo>
                  <a:lnTo>
                    <a:pt x="179" y="242"/>
                  </a:lnTo>
                  <a:lnTo>
                    <a:pt x="169" y="236"/>
                  </a:lnTo>
                  <a:lnTo>
                    <a:pt x="161" y="230"/>
                  </a:lnTo>
                  <a:lnTo>
                    <a:pt x="153" y="224"/>
                  </a:lnTo>
                  <a:lnTo>
                    <a:pt x="146" y="219"/>
                  </a:lnTo>
                  <a:lnTo>
                    <a:pt x="141" y="213"/>
                  </a:lnTo>
                  <a:lnTo>
                    <a:pt x="135" y="206"/>
                  </a:lnTo>
                  <a:lnTo>
                    <a:pt x="131" y="200"/>
                  </a:lnTo>
                  <a:lnTo>
                    <a:pt x="128" y="192"/>
                  </a:lnTo>
                  <a:lnTo>
                    <a:pt x="126" y="184"/>
                  </a:lnTo>
                  <a:lnTo>
                    <a:pt x="125" y="177"/>
                  </a:lnTo>
                  <a:lnTo>
                    <a:pt x="125" y="168"/>
                  </a:lnTo>
                  <a:lnTo>
                    <a:pt x="125" y="162"/>
                  </a:lnTo>
                  <a:lnTo>
                    <a:pt x="126" y="154"/>
                  </a:lnTo>
                  <a:lnTo>
                    <a:pt x="128" y="147"/>
                  </a:lnTo>
                  <a:lnTo>
                    <a:pt x="130" y="141"/>
                  </a:lnTo>
                  <a:lnTo>
                    <a:pt x="134" y="135"/>
                  </a:lnTo>
                  <a:lnTo>
                    <a:pt x="139" y="129"/>
                  </a:lnTo>
                  <a:lnTo>
                    <a:pt x="143" y="122"/>
                  </a:lnTo>
                  <a:lnTo>
                    <a:pt x="149" y="117"/>
                  </a:lnTo>
                  <a:lnTo>
                    <a:pt x="156" y="112"/>
                  </a:lnTo>
                  <a:lnTo>
                    <a:pt x="163" y="107"/>
                  </a:lnTo>
                  <a:lnTo>
                    <a:pt x="171" y="103"/>
                  </a:lnTo>
                  <a:lnTo>
                    <a:pt x="181" y="100"/>
                  </a:lnTo>
                  <a:lnTo>
                    <a:pt x="191" y="97"/>
                  </a:lnTo>
                  <a:lnTo>
                    <a:pt x="202" y="95"/>
                  </a:lnTo>
                  <a:lnTo>
                    <a:pt x="215" y="94"/>
                  </a:lnTo>
                  <a:lnTo>
                    <a:pt x="227" y="94"/>
                  </a:lnTo>
                  <a:lnTo>
                    <a:pt x="248" y="94"/>
                  </a:lnTo>
                  <a:lnTo>
                    <a:pt x="268" y="96"/>
                  </a:lnTo>
                  <a:lnTo>
                    <a:pt x="285" y="100"/>
                  </a:lnTo>
                  <a:lnTo>
                    <a:pt x="302" y="104"/>
                  </a:lnTo>
                  <a:lnTo>
                    <a:pt x="317" y="108"/>
                  </a:lnTo>
                  <a:lnTo>
                    <a:pt x="331" y="113"/>
                  </a:lnTo>
                  <a:lnTo>
                    <a:pt x="342" y="118"/>
                  </a:lnTo>
                  <a:lnTo>
                    <a:pt x="351" y="122"/>
                  </a:lnTo>
                  <a:lnTo>
                    <a:pt x="378" y="31"/>
                  </a:lnTo>
                  <a:lnTo>
                    <a:pt x="366" y="25"/>
                  </a:lnTo>
                  <a:lnTo>
                    <a:pt x="350" y="20"/>
                  </a:lnTo>
                  <a:lnTo>
                    <a:pt x="335" y="14"/>
                  </a:lnTo>
                  <a:lnTo>
                    <a:pt x="316" y="9"/>
                  </a:lnTo>
                  <a:lnTo>
                    <a:pt x="298" y="6"/>
                  </a:lnTo>
                  <a:lnTo>
                    <a:pt x="276" y="3"/>
                  </a:lnTo>
                  <a:lnTo>
                    <a:pt x="254" y="1"/>
                  </a:lnTo>
                  <a:lnTo>
                    <a:pt x="229" y="0"/>
                  </a:lnTo>
                  <a:lnTo>
                    <a:pt x="204" y="1"/>
                  </a:lnTo>
                  <a:lnTo>
                    <a:pt x="182" y="4"/>
                  </a:lnTo>
                  <a:lnTo>
                    <a:pt x="159" y="8"/>
                  </a:lnTo>
                  <a:lnTo>
                    <a:pt x="139" y="14"/>
                  </a:lnTo>
                  <a:lnTo>
                    <a:pt x="119" y="22"/>
                  </a:lnTo>
                  <a:lnTo>
                    <a:pt x="101" y="30"/>
                  </a:lnTo>
                  <a:lnTo>
                    <a:pt x="84" y="40"/>
                  </a:lnTo>
                  <a:lnTo>
                    <a:pt x="70" y="51"/>
                  </a:lnTo>
                  <a:lnTo>
                    <a:pt x="56" y="64"/>
                  </a:lnTo>
                  <a:lnTo>
                    <a:pt x="44" y="77"/>
                  </a:lnTo>
                  <a:lnTo>
                    <a:pt x="34" y="93"/>
                  </a:lnTo>
                  <a:lnTo>
                    <a:pt x="26" y="108"/>
                  </a:lnTo>
                  <a:lnTo>
                    <a:pt x="18" y="124"/>
                  </a:lnTo>
                  <a:lnTo>
                    <a:pt x="14" y="142"/>
                  </a:lnTo>
                  <a:lnTo>
                    <a:pt x="11" y="159"/>
                  </a:lnTo>
                  <a:lnTo>
                    <a:pt x="10" y="179"/>
                  </a:lnTo>
                  <a:lnTo>
                    <a:pt x="11" y="194"/>
                  </a:lnTo>
                  <a:lnTo>
                    <a:pt x="13" y="211"/>
                  </a:lnTo>
                  <a:lnTo>
                    <a:pt x="16" y="225"/>
                  </a:lnTo>
                  <a:lnTo>
                    <a:pt x="21" y="240"/>
                  </a:lnTo>
                  <a:lnTo>
                    <a:pt x="29" y="253"/>
                  </a:lnTo>
                  <a:lnTo>
                    <a:pt x="36" y="265"/>
                  </a:lnTo>
                  <a:lnTo>
                    <a:pt x="45" y="277"/>
                  </a:lnTo>
                  <a:lnTo>
                    <a:pt x="55" y="288"/>
                  </a:lnTo>
                  <a:lnTo>
                    <a:pt x="67" y="299"/>
                  </a:lnTo>
                  <a:lnTo>
                    <a:pt x="80" y="310"/>
                  </a:lnTo>
                  <a:lnTo>
                    <a:pt x="93" y="319"/>
                  </a:lnTo>
                  <a:lnTo>
                    <a:pt x="109" y="328"/>
                  </a:lnTo>
                  <a:lnTo>
                    <a:pt x="124" y="336"/>
                  </a:lnTo>
                  <a:lnTo>
                    <a:pt x="142" y="345"/>
                  </a:lnTo>
                  <a:lnTo>
                    <a:pt x="159" y="352"/>
                  </a:lnTo>
                  <a:lnTo>
                    <a:pt x="178" y="359"/>
                  </a:lnTo>
                  <a:lnTo>
                    <a:pt x="205" y="369"/>
                  </a:lnTo>
                  <a:lnTo>
                    <a:pt x="228" y="381"/>
                  </a:lnTo>
                  <a:lnTo>
                    <a:pt x="238" y="386"/>
                  </a:lnTo>
                  <a:lnTo>
                    <a:pt x="247" y="392"/>
                  </a:lnTo>
                  <a:lnTo>
                    <a:pt x="255" y="397"/>
                  </a:lnTo>
                  <a:lnTo>
                    <a:pt x="262" y="403"/>
                  </a:lnTo>
                  <a:lnTo>
                    <a:pt x="268" y="409"/>
                  </a:lnTo>
                  <a:lnTo>
                    <a:pt x="273" y="417"/>
                  </a:lnTo>
                  <a:lnTo>
                    <a:pt x="278" y="423"/>
                  </a:lnTo>
                  <a:lnTo>
                    <a:pt x="281" y="430"/>
                  </a:lnTo>
                  <a:lnTo>
                    <a:pt x="284" y="437"/>
                  </a:lnTo>
                  <a:lnTo>
                    <a:pt x="287" y="445"/>
                  </a:lnTo>
                  <a:lnTo>
                    <a:pt x="288" y="454"/>
                  </a:lnTo>
                  <a:lnTo>
                    <a:pt x="288" y="462"/>
                  </a:lnTo>
                  <a:lnTo>
                    <a:pt x="288" y="471"/>
                  </a:lnTo>
                  <a:lnTo>
                    <a:pt x="285" y="480"/>
                  </a:lnTo>
                  <a:lnTo>
                    <a:pt x="283" y="489"/>
                  </a:lnTo>
                  <a:lnTo>
                    <a:pt x="280" y="497"/>
                  </a:lnTo>
                  <a:lnTo>
                    <a:pt x="276" y="504"/>
                  </a:lnTo>
                  <a:lnTo>
                    <a:pt x="271" y="511"/>
                  </a:lnTo>
                  <a:lnTo>
                    <a:pt x="265" y="517"/>
                  </a:lnTo>
                  <a:lnTo>
                    <a:pt x="259" y="524"/>
                  </a:lnTo>
                  <a:lnTo>
                    <a:pt x="251" y="529"/>
                  </a:lnTo>
                  <a:lnTo>
                    <a:pt x="242" y="533"/>
                  </a:lnTo>
                  <a:lnTo>
                    <a:pt x="233" y="537"/>
                  </a:lnTo>
                  <a:lnTo>
                    <a:pt x="223" y="540"/>
                  </a:lnTo>
                  <a:lnTo>
                    <a:pt x="213" y="543"/>
                  </a:lnTo>
                  <a:lnTo>
                    <a:pt x="200" y="545"/>
                  </a:lnTo>
                  <a:lnTo>
                    <a:pt x="188" y="546"/>
                  </a:lnTo>
                  <a:lnTo>
                    <a:pt x="175" y="546"/>
                  </a:lnTo>
                  <a:lnTo>
                    <a:pt x="154" y="546"/>
                  </a:lnTo>
                  <a:lnTo>
                    <a:pt x="132" y="543"/>
                  </a:lnTo>
                  <a:lnTo>
                    <a:pt x="112" y="540"/>
                  </a:lnTo>
                  <a:lnTo>
                    <a:pt x="92" y="535"/>
                  </a:lnTo>
                  <a:lnTo>
                    <a:pt x="74" y="529"/>
                  </a:lnTo>
                  <a:lnTo>
                    <a:pt x="56" y="523"/>
                  </a:lnTo>
                  <a:lnTo>
                    <a:pt x="40" y="514"/>
                  </a:lnTo>
                  <a:lnTo>
                    <a:pt x="26" y="507"/>
                  </a:lnTo>
                  <a:lnTo>
                    <a:pt x="0" y="601"/>
                  </a:lnTo>
                  <a:close/>
                </a:path>
              </a:pathLst>
            </a:custGeom>
            <a:grpFill/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" name="CustomShape 13">
              <a:extLst>
                <a:ext uri="{FF2B5EF4-FFF2-40B4-BE49-F238E27FC236}">
                  <a16:creationId xmlns:a16="http://schemas.microsoft.com/office/drawing/2014/main" id="{2E4A0BEE-E03B-4500-87D6-E2C8B8E6AF84}"/>
                </a:ext>
              </a:extLst>
            </p:cNvPr>
            <p:cNvSpPr/>
            <p:nvPr/>
          </p:nvSpPr>
          <p:spPr>
            <a:xfrm>
              <a:off x="875520" y="333360"/>
              <a:ext cx="1040760" cy="111960"/>
            </a:xfrm>
            <a:custGeom>
              <a:avLst/>
              <a:gdLst/>
              <a:ahLst/>
              <a:cxnLst/>
              <a:rect l="l" t="t" r="r" b="b"/>
              <a:pathLst>
                <a:path w="5893" h="641">
                  <a:moveTo>
                    <a:pt x="5686" y="631"/>
                  </a:moveTo>
                  <a:lnTo>
                    <a:pt x="5686" y="369"/>
                  </a:lnTo>
                  <a:lnTo>
                    <a:pt x="5893" y="10"/>
                  </a:lnTo>
                  <a:lnTo>
                    <a:pt x="5764" y="10"/>
                  </a:lnTo>
                  <a:lnTo>
                    <a:pt x="5690" y="169"/>
                  </a:lnTo>
                  <a:lnTo>
                    <a:pt x="5675" y="202"/>
                  </a:lnTo>
                  <a:lnTo>
                    <a:pt x="5661" y="232"/>
                  </a:lnTo>
                  <a:lnTo>
                    <a:pt x="5648" y="262"/>
                  </a:lnTo>
                  <a:lnTo>
                    <a:pt x="5636" y="292"/>
                  </a:lnTo>
                  <a:lnTo>
                    <a:pt x="5635" y="292"/>
                  </a:lnTo>
                  <a:lnTo>
                    <a:pt x="5621" y="261"/>
                  </a:lnTo>
                  <a:lnTo>
                    <a:pt x="5609" y="232"/>
                  </a:lnTo>
                  <a:lnTo>
                    <a:pt x="5596" y="202"/>
                  </a:lnTo>
                  <a:lnTo>
                    <a:pt x="5580" y="170"/>
                  </a:lnTo>
                  <a:lnTo>
                    <a:pt x="5506" y="10"/>
                  </a:lnTo>
                  <a:lnTo>
                    <a:pt x="5377" y="10"/>
                  </a:lnTo>
                  <a:lnTo>
                    <a:pt x="5573" y="372"/>
                  </a:lnTo>
                  <a:lnTo>
                    <a:pt x="5573" y="631"/>
                  </a:lnTo>
                  <a:lnTo>
                    <a:pt x="5686" y="631"/>
                  </a:lnTo>
                  <a:close/>
                  <a:moveTo>
                    <a:pt x="5318" y="523"/>
                  </a:moveTo>
                  <a:lnTo>
                    <a:pt x="5306" y="528"/>
                  </a:lnTo>
                  <a:lnTo>
                    <a:pt x="5293" y="532"/>
                  </a:lnTo>
                  <a:lnTo>
                    <a:pt x="5277" y="536"/>
                  </a:lnTo>
                  <a:lnTo>
                    <a:pt x="5262" y="539"/>
                  </a:lnTo>
                  <a:lnTo>
                    <a:pt x="5245" y="542"/>
                  </a:lnTo>
                  <a:lnTo>
                    <a:pt x="5229" y="544"/>
                  </a:lnTo>
                  <a:lnTo>
                    <a:pt x="5211" y="545"/>
                  </a:lnTo>
                  <a:lnTo>
                    <a:pt x="5194" y="545"/>
                  </a:lnTo>
                  <a:lnTo>
                    <a:pt x="5182" y="545"/>
                  </a:lnTo>
                  <a:lnTo>
                    <a:pt x="5169" y="544"/>
                  </a:lnTo>
                  <a:lnTo>
                    <a:pt x="5157" y="543"/>
                  </a:lnTo>
                  <a:lnTo>
                    <a:pt x="5146" y="541"/>
                  </a:lnTo>
                  <a:lnTo>
                    <a:pt x="5134" y="539"/>
                  </a:lnTo>
                  <a:lnTo>
                    <a:pt x="5124" y="537"/>
                  </a:lnTo>
                  <a:lnTo>
                    <a:pt x="5113" y="534"/>
                  </a:lnTo>
                  <a:lnTo>
                    <a:pt x="5104" y="530"/>
                  </a:lnTo>
                  <a:lnTo>
                    <a:pt x="5093" y="526"/>
                  </a:lnTo>
                  <a:lnTo>
                    <a:pt x="5084" y="522"/>
                  </a:lnTo>
                  <a:lnTo>
                    <a:pt x="5075" y="516"/>
                  </a:lnTo>
                  <a:lnTo>
                    <a:pt x="5067" y="511"/>
                  </a:lnTo>
                  <a:lnTo>
                    <a:pt x="5057" y="505"/>
                  </a:lnTo>
                  <a:lnTo>
                    <a:pt x="5050" y="499"/>
                  </a:lnTo>
                  <a:lnTo>
                    <a:pt x="5042" y="492"/>
                  </a:lnTo>
                  <a:lnTo>
                    <a:pt x="5036" y="486"/>
                  </a:lnTo>
                  <a:lnTo>
                    <a:pt x="5029" y="477"/>
                  </a:lnTo>
                  <a:lnTo>
                    <a:pt x="5022" y="470"/>
                  </a:lnTo>
                  <a:lnTo>
                    <a:pt x="5016" y="462"/>
                  </a:lnTo>
                  <a:lnTo>
                    <a:pt x="5011" y="453"/>
                  </a:lnTo>
                  <a:lnTo>
                    <a:pt x="5006" y="443"/>
                  </a:lnTo>
                  <a:lnTo>
                    <a:pt x="5001" y="434"/>
                  </a:lnTo>
                  <a:lnTo>
                    <a:pt x="4997" y="425"/>
                  </a:lnTo>
                  <a:lnTo>
                    <a:pt x="4993" y="415"/>
                  </a:lnTo>
                  <a:lnTo>
                    <a:pt x="4986" y="393"/>
                  </a:lnTo>
                  <a:lnTo>
                    <a:pt x="4982" y="371"/>
                  </a:lnTo>
                  <a:lnTo>
                    <a:pt x="4979" y="347"/>
                  </a:lnTo>
                  <a:lnTo>
                    <a:pt x="4978" y="322"/>
                  </a:lnTo>
                  <a:lnTo>
                    <a:pt x="4979" y="309"/>
                  </a:lnTo>
                  <a:lnTo>
                    <a:pt x="4979" y="295"/>
                  </a:lnTo>
                  <a:lnTo>
                    <a:pt x="4981" y="282"/>
                  </a:lnTo>
                  <a:lnTo>
                    <a:pt x="4982" y="270"/>
                  </a:lnTo>
                  <a:lnTo>
                    <a:pt x="4985" y="257"/>
                  </a:lnTo>
                  <a:lnTo>
                    <a:pt x="4987" y="246"/>
                  </a:lnTo>
                  <a:lnTo>
                    <a:pt x="4991" y="235"/>
                  </a:lnTo>
                  <a:lnTo>
                    <a:pt x="4995" y="223"/>
                  </a:lnTo>
                  <a:lnTo>
                    <a:pt x="4999" y="213"/>
                  </a:lnTo>
                  <a:lnTo>
                    <a:pt x="5004" y="203"/>
                  </a:lnTo>
                  <a:lnTo>
                    <a:pt x="5008" y="193"/>
                  </a:lnTo>
                  <a:lnTo>
                    <a:pt x="5014" y="184"/>
                  </a:lnTo>
                  <a:lnTo>
                    <a:pt x="5019" y="176"/>
                  </a:lnTo>
                  <a:lnTo>
                    <a:pt x="5026" y="168"/>
                  </a:lnTo>
                  <a:lnTo>
                    <a:pt x="5033" y="159"/>
                  </a:lnTo>
                  <a:lnTo>
                    <a:pt x="5040" y="152"/>
                  </a:lnTo>
                  <a:lnTo>
                    <a:pt x="5047" y="145"/>
                  </a:lnTo>
                  <a:lnTo>
                    <a:pt x="5055" y="139"/>
                  </a:lnTo>
                  <a:lnTo>
                    <a:pt x="5063" y="133"/>
                  </a:lnTo>
                  <a:lnTo>
                    <a:pt x="5072" y="127"/>
                  </a:lnTo>
                  <a:lnTo>
                    <a:pt x="5080" y="121"/>
                  </a:lnTo>
                  <a:lnTo>
                    <a:pt x="5089" y="117"/>
                  </a:lnTo>
                  <a:lnTo>
                    <a:pt x="5098" y="112"/>
                  </a:lnTo>
                  <a:lnTo>
                    <a:pt x="5109" y="109"/>
                  </a:lnTo>
                  <a:lnTo>
                    <a:pt x="5129" y="102"/>
                  </a:lnTo>
                  <a:lnTo>
                    <a:pt x="5150" y="98"/>
                  </a:lnTo>
                  <a:lnTo>
                    <a:pt x="5172" y="95"/>
                  </a:lnTo>
                  <a:lnTo>
                    <a:pt x="5196" y="94"/>
                  </a:lnTo>
                  <a:lnTo>
                    <a:pt x="5215" y="95"/>
                  </a:lnTo>
                  <a:lnTo>
                    <a:pt x="5232" y="96"/>
                  </a:lnTo>
                  <a:lnTo>
                    <a:pt x="5248" y="98"/>
                  </a:lnTo>
                  <a:lnTo>
                    <a:pt x="5264" y="101"/>
                  </a:lnTo>
                  <a:lnTo>
                    <a:pt x="5279" y="105"/>
                  </a:lnTo>
                  <a:lnTo>
                    <a:pt x="5293" y="109"/>
                  </a:lnTo>
                  <a:lnTo>
                    <a:pt x="5305" y="113"/>
                  </a:lnTo>
                  <a:lnTo>
                    <a:pt x="5316" y="118"/>
                  </a:lnTo>
                  <a:lnTo>
                    <a:pt x="5341" y="28"/>
                  </a:lnTo>
                  <a:lnTo>
                    <a:pt x="5332" y="24"/>
                  </a:lnTo>
                  <a:lnTo>
                    <a:pt x="5318" y="19"/>
                  </a:lnTo>
                  <a:lnTo>
                    <a:pt x="5303" y="13"/>
                  </a:lnTo>
                  <a:lnTo>
                    <a:pt x="5285" y="9"/>
                  </a:lnTo>
                  <a:lnTo>
                    <a:pt x="5265" y="6"/>
                  </a:lnTo>
                  <a:lnTo>
                    <a:pt x="5242" y="3"/>
                  </a:lnTo>
                  <a:lnTo>
                    <a:pt x="5218" y="1"/>
                  </a:lnTo>
                  <a:lnTo>
                    <a:pt x="5191" y="0"/>
                  </a:lnTo>
                  <a:lnTo>
                    <a:pt x="5173" y="1"/>
                  </a:lnTo>
                  <a:lnTo>
                    <a:pt x="5156" y="2"/>
                  </a:lnTo>
                  <a:lnTo>
                    <a:pt x="5139" y="4"/>
                  </a:lnTo>
                  <a:lnTo>
                    <a:pt x="5122" y="6"/>
                  </a:lnTo>
                  <a:lnTo>
                    <a:pt x="5106" y="9"/>
                  </a:lnTo>
                  <a:lnTo>
                    <a:pt x="5090" y="13"/>
                  </a:lnTo>
                  <a:lnTo>
                    <a:pt x="5075" y="17"/>
                  </a:lnTo>
                  <a:lnTo>
                    <a:pt x="5059" y="23"/>
                  </a:lnTo>
                  <a:lnTo>
                    <a:pt x="5045" y="29"/>
                  </a:lnTo>
                  <a:lnTo>
                    <a:pt x="5031" y="35"/>
                  </a:lnTo>
                  <a:lnTo>
                    <a:pt x="5016" y="42"/>
                  </a:lnTo>
                  <a:lnTo>
                    <a:pt x="5003" y="50"/>
                  </a:lnTo>
                  <a:lnTo>
                    <a:pt x="4989" y="59"/>
                  </a:lnTo>
                  <a:lnTo>
                    <a:pt x="4977" y="68"/>
                  </a:lnTo>
                  <a:lnTo>
                    <a:pt x="4966" y="77"/>
                  </a:lnTo>
                  <a:lnTo>
                    <a:pt x="4955" y="87"/>
                  </a:lnTo>
                  <a:lnTo>
                    <a:pt x="4943" y="99"/>
                  </a:lnTo>
                  <a:lnTo>
                    <a:pt x="4933" y="110"/>
                  </a:lnTo>
                  <a:lnTo>
                    <a:pt x="4924" y="122"/>
                  </a:lnTo>
                  <a:lnTo>
                    <a:pt x="4914" y="135"/>
                  </a:lnTo>
                  <a:lnTo>
                    <a:pt x="4906" y="148"/>
                  </a:lnTo>
                  <a:lnTo>
                    <a:pt x="4898" y="162"/>
                  </a:lnTo>
                  <a:lnTo>
                    <a:pt x="4891" y="176"/>
                  </a:lnTo>
                  <a:lnTo>
                    <a:pt x="4885" y="190"/>
                  </a:lnTo>
                  <a:lnTo>
                    <a:pt x="4879" y="206"/>
                  </a:lnTo>
                  <a:lnTo>
                    <a:pt x="4873" y="222"/>
                  </a:lnTo>
                  <a:lnTo>
                    <a:pt x="4869" y="239"/>
                  </a:lnTo>
                  <a:lnTo>
                    <a:pt x="4866" y="255"/>
                  </a:lnTo>
                  <a:lnTo>
                    <a:pt x="4863" y="273"/>
                  </a:lnTo>
                  <a:lnTo>
                    <a:pt x="4861" y="290"/>
                  </a:lnTo>
                  <a:lnTo>
                    <a:pt x="4860" y="309"/>
                  </a:lnTo>
                  <a:lnTo>
                    <a:pt x="4859" y="328"/>
                  </a:lnTo>
                  <a:lnTo>
                    <a:pt x="4860" y="346"/>
                  </a:lnTo>
                  <a:lnTo>
                    <a:pt x="4861" y="362"/>
                  </a:lnTo>
                  <a:lnTo>
                    <a:pt x="4862" y="380"/>
                  </a:lnTo>
                  <a:lnTo>
                    <a:pt x="4865" y="395"/>
                  </a:lnTo>
                  <a:lnTo>
                    <a:pt x="4868" y="412"/>
                  </a:lnTo>
                  <a:lnTo>
                    <a:pt x="4871" y="427"/>
                  </a:lnTo>
                  <a:lnTo>
                    <a:pt x="4876" y="441"/>
                  </a:lnTo>
                  <a:lnTo>
                    <a:pt x="4881" y="457"/>
                  </a:lnTo>
                  <a:lnTo>
                    <a:pt x="4887" y="470"/>
                  </a:lnTo>
                  <a:lnTo>
                    <a:pt x="4893" y="484"/>
                  </a:lnTo>
                  <a:lnTo>
                    <a:pt x="4900" y="497"/>
                  </a:lnTo>
                  <a:lnTo>
                    <a:pt x="4907" y="509"/>
                  </a:lnTo>
                  <a:lnTo>
                    <a:pt x="4915" y="522"/>
                  </a:lnTo>
                  <a:lnTo>
                    <a:pt x="4925" y="534"/>
                  </a:lnTo>
                  <a:lnTo>
                    <a:pt x="4934" y="544"/>
                  </a:lnTo>
                  <a:lnTo>
                    <a:pt x="4943" y="555"/>
                  </a:lnTo>
                  <a:lnTo>
                    <a:pt x="4955" y="565"/>
                  </a:lnTo>
                  <a:lnTo>
                    <a:pt x="4965" y="574"/>
                  </a:lnTo>
                  <a:lnTo>
                    <a:pt x="4977" y="583"/>
                  </a:lnTo>
                  <a:lnTo>
                    <a:pt x="4989" y="592"/>
                  </a:lnTo>
                  <a:lnTo>
                    <a:pt x="5002" y="599"/>
                  </a:lnTo>
                  <a:lnTo>
                    <a:pt x="5015" y="606"/>
                  </a:lnTo>
                  <a:lnTo>
                    <a:pt x="5029" y="612"/>
                  </a:lnTo>
                  <a:lnTo>
                    <a:pt x="5043" y="618"/>
                  </a:lnTo>
                  <a:lnTo>
                    <a:pt x="5058" y="623"/>
                  </a:lnTo>
                  <a:lnTo>
                    <a:pt x="5074" y="628"/>
                  </a:lnTo>
                  <a:lnTo>
                    <a:pt x="5089" y="632"/>
                  </a:lnTo>
                  <a:lnTo>
                    <a:pt x="5106" y="635"/>
                  </a:lnTo>
                  <a:lnTo>
                    <a:pt x="5122" y="637"/>
                  </a:lnTo>
                  <a:lnTo>
                    <a:pt x="5139" y="639"/>
                  </a:lnTo>
                  <a:lnTo>
                    <a:pt x="5158" y="640"/>
                  </a:lnTo>
                  <a:lnTo>
                    <a:pt x="5175" y="641"/>
                  </a:lnTo>
                  <a:lnTo>
                    <a:pt x="5203" y="640"/>
                  </a:lnTo>
                  <a:lnTo>
                    <a:pt x="5229" y="638"/>
                  </a:lnTo>
                  <a:lnTo>
                    <a:pt x="5253" y="635"/>
                  </a:lnTo>
                  <a:lnTo>
                    <a:pt x="5274" y="632"/>
                  </a:lnTo>
                  <a:lnTo>
                    <a:pt x="5294" y="628"/>
                  </a:lnTo>
                  <a:lnTo>
                    <a:pt x="5310" y="622"/>
                  </a:lnTo>
                  <a:lnTo>
                    <a:pt x="5324" y="617"/>
                  </a:lnTo>
                  <a:lnTo>
                    <a:pt x="5337" y="612"/>
                  </a:lnTo>
                  <a:lnTo>
                    <a:pt x="5318" y="523"/>
                  </a:lnTo>
                  <a:close/>
                  <a:moveTo>
                    <a:pt x="4374" y="631"/>
                  </a:moveTo>
                  <a:lnTo>
                    <a:pt x="4374" y="408"/>
                  </a:lnTo>
                  <a:lnTo>
                    <a:pt x="4374" y="371"/>
                  </a:lnTo>
                  <a:lnTo>
                    <a:pt x="4374" y="335"/>
                  </a:lnTo>
                  <a:lnTo>
                    <a:pt x="4374" y="301"/>
                  </a:lnTo>
                  <a:lnTo>
                    <a:pt x="4373" y="269"/>
                  </a:lnTo>
                  <a:lnTo>
                    <a:pt x="4372" y="237"/>
                  </a:lnTo>
                  <a:lnTo>
                    <a:pt x="4371" y="205"/>
                  </a:lnTo>
                  <a:lnTo>
                    <a:pt x="4370" y="175"/>
                  </a:lnTo>
                  <a:lnTo>
                    <a:pt x="4369" y="144"/>
                  </a:lnTo>
                  <a:lnTo>
                    <a:pt x="4371" y="144"/>
                  </a:lnTo>
                  <a:lnTo>
                    <a:pt x="4383" y="170"/>
                  </a:lnTo>
                  <a:lnTo>
                    <a:pt x="4396" y="198"/>
                  </a:lnTo>
                  <a:lnTo>
                    <a:pt x="4410" y="224"/>
                  </a:lnTo>
                  <a:lnTo>
                    <a:pt x="4423" y="251"/>
                  </a:lnTo>
                  <a:lnTo>
                    <a:pt x="4438" y="279"/>
                  </a:lnTo>
                  <a:lnTo>
                    <a:pt x="4453" y="306"/>
                  </a:lnTo>
                  <a:lnTo>
                    <a:pt x="4468" y="332"/>
                  </a:lnTo>
                  <a:lnTo>
                    <a:pt x="4483" y="358"/>
                  </a:lnTo>
                  <a:lnTo>
                    <a:pt x="4644" y="631"/>
                  </a:lnTo>
                  <a:lnTo>
                    <a:pt x="4761" y="631"/>
                  </a:lnTo>
                  <a:lnTo>
                    <a:pt x="4761" y="10"/>
                  </a:lnTo>
                  <a:lnTo>
                    <a:pt x="4657" y="10"/>
                  </a:lnTo>
                  <a:lnTo>
                    <a:pt x="4657" y="226"/>
                  </a:lnTo>
                  <a:lnTo>
                    <a:pt x="4657" y="261"/>
                  </a:lnTo>
                  <a:lnTo>
                    <a:pt x="4658" y="295"/>
                  </a:lnTo>
                  <a:lnTo>
                    <a:pt x="4658" y="328"/>
                  </a:lnTo>
                  <a:lnTo>
                    <a:pt x="4659" y="360"/>
                  </a:lnTo>
                  <a:lnTo>
                    <a:pt x="4661" y="391"/>
                  </a:lnTo>
                  <a:lnTo>
                    <a:pt x="4662" y="422"/>
                  </a:lnTo>
                  <a:lnTo>
                    <a:pt x="4665" y="453"/>
                  </a:lnTo>
                  <a:lnTo>
                    <a:pt x="4667" y="484"/>
                  </a:lnTo>
                  <a:lnTo>
                    <a:pt x="4665" y="485"/>
                  </a:lnTo>
                  <a:lnTo>
                    <a:pt x="4653" y="459"/>
                  </a:lnTo>
                  <a:lnTo>
                    <a:pt x="4642" y="433"/>
                  </a:lnTo>
                  <a:lnTo>
                    <a:pt x="4630" y="407"/>
                  </a:lnTo>
                  <a:lnTo>
                    <a:pt x="4616" y="381"/>
                  </a:lnTo>
                  <a:lnTo>
                    <a:pt x="4603" y="355"/>
                  </a:lnTo>
                  <a:lnTo>
                    <a:pt x="4589" y="328"/>
                  </a:lnTo>
                  <a:lnTo>
                    <a:pt x="4574" y="302"/>
                  </a:lnTo>
                  <a:lnTo>
                    <a:pt x="4559" y="277"/>
                  </a:lnTo>
                  <a:lnTo>
                    <a:pt x="4399" y="10"/>
                  </a:lnTo>
                  <a:lnTo>
                    <a:pt x="4270" y="10"/>
                  </a:lnTo>
                  <a:lnTo>
                    <a:pt x="4270" y="631"/>
                  </a:lnTo>
                  <a:lnTo>
                    <a:pt x="4374" y="631"/>
                  </a:lnTo>
                  <a:close/>
                  <a:moveTo>
                    <a:pt x="3827" y="369"/>
                  </a:moveTo>
                  <a:lnTo>
                    <a:pt x="3876" y="216"/>
                  </a:lnTo>
                  <a:lnTo>
                    <a:pt x="3884" y="187"/>
                  </a:lnTo>
                  <a:lnTo>
                    <a:pt x="3891" y="158"/>
                  </a:lnTo>
                  <a:lnTo>
                    <a:pt x="3898" y="129"/>
                  </a:lnTo>
                  <a:lnTo>
                    <a:pt x="3905" y="100"/>
                  </a:lnTo>
                  <a:lnTo>
                    <a:pt x="3908" y="100"/>
                  </a:lnTo>
                  <a:lnTo>
                    <a:pt x="3915" y="128"/>
                  </a:lnTo>
                  <a:lnTo>
                    <a:pt x="3922" y="157"/>
                  </a:lnTo>
                  <a:lnTo>
                    <a:pt x="3930" y="187"/>
                  </a:lnTo>
                  <a:lnTo>
                    <a:pt x="3938" y="217"/>
                  </a:lnTo>
                  <a:lnTo>
                    <a:pt x="3988" y="369"/>
                  </a:lnTo>
                  <a:lnTo>
                    <a:pt x="3827" y="369"/>
                  </a:lnTo>
                  <a:close/>
                  <a:moveTo>
                    <a:pt x="4006" y="456"/>
                  </a:moveTo>
                  <a:lnTo>
                    <a:pt x="4063" y="631"/>
                  </a:lnTo>
                  <a:lnTo>
                    <a:pt x="4184" y="631"/>
                  </a:lnTo>
                  <a:lnTo>
                    <a:pt x="3983" y="10"/>
                  </a:lnTo>
                  <a:lnTo>
                    <a:pt x="3839" y="10"/>
                  </a:lnTo>
                  <a:lnTo>
                    <a:pt x="3639" y="631"/>
                  </a:lnTo>
                  <a:lnTo>
                    <a:pt x="3756" y="631"/>
                  </a:lnTo>
                  <a:lnTo>
                    <a:pt x="3809" y="456"/>
                  </a:lnTo>
                  <a:lnTo>
                    <a:pt x="4006" y="456"/>
                  </a:lnTo>
                  <a:close/>
                  <a:moveTo>
                    <a:pt x="3389" y="631"/>
                  </a:moveTo>
                  <a:lnTo>
                    <a:pt x="3502" y="631"/>
                  </a:lnTo>
                  <a:lnTo>
                    <a:pt x="3502" y="105"/>
                  </a:lnTo>
                  <a:lnTo>
                    <a:pt x="3680" y="105"/>
                  </a:lnTo>
                  <a:lnTo>
                    <a:pt x="3680" y="10"/>
                  </a:lnTo>
                  <a:lnTo>
                    <a:pt x="3211" y="10"/>
                  </a:lnTo>
                  <a:lnTo>
                    <a:pt x="3211" y="105"/>
                  </a:lnTo>
                  <a:lnTo>
                    <a:pt x="3389" y="105"/>
                  </a:lnTo>
                  <a:lnTo>
                    <a:pt x="3389" y="631"/>
                  </a:lnTo>
                  <a:close/>
                  <a:moveTo>
                    <a:pt x="2906" y="631"/>
                  </a:moveTo>
                  <a:lnTo>
                    <a:pt x="3275" y="631"/>
                  </a:lnTo>
                  <a:lnTo>
                    <a:pt x="3275" y="536"/>
                  </a:lnTo>
                  <a:lnTo>
                    <a:pt x="3020" y="536"/>
                  </a:lnTo>
                  <a:lnTo>
                    <a:pt x="3020" y="10"/>
                  </a:lnTo>
                  <a:lnTo>
                    <a:pt x="2906" y="10"/>
                  </a:lnTo>
                  <a:lnTo>
                    <a:pt x="2906" y="631"/>
                  </a:lnTo>
                  <a:close/>
                  <a:moveTo>
                    <a:pt x="2293" y="10"/>
                  </a:moveTo>
                  <a:lnTo>
                    <a:pt x="2293" y="365"/>
                  </a:lnTo>
                  <a:lnTo>
                    <a:pt x="2293" y="383"/>
                  </a:lnTo>
                  <a:lnTo>
                    <a:pt x="2294" y="400"/>
                  </a:lnTo>
                  <a:lnTo>
                    <a:pt x="2295" y="417"/>
                  </a:lnTo>
                  <a:lnTo>
                    <a:pt x="2297" y="433"/>
                  </a:lnTo>
                  <a:lnTo>
                    <a:pt x="2299" y="449"/>
                  </a:lnTo>
                  <a:lnTo>
                    <a:pt x="2303" y="463"/>
                  </a:lnTo>
                  <a:lnTo>
                    <a:pt x="2306" y="477"/>
                  </a:lnTo>
                  <a:lnTo>
                    <a:pt x="2310" y="491"/>
                  </a:lnTo>
                  <a:lnTo>
                    <a:pt x="2314" y="503"/>
                  </a:lnTo>
                  <a:lnTo>
                    <a:pt x="2319" y="515"/>
                  </a:lnTo>
                  <a:lnTo>
                    <a:pt x="2324" y="528"/>
                  </a:lnTo>
                  <a:lnTo>
                    <a:pt x="2330" y="538"/>
                  </a:lnTo>
                  <a:lnTo>
                    <a:pt x="2336" y="548"/>
                  </a:lnTo>
                  <a:lnTo>
                    <a:pt x="2343" y="559"/>
                  </a:lnTo>
                  <a:lnTo>
                    <a:pt x="2350" y="568"/>
                  </a:lnTo>
                  <a:lnTo>
                    <a:pt x="2357" y="576"/>
                  </a:lnTo>
                  <a:lnTo>
                    <a:pt x="2365" y="584"/>
                  </a:lnTo>
                  <a:lnTo>
                    <a:pt x="2373" y="592"/>
                  </a:lnTo>
                  <a:lnTo>
                    <a:pt x="2383" y="599"/>
                  </a:lnTo>
                  <a:lnTo>
                    <a:pt x="2392" y="605"/>
                  </a:lnTo>
                  <a:lnTo>
                    <a:pt x="2401" y="611"/>
                  </a:lnTo>
                  <a:lnTo>
                    <a:pt x="2411" y="616"/>
                  </a:lnTo>
                  <a:lnTo>
                    <a:pt x="2422" y="621"/>
                  </a:lnTo>
                  <a:lnTo>
                    <a:pt x="2432" y="625"/>
                  </a:lnTo>
                  <a:lnTo>
                    <a:pt x="2443" y="629"/>
                  </a:lnTo>
                  <a:lnTo>
                    <a:pt x="2455" y="633"/>
                  </a:lnTo>
                  <a:lnTo>
                    <a:pt x="2466" y="635"/>
                  </a:lnTo>
                  <a:lnTo>
                    <a:pt x="2478" y="637"/>
                  </a:lnTo>
                  <a:lnTo>
                    <a:pt x="2503" y="640"/>
                  </a:lnTo>
                  <a:lnTo>
                    <a:pt x="2530" y="641"/>
                  </a:lnTo>
                  <a:lnTo>
                    <a:pt x="2543" y="641"/>
                  </a:lnTo>
                  <a:lnTo>
                    <a:pt x="2556" y="640"/>
                  </a:lnTo>
                  <a:lnTo>
                    <a:pt x="2570" y="639"/>
                  </a:lnTo>
                  <a:lnTo>
                    <a:pt x="2583" y="637"/>
                  </a:lnTo>
                  <a:lnTo>
                    <a:pt x="2595" y="635"/>
                  </a:lnTo>
                  <a:lnTo>
                    <a:pt x="2608" y="632"/>
                  </a:lnTo>
                  <a:lnTo>
                    <a:pt x="2619" y="629"/>
                  </a:lnTo>
                  <a:lnTo>
                    <a:pt x="2631" y="624"/>
                  </a:lnTo>
                  <a:lnTo>
                    <a:pt x="2643" y="620"/>
                  </a:lnTo>
                  <a:lnTo>
                    <a:pt x="2653" y="615"/>
                  </a:lnTo>
                  <a:lnTo>
                    <a:pt x="2663" y="610"/>
                  </a:lnTo>
                  <a:lnTo>
                    <a:pt x="2673" y="604"/>
                  </a:lnTo>
                  <a:lnTo>
                    <a:pt x="2683" y="598"/>
                  </a:lnTo>
                  <a:lnTo>
                    <a:pt x="2692" y="591"/>
                  </a:lnTo>
                  <a:lnTo>
                    <a:pt x="2701" y="582"/>
                  </a:lnTo>
                  <a:lnTo>
                    <a:pt x="2709" y="574"/>
                  </a:lnTo>
                  <a:lnTo>
                    <a:pt x="2718" y="566"/>
                  </a:lnTo>
                  <a:lnTo>
                    <a:pt x="2725" y="557"/>
                  </a:lnTo>
                  <a:lnTo>
                    <a:pt x="2732" y="546"/>
                  </a:lnTo>
                  <a:lnTo>
                    <a:pt x="2738" y="536"/>
                  </a:lnTo>
                  <a:lnTo>
                    <a:pt x="2744" y="525"/>
                  </a:lnTo>
                  <a:lnTo>
                    <a:pt x="2750" y="513"/>
                  </a:lnTo>
                  <a:lnTo>
                    <a:pt x="2755" y="501"/>
                  </a:lnTo>
                  <a:lnTo>
                    <a:pt x="2760" y="489"/>
                  </a:lnTo>
                  <a:lnTo>
                    <a:pt x="2764" y="475"/>
                  </a:lnTo>
                  <a:lnTo>
                    <a:pt x="2767" y="461"/>
                  </a:lnTo>
                  <a:lnTo>
                    <a:pt x="2770" y="446"/>
                  </a:lnTo>
                  <a:lnTo>
                    <a:pt x="2772" y="431"/>
                  </a:lnTo>
                  <a:lnTo>
                    <a:pt x="2774" y="416"/>
                  </a:lnTo>
                  <a:lnTo>
                    <a:pt x="2776" y="399"/>
                  </a:lnTo>
                  <a:lnTo>
                    <a:pt x="2777" y="383"/>
                  </a:lnTo>
                  <a:lnTo>
                    <a:pt x="2777" y="364"/>
                  </a:lnTo>
                  <a:lnTo>
                    <a:pt x="2777" y="10"/>
                  </a:lnTo>
                  <a:lnTo>
                    <a:pt x="2664" y="10"/>
                  </a:lnTo>
                  <a:lnTo>
                    <a:pt x="2664" y="372"/>
                  </a:lnTo>
                  <a:lnTo>
                    <a:pt x="2663" y="394"/>
                  </a:lnTo>
                  <a:lnTo>
                    <a:pt x="2661" y="415"/>
                  </a:lnTo>
                  <a:lnTo>
                    <a:pt x="2659" y="433"/>
                  </a:lnTo>
                  <a:lnTo>
                    <a:pt x="2655" y="451"/>
                  </a:lnTo>
                  <a:lnTo>
                    <a:pt x="2650" y="467"/>
                  </a:lnTo>
                  <a:lnTo>
                    <a:pt x="2644" y="481"/>
                  </a:lnTo>
                  <a:lnTo>
                    <a:pt x="2638" y="495"/>
                  </a:lnTo>
                  <a:lnTo>
                    <a:pt x="2629" y="506"/>
                  </a:lnTo>
                  <a:lnTo>
                    <a:pt x="2620" y="516"/>
                  </a:lnTo>
                  <a:lnTo>
                    <a:pt x="2611" y="526"/>
                  </a:lnTo>
                  <a:lnTo>
                    <a:pt x="2600" y="533"/>
                  </a:lnTo>
                  <a:lnTo>
                    <a:pt x="2588" y="539"/>
                  </a:lnTo>
                  <a:lnTo>
                    <a:pt x="2576" y="544"/>
                  </a:lnTo>
                  <a:lnTo>
                    <a:pt x="2563" y="547"/>
                  </a:lnTo>
                  <a:lnTo>
                    <a:pt x="2548" y="549"/>
                  </a:lnTo>
                  <a:lnTo>
                    <a:pt x="2534" y="549"/>
                  </a:lnTo>
                  <a:lnTo>
                    <a:pt x="2519" y="549"/>
                  </a:lnTo>
                  <a:lnTo>
                    <a:pt x="2506" y="547"/>
                  </a:lnTo>
                  <a:lnTo>
                    <a:pt x="2493" y="543"/>
                  </a:lnTo>
                  <a:lnTo>
                    <a:pt x="2481" y="539"/>
                  </a:lnTo>
                  <a:lnTo>
                    <a:pt x="2470" y="533"/>
                  </a:lnTo>
                  <a:lnTo>
                    <a:pt x="2460" y="526"/>
                  </a:lnTo>
                  <a:lnTo>
                    <a:pt x="2449" y="516"/>
                  </a:lnTo>
                  <a:lnTo>
                    <a:pt x="2441" y="506"/>
                  </a:lnTo>
                  <a:lnTo>
                    <a:pt x="2433" y="495"/>
                  </a:lnTo>
                  <a:lnTo>
                    <a:pt x="2426" y="481"/>
                  </a:lnTo>
                  <a:lnTo>
                    <a:pt x="2421" y="467"/>
                  </a:lnTo>
                  <a:lnTo>
                    <a:pt x="2416" y="451"/>
                  </a:lnTo>
                  <a:lnTo>
                    <a:pt x="2411" y="433"/>
                  </a:lnTo>
                  <a:lnTo>
                    <a:pt x="2408" y="415"/>
                  </a:lnTo>
                  <a:lnTo>
                    <a:pt x="2406" y="394"/>
                  </a:lnTo>
                  <a:lnTo>
                    <a:pt x="2406" y="372"/>
                  </a:lnTo>
                  <a:lnTo>
                    <a:pt x="2406" y="10"/>
                  </a:lnTo>
                  <a:lnTo>
                    <a:pt x="2293" y="10"/>
                  </a:lnTo>
                  <a:close/>
                  <a:moveTo>
                    <a:pt x="1789" y="601"/>
                  </a:moveTo>
                  <a:lnTo>
                    <a:pt x="1803" y="609"/>
                  </a:lnTo>
                  <a:lnTo>
                    <a:pt x="1821" y="616"/>
                  </a:lnTo>
                  <a:lnTo>
                    <a:pt x="1840" y="622"/>
                  </a:lnTo>
                  <a:lnTo>
                    <a:pt x="1861" y="629"/>
                  </a:lnTo>
                  <a:lnTo>
                    <a:pt x="1883" y="634"/>
                  </a:lnTo>
                  <a:lnTo>
                    <a:pt x="1908" y="637"/>
                  </a:lnTo>
                  <a:lnTo>
                    <a:pt x="1932" y="640"/>
                  </a:lnTo>
                  <a:lnTo>
                    <a:pt x="1956" y="641"/>
                  </a:lnTo>
                  <a:lnTo>
                    <a:pt x="1986" y="640"/>
                  </a:lnTo>
                  <a:lnTo>
                    <a:pt x="2013" y="637"/>
                  </a:lnTo>
                  <a:lnTo>
                    <a:pt x="2025" y="635"/>
                  </a:lnTo>
                  <a:lnTo>
                    <a:pt x="2037" y="632"/>
                  </a:lnTo>
                  <a:lnTo>
                    <a:pt x="2050" y="629"/>
                  </a:lnTo>
                  <a:lnTo>
                    <a:pt x="2061" y="625"/>
                  </a:lnTo>
                  <a:lnTo>
                    <a:pt x="2071" y="621"/>
                  </a:lnTo>
                  <a:lnTo>
                    <a:pt x="2082" y="617"/>
                  </a:lnTo>
                  <a:lnTo>
                    <a:pt x="2092" y="613"/>
                  </a:lnTo>
                  <a:lnTo>
                    <a:pt x="2101" y="608"/>
                  </a:lnTo>
                  <a:lnTo>
                    <a:pt x="2110" y="603"/>
                  </a:lnTo>
                  <a:lnTo>
                    <a:pt x="2119" y="597"/>
                  </a:lnTo>
                  <a:lnTo>
                    <a:pt x="2127" y="591"/>
                  </a:lnTo>
                  <a:lnTo>
                    <a:pt x="2134" y="584"/>
                  </a:lnTo>
                  <a:lnTo>
                    <a:pt x="2141" y="578"/>
                  </a:lnTo>
                  <a:lnTo>
                    <a:pt x="2147" y="571"/>
                  </a:lnTo>
                  <a:lnTo>
                    <a:pt x="2154" y="564"/>
                  </a:lnTo>
                  <a:lnTo>
                    <a:pt x="2160" y="557"/>
                  </a:lnTo>
                  <a:lnTo>
                    <a:pt x="2170" y="541"/>
                  </a:lnTo>
                  <a:lnTo>
                    <a:pt x="2177" y="526"/>
                  </a:lnTo>
                  <a:lnTo>
                    <a:pt x="2183" y="508"/>
                  </a:lnTo>
                  <a:lnTo>
                    <a:pt x="2189" y="491"/>
                  </a:lnTo>
                  <a:lnTo>
                    <a:pt x="2191" y="472"/>
                  </a:lnTo>
                  <a:lnTo>
                    <a:pt x="2192" y="454"/>
                  </a:lnTo>
                  <a:lnTo>
                    <a:pt x="2192" y="437"/>
                  </a:lnTo>
                  <a:lnTo>
                    <a:pt x="2190" y="422"/>
                  </a:lnTo>
                  <a:lnTo>
                    <a:pt x="2186" y="407"/>
                  </a:lnTo>
                  <a:lnTo>
                    <a:pt x="2182" y="393"/>
                  </a:lnTo>
                  <a:lnTo>
                    <a:pt x="2176" y="380"/>
                  </a:lnTo>
                  <a:lnTo>
                    <a:pt x="2170" y="367"/>
                  </a:lnTo>
                  <a:lnTo>
                    <a:pt x="2162" y="355"/>
                  </a:lnTo>
                  <a:lnTo>
                    <a:pt x="2153" y="344"/>
                  </a:lnTo>
                  <a:lnTo>
                    <a:pt x="2142" y="332"/>
                  </a:lnTo>
                  <a:lnTo>
                    <a:pt x="2130" y="322"/>
                  </a:lnTo>
                  <a:lnTo>
                    <a:pt x="2117" y="313"/>
                  </a:lnTo>
                  <a:lnTo>
                    <a:pt x="2102" y="303"/>
                  </a:lnTo>
                  <a:lnTo>
                    <a:pt x="2087" y="294"/>
                  </a:lnTo>
                  <a:lnTo>
                    <a:pt x="2070" y="286"/>
                  </a:lnTo>
                  <a:lnTo>
                    <a:pt x="2052" y="278"/>
                  </a:lnTo>
                  <a:lnTo>
                    <a:pt x="2032" y="270"/>
                  </a:lnTo>
                  <a:lnTo>
                    <a:pt x="2004" y="258"/>
                  </a:lnTo>
                  <a:lnTo>
                    <a:pt x="1979" y="247"/>
                  </a:lnTo>
                  <a:lnTo>
                    <a:pt x="1969" y="242"/>
                  </a:lnTo>
                  <a:lnTo>
                    <a:pt x="1958" y="236"/>
                  </a:lnTo>
                  <a:lnTo>
                    <a:pt x="1950" y="230"/>
                  </a:lnTo>
                  <a:lnTo>
                    <a:pt x="1942" y="224"/>
                  </a:lnTo>
                  <a:lnTo>
                    <a:pt x="1936" y="219"/>
                  </a:lnTo>
                  <a:lnTo>
                    <a:pt x="1930" y="213"/>
                  </a:lnTo>
                  <a:lnTo>
                    <a:pt x="1924" y="206"/>
                  </a:lnTo>
                  <a:lnTo>
                    <a:pt x="1920" y="200"/>
                  </a:lnTo>
                  <a:lnTo>
                    <a:pt x="1917" y="192"/>
                  </a:lnTo>
                  <a:lnTo>
                    <a:pt x="1915" y="184"/>
                  </a:lnTo>
                  <a:lnTo>
                    <a:pt x="1914" y="177"/>
                  </a:lnTo>
                  <a:lnTo>
                    <a:pt x="1914" y="168"/>
                  </a:lnTo>
                  <a:lnTo>
                    <a:pt x="1914" y="162"/>
                  </a:lnTo>
                  <a:lnTo>
                    <a:pt x="1915" y="154"/>
                  </a:lnTo>
                  <a:lnTo>
                    <a:pt x="1917" y="147"/>
                  </a:lnTo>
                  <a:lnTo>
                    <a:pt x="1919" y="141"/>
                  </a:lnTo>
                  <a:lnTo>
                    <a:pt x="1923" y="135"/>
                  </a:lnTo>
                  <a:lnTo>
                    <a:pt x="1928" y="129"/>
                  </a:lnTo>
                  <a:lnTo>
                    <a:pt x="1933" y="122"/>
                  </a:lnTo>
                  <a:lnTo>
                    <a:pt x="1938" y="117"/>
                  </a:lnTo>
                  <a:lnTo>
                    <a:pt x="1945" y="112"/>
                  </a:lnTo>
                  <a:lnTo>
                    <a:pt x="1952" y="107"/>
                  </a:lnTo>
                  <a:lnTo>
                    <a:pt x="1960" y="103"/>
                  </a:lnTo>
                  <a:lnTo>
                    <a:pt x="1970" y="100"/>
                  </a:lnTo>
                  <a:lnTo>
                    <a:pt x="1980" y="97"/>
                  </a:lnTo>
                  <a:lnTo>
                    <a:pt x="1991" y="95"/>
                  </a:lnTo>
                  <a:lnTo>
                    <a:pt x="2004" y="94"/>
                  </a:lnTo>
                  <a:lnTo>
                    <a:pt x="2016" y="94"/>
                  </a:lnTo>
                  <a:lnTo>
                    <a:pt x="2037" y="94"/>
                  </a:lnTo>
                  <a:lnTo>
                    <a:pt x="2057" y="96"/>
                  </a:lnTo>
                  <a:lnTo>
                    <a:pt x="2075" y="100"/>
                  </a:lnTo>
                  <a:lnTo>
                    <a:pt x="2092" y="104"/>
                  </a:lnTo>
                  <a:lnTo>
                    <a:pt x="2106" y="108"/>
                  </a:lnTo>
                  <a:lnTo>
                    <a:pt x="2120" y="113"/>
                  </a:lnTo>
                  <a:lnTo>
                    <a:pt x="2131" y="118"/>
                  </a:lnTo>
                  <a:lnTo>
                    <a:pt x="2140" y="122"/>
                  </a:lnTo>
                  <a:lnTo>
                    <a:pt x="2167" y="31"/>
                  </a:lnTo>
                  <a:lnTo>
                    <a:pt x="2155" y="25"/>
                  </a:lnTo>
                  <a:lnTo>
                    <a:pt x="2139" y="20"/>
                  </a:lnTo>
                  <a:lnTo>
                    <a:pt x="2124" y="14"/>
                  </a:lnTo>
                  <a:lnTo>
                    <a:pt x="2106" y="9"/>
                  </a:lnTo>
                  <a:lnTo>
                    <a:pt x="2087" y="6"/>
                  </a:lnTo>
                  <a:lnTo>
                    <a:pt x="2065" y="3"/>
                  </a:lnTo>
                  <a:lnTo>
                    <a:pt x="2043" y="1"/>
                  </a:lnTo>
                  <a:lnTo>
                    <a:pt x="2019" y="0"/>
                  </a:lnTo>
                  <a:lnTo>
                    <a:pt x="1994" y="1"/>
                  </a:lnTo>
                  <a:lnTo>
                    <a:pt x="1971" y="4"/>
                  </a:lnTo>
                  <a:lnTo>
                    <a:pt x="1948" y="8"/>
                  </a:lnTo>
                  <a:lnTo>
                    <a:pt x="1928" y="14"/>
                  </a:lnTo>
                  <a:lnTo>
                    <a:pt x="1908" y="22"/>
                  </a:lnTo>
                  <a:lnTo>
                    <a:pt x="1890" y="30"/>
                  </a:lnTo>
                  <a:lnTo>
                    <a:pt x="1873" y="40"/>
                  </a:lnTo>
                  <a:lnTo>
                    <a:pt x="1859" y="51"/>
                  </a:lnTo>
                  <a:lnTo>
                    <a:pt x="1845" y="64"/>
                  </a:lnTo>
                  <a:lnTo>
                    <a:pt x="1833" y="77"/>
                  </a:lnTo>
                  <a:lnTo>
                    <a:pt x="1823" y="93"/>
                  </a:lnTo>
                  <a:lnTo>
                    <a:pt x="1815" y="108"/>
                  </a:lnTo>
                  <a:lnTo>
                    <a:pt x="1808" y="124"/>
                  </a:lnTo>
                  <a:lnTo>
                    <a:pt x="1803" y="142"/>
                  </a:lnTo>
                  <a:lnTo>
                    <a:pt x="1800" y="159"/>
                  </a:lnTo>
                  <a:lnTo>
                    <a:pt x="1799" y="179"/>
                  </a:lnTo>
                  <a:lnTo>
                    <a:pt x="1800" y="194"/>
                  </a:lnTo>
                  <a:lnTo>
                    <a:pt x="1802" y="211"/>
                  </a:lnTo>
                  <a:lnTo>
                    <a:pt x="1806" y="225"/>
                  </a:lnTo>
                  <a:lnTo>
                    <a:pt x="1811" y="240"/>
                  </a:lnTo>
                  <a:lnTo>
                    <a:pt x="1818" y="253"/>
                  </a:lnTo>
                  <a:lnTo>
                    <a:pt x="1825" y="265"/>
                  </a:lnTo>
                  <a:lnTo>
                    <a:pt x="1834" y="277"/>
                  </a:lnTo>
                  <a:lnTo>
                    <a:pt x="1844" y="288"/>
                  </a:lnTo>
                  <a:lnTo>
                    <a:pt x="1857" y="299"/>
                  </a:lnTo>
                  <a:lnTo>
                    <a:pt x="1869" y="310"/>
                  </a:lnTo>
                  <a:lnTo>
                    <a:pt x="1882" y="319"/>
                  </a:lnTo>
                  <a:lnTo>
                    <a:pt x="1898" y="328"/>
                  </a:lnTo>
                  <a:lnTo>
                    <a:pt x="1913" y="336"/>
                  </a:lnTo>
                  <a:lnTo>
                    <a:pt x="1931" y="345"/>
                  </a:lnTo>
                  <a:lnTo>
                    <a:pt x="1948" y="352"/>
                  </a:lnTo>
                  <a:lnTo>
                    <a:pt x="1967" y="359"/>
                  </a:lnTo>
                  <a:lnTo>
                    <a:pt x="1994" y="369"/>
                  </a:lnTo>
                  <a:lnTo>
                    <a:pt x="2017" y="381"/>
                  </a:lnTo>
                  <a:lnTo>
                    <a:pt x="2027" y="386"/>
                  </a:lnTo>
                  <a:lnTo>
                    <a:pt x="2036" y="392"/>
                  </a:lnTo>
                  <a:lnTo>
                    <a:pt x="2044" y="397"/>
                  </a:lnTo>
                  <a:lnTo>
                    <a:pt x="2051" y="403"/>
                  </a:lnTo>
                  <a:lnTo>
                    <a:pt x="2057" y="409"/>
                  </a:lnTo>
                  <a:lnTo>
                    <a:pt x="2062" y="417"/>
                  </a:lnTo>
                  <a:lnTo>
                    <a:pt x="2067" y="423"/>
                  </a:lnTo>
                  <a:lnTo>
                    <a:pt x="2070" y="430"/>
                  </a:lnTo>
                  <a:lnTo>
                    <a:pt x="2073" y="437"/>
                  </a:lnTo>
                  <a:lnTo>
                    <a:pt x="2075" y="445"/>
                  </a:lnTo>
                  <a:lnTo>
                    <a:pt x="2077" y="454"/>
                  </a:lnTo>
                  <a:lnTo>
                    <a:pt x="2077" y="462"/>
                  </a:lnTo>
                  <a:lnTo>
                    <a:pt x="2077" y="471"/>
                  </a:lnTo>
                  <a:lnTo>
                    <a:pt x="2074" y="480"/>
                  </a:lnTo>
                  <a:lnTo>
                    <a:pt x="2072" y="489"/>
                  </a:lnTo>
                  <a:lnTo>
                    <a:pt x="2069" y="497"/>
                  </a:lnTo>
                  <a:lnTo>
                    <a:pt x="2065" y="504"/>
                  </a:lnTo>
                  <a:lnTo>
                    <a:pt x="2060" y="511"/>
                  </a:lnTo>
                  <a:lnTo>
                    <a:pt x="2054" y="517"/>
                  </a:lnTo>
                  <a:lnTo>
                    <a:pt x="2048" y="524"/>
                  </a:lnTo>
                  <a:lnTo>
                    <a:pt x="2040" y="529"/>
                  </a:lnTo>
                  <a:lnTo>
                    <a:pt x="2031" y="533"/>
                  </a:lnTo>
                  <a:lnTo>
                    <a:pt x="2022" y="537"/>
                  </a:lnTo>
                  <a:lnTo>
                    <a:pt x="2012" y="540"/>
                  </a:lnTo>
                  <a:lnTo>
                    <a:pt x="2002" y="543"/>
                  </a:lnTo>
                  <a:lnTo>
                    <a:pt x="1989" y="545"/>
                  </a:lnTo>
                  <a:lnTo>
                    <a:pt x="1977" y="546"/>
                  </a:lnTo>
                  <a:lnTo>
                    <a:pt x="1965" y="546"/>
                  </a:lnTo>
                  <a:lnTo>
                    <a:pt x="1943" y="546"/>
                  </a:lnTo>
                  <a:lnTo>
                    <a:pt x="1921" y="543"/>
                  </a:lnTo>
                  <a:lnTo>
                    <a:pt x="1901" y="540"/>
                  </a:lnTo>
                  <a:lnTo>
                    <a:pt x="1881" y="535"/>
                  </a:lnTo>
                  <a:lnTo>
                    <a:pt x="1863" y="529"/>
                  </a:lnTo>
                  <a:lnTo>
                    <a:pt x="1845" y="523"/>
                  </a:lnTo>
                  <a:lnTo>
                    <a:pt x="1829" y="514"/>
                  </a:lnTo>
                  <a:lnTo>
                    <a:pt x="1815" y="507"/>
                  </a:lnTo>
                  <a:lnTo>
                    <a:pt x="1789" y="601"/>
                  </a:lnTo>
                  <a:close/>
                  <a:moveTo>
                    <a:pt x="1300" y="631"/>
                  </a:moveTo>
                  <a:lnTo>
                    <a:pt x="1300" y="408"/>
                  </a:lnTo>
                  <a:lnTo>
                    <a:pt x="1300" y="371"/>
                  </a:lnTo>
                  <a:lnTo>
                    <a:pt x="1299" y="335"/>
                  </a:lnTo>
                  <a:lnTo>
                    <a:pt x="1299" y="301"/>
                  </a:lnTo>
                  <a:lnTo>
                    <a:pt x="1298" y="269"/>
                  </a:lnTo>
                  <a:lnTo>
                    <a:pt x="1298" y="237"/>
                  </a:lnTo>
                  <a:lnTo>
                    <a:pt x="1297" y="205"/>
                  </a:lnTo>
                  <a:lnTo>
                    <a:pt x="1295" y="175"/>
                  </a:lnTo>
                  <a:lnTo>
                    <a:pt x="1294" y="144"/>
                  </a:lnTo>
                  <a:lnTo>
                    <a:pt x="1297" y="144"/>
                  </a:lnTo>
                  <a:lnTo>
                    <a:pt x="1308" y="170"/>
                  </a:lnTo>
                  <a:lnTo>
                    <a:pt x="1321" y="198"/>
                  </a:lnTo>
                  <a:lnTo>
                    <a:pt x="1335" y="224"/>
                  </a:lnTo>
                  <a:lnTo>
                    <a:pt x="1348" y="251"/>
                  </a:lnTo>
                  <a:lnTo>
                    <a:pt x="1362" y="279"/>
                  </a:lnTo>
                  <a:lnTo>
                    <a:pt x="1378" y="306"/>
                  </a:lnTo>
                  <a:lnTo>
                    <a:pt x="1392" y="332"/>
                  </a:lnTo>
                  <a:lnTo>
                    <a:pt x="1408" y="358"/>
                  </a:lnTo>
                  <a:lnTo>
                    <a:pt x="1569" y="631"/>
                  </a:lnTo>
                  <a:lnTo>
                    <a:pt x="1686" y="631"/>
                  </a:lnTo>
                  <a:lnTo>
                    <a:pt x="1686" y="10"/>
                  </a:lnTo>
                  <a:lnTo>
                    <a:pt x="1582" y="10"/>
                  </a:lnTo>
                  <a:lnTo>
                    <a:pt x="1582" y="226"/>
                  </a:lnTo>
                  <a:lnTo>
                    <a:pt x="1582" y="261"/>
                  </a:lnTo>
                  <a:lnTo>
                    <a:pt x="1582" y="295"/>
                  </a:lnTo>
                  <a:lnTo>
                    <a:pt x="1583" y="328"/>
                  </a:lnTo>
                  <a:lnTo>
                    <a:pt x="1584" y="360"/>
                  </a:lnTo>
                  <a:lnTo>
                    <a:pt x="1585" y="391"/>
                  </a:lnTo>
                  <a:lnTo>
                    <a:pt x="1587" y="422"/>
                  </a:lnTo>
                  <a:lnTo>
                    <a:pt x="1589" y="453"/>
                  </a:lnTo>
                  <a:lnTo>
                    <a:pt x="1592" y="484"/>
                  </a:lnTo>
                  <a:lnTo>
                    <a:pt x="1589" y="485"/>
                  </a:lnTo>
                  <a:lnTo>
                    <a:pt x="1578" y="459"/>
                  </a:lnTo>
                  <a:lnTo>
                    <a:pt x="1567" y="433"/>
                  </a:lnTo>
                  <a:lnTo>
                    <a:pt x="1555" y="407"/>
                  </a:lnTo>
                  <a:lnTo>
                    <a:pt x="1541" y="381"/>
                  </a:lnTo>
                  <a:lnTo>
                    <a:pt x="1528" y="355"/>
                  </a:lnTo>
                  <a:lnTo>
                    <a:pt x="1513" y="328"/>
                  </a:lnTo>
                  <a:lnTo>
                    <a:pt x="1499" y="302"/>
                  </a:lnTo>
                  <a:lnTo>
                    <a:pt x="1484" y="277"/>
                  </a:lnTo>
                  <a:lnTo>
                    <a:pt x="1324" y="10"/>
                  </a:lnTo>
                  <a:lnTo>
                    <a:pt x="1195" y="10"/>
                  </a:lnTo>
                  <a:lnTo>
                    <a:pt x="1195" y="631"/>
                  </a:lnTo>
                  <a:lnTo>
                    <a:pt x="1300" y="631"/>
                  </a:lnTo>
                  <a:close/>
                  <a:moveTo>
                    <a:pt x="804" y="550"/>
                  </a:moveTo>
                  <a:lnTo>
                    <a:pt x="795" y="549"/>
                  </a:lnTo>
                  <a:lnTo>
                    <a:pt x="785" y="549"/>
                  </a:lnTo>
                  <a:lnTo>
                    <a:pt x="776" y="547"/>
                  </a:lnTo>
                  <a:lnTo>
                    <a:pt x="766" y="545"/>
                  </a:lnTo>
                  <a:lnTo>
                    <a:pt x="757" y="543"/>
                  </a:lnTo>
                  <a:lnTo>
                    <a:pt x="749" y="540"/>
                  </a:lnTo>
                  <a:lnTo>
                    <a:pt x="741" y="536"/>
                  </a:lnTo>
                  <a:lnTo>
                    <a:pt x="733" y="532"/>
                  </a:lnTo>
                  <a:lnTo>
                    <a:pt x="724" y="527"/>
                  </a:lnTo>
                  <a:lnTo>
                    <a:pt x="717" y="523"/>
                  </a:lnTo>
                  <a:lnTo>
                    <a:pt x="710" y="516"/>
                  </a:lnTo>
                  <a:lnTo>
                    <a:pt x="703" y="510"/>
                  </a:lnTo>
                  <a:lnTo>
                    <a:pt x="690" y="497"/>
                  </a:lnTo>
                  <a:lnTo>
                    <a:pt x="679" y="482"/>
                  </a:lnTo>
                  <a:lnTo>
                    <a:pt x="668" y="466"/>
                  </a:lnTo>
                  <a:lnTo>
                    <a:pt x="660" y="449"/>
                  </a:lnTo>
                  <a:lnTo>
                    <a:pt x="651" y="430"/>
                  </a:lnTo>
                  <a:lnTo>
                    <a:pt x="645" y="410"/>
                  </a:lnTo>
                  <a:lnTo>
                    <a:pt x="640" y="389"/>
                  </a:lnTo>
                  <a:lnTo>
                    <a:pt x="637" y="367"/>
                  </a:lnTo>
                  <a:lnTo>
                    <a:pt x="634" y="346"/>
                  </a:lnTo>
                  <a:lnTo>
                    <a:pt x="634" y="322"/>
                  </a:lnTo>
                  <a:lnTo>
                    <a:pt x="634" y="299"/>
                  </a:lnTo>
                  <a:lnTo>
                    <a:pt x="636" y="277"/>
                  </a:lnTo>
                  <a:lnTo>
                    <a:pt x="640" y="255"/>
                  </a:lnTo>
                  <a:lnTo>
                    <a:pt x="645" y="235"/>
                  </a:lnTo>
                  <a:lnTo>
                    <a:pt x="651" y="214"/>
                  </a:lnTo>
                  <a:lnTo>
                    <a:pt x="659" y="194"/>
                  </a:lnTo>
                  <a:lnTo>
                    <a:pt x="668" y="177"/>
                  </a:lnTo>
                  <a:lnTo>
                    <a:pt x="677" y="160"/>
                  </a:lnTo>
                  <a:lnTo>
                    <a:pt x="689" y="145"/>
                  </a:lnTo>
                  <a:lnTo>
                    <a:pt x="702" y="132"/>
                  </a:lnTo>
                  <a:lnTo>
                    <a:pt x="709" y="126"/>
                  </a:lnTo>
                  <a:lnTo>
                    <a:pt x="716" y="119"/>
                  </a:lnTo>
                  <a:lnTo>
                    <a:pt x="723" y="114"/>
                  </a:lnTo>
                  <a:lnTo>
                    <a:pt x="732" y="109"/>
                  </a:lnTo>
                  <a:lnTo>
                    <a:pt x="740" y="105"/>
                  </a:lnTo>
                  <a:lnTo>
                    <a:pt x="748" y="102"/>
                  </a:lnTo>
                  <a:lnTo>
                    <a:pt x="757" y="99"/>
                  </a:lnTo>
                  <a:lnTo>
                    <a:pt x="766" y="96"/>
                  </a:lnTo>
                  <a:lnTo>
                    <a:pt x="776" y="94"/>
                  </a:lnTo>
                  <a:lnTo>
                    <a:pt x="786" y="92"/>
                  </a:lnTo>
                  <a:lnTo>
                    <a:pt x="795" y="91"/>
                  </a:lnTo>
                  <a:lnTo>
                    <a:pt x="807" y="91"/>
                  </a:lnTo>
                  <a:lnTo>
                    <a:pt x="817" y="91"/>
                  </a:lnTo>
                  <a:lnTo>
                    <a:pt x="827" y="92"/>
                  </a:lnTo>
                  <a:lnTo>
                    <a:pt x="836" y="94"/>
                  </a:lnTo>
                  <a:lnTo>
                    <a:pt x="846" y="96"/>
                  </a:lnTo>
                  <a:lnTo>
                    <a:pt x="855" y="99"/>
                  </a:lnTo>
                  <a:lnTo>
                    <a:pt x="864" y="102"/>
                  </a:lnTo>
                  <a:lnTo>
                    <a:pt x="872" y="106"/>
                  </a:lnTo>
                  <a:lnTo>
                    <a:pt x="881" y="110"/>
                  </a:lnTo>
                  <a:lnTo>
                    <a:pt x="889" y="114"/>
                  </a:lnTo>
                  <a:lnTo>
                    <a:pt x="896" y="120"/>
                  </a:lnTo>
                  <a:lnTo>
                    <a:pt x="903" y="126"/>
                  </a:lnTo>
                  <a:lnTo>
                    <a:pt x="910" y="132"/>
                  </a:lnTo>
                  <a:lnTo>
                    <a:pt x="923" y="145"/>
                  </a:lnTo>
                  <a:lnTo>
                    <a:pt x="934" y="160"/>
                  </a:lnTo>
                  <a:lnTo>
                    <a:pt x="944" y="177"/>
                  </a:lnTo>
                  <a:lnTo>
                    <a:pt x="952" y="194"/>
                  </a:lnTo>
                  <a:lnTo>
                    <a:pt x="961" y="214"/>
                  </a:lnTo>
                  <a:lnTo>
                    <a:pt x="967" y="234"/>
                  </a:lnTo>
                  <a:lnTo>
                    <a:pt x="971" y="254"/>
                  </a:lnTo>
                  <a:lnTo>
                    <a:pt x="974" y="275"/>
                  </a:lnTo>
                  <a:lnTo>
                    <a:pt x="976" y="296"/>
                  </a:lnTo>
                  <a:lnTo>
                    <a:pt x="977" y="318"/>
                  </a:lnTo>
                  <a:lnTo>
                    <a:pt x="976" y="343"/>
                  </a:lnTo>
                  <a:lnTo>
                    <a:pt x="974" y="365"/>
                  </a:lnTo>
                  <a:lnTo>
                    <a:pt x="971" y="388"/>
                  </a:lnTo>
                  <a:lnTo>
                    <a:pt x="966" y="409"/>
                  </a:lnTo>
                  <a:lnTo>
                    <a:pt x="960" y="430"/>
                  </a:lnTo>
                  <a:lnTo>
                    <a:pt x="951" y="449"/>
                  </a:lnTo>
                  <a:lnTo>
                    <a:pt x="943" y="467"/>
                  </a:lnTo>
                  <a:lnTo>
                    <a:pt x="933" y="482"/>
                  </a:lnTo>
                  <a:lnTo>
                    <a:pt x="921" y="498"/>
                  </a:lnTo>
                  <a:lnTo>
                    <a:pt x="908" y="511"/>
                  </a:lnTo>
                  <a:lnTo>
                    <a:pt x="901" y="517"/>
                  </a:lnTo>
                  <a:lnTo>
                    <a:pt x="894" y="523"/>
                  </a:lnTo>
                  <a:lnTo>
                    <a:pt x="887" y="528"/>
                  </a:lnTo>
                  <a:lnTo>
                    <a:pt x="878" y="532"/>
                  </a:lnTo>
                  <a:lnTo>
                    <a:pt x="870" y="536"/>
                  </a:lnTo>
                  <a:lnTo>
                    <a:pt x="862" y="540"/>
                  </a:lnTo>
                  <a:lnTo>
                    <a:pt x="854" y="543"/>
                  </a:lnTo>
                  <a:lnTo>
                    <a:pt x="845" y="545"/>
                  </a:lnTo>
                  <a:lnTo>
                    <a:pt x="835" y="547"/>
                  </a:lnTo>
                  <a:lnTo>
                    <a:pt x="826" y="549"/>
                  </a:lnTo>
                  <a:lnTo>
                    <a:pt x="816" y="549"/>
                  </a:lnTo>
                  <a:lnTo>
                    <a:pt x="805" y="550"/>
                  </a:lnTo>
                  <a:lnTo>
                    <a:pt x="804" y="550"/>
                  </a:lnTo>
                  <a:close/>
                  <a:moveTo>
                    <a:pt x="802" y="641"/>
                  </a:moveTo>
                  <a:lnTo>
                    <a:pt x="818" y="641"/>
                  </a:lnTo>
                  <a:lnTo>
                    <a:pt x="833" y="640"/>
                  </a:lnTo>
                  <a:lnTo>
                    <a:pt x="849" y="638"/>
                  </a:lnTo>
                  <a:lnTo>
                    <a:pt x="863" y="636"/>
                  </a:lnTo>
                  <a:lnTo>
                    <a:pt x="878" y="633"/>
                  </a:lnTo>
                  <a:lnTo>
                    <a:pt x="893" y="629"/>
                  </a:lnTo>
                  <a:lnTo>
                    <a:pt x="906" y="624"/>
                  </a:lnTo>
                  <a:lnTo>
                    <a:pt x="920" y="619"/>
                  </a:lnTo>
                  <a:lnTo>
                    <a:pt x="933" y="613"/>
                  </a:lnTo>
                  <a:lnTo>
                    <a:pt x="946" y="607"/>
                  </a:lnTo>
                  <a:lnTo>
                    <a:pt x="959" y="600"/>
                  </a:lnTo>
                  <a:lnTo>
                    <a:pt x="970" y="593"/>
                  </a:lnTo>
                  <a:lnTo>
                    <a:pt x="982" y="584"/>
                  </a:lnTo>
                  <a:lnTo>
                    <a:pt x="993" y="575"/>
                  </a:lnTo>
                  <a:lnTo>
                    <a:pt x="1004" y="566"/>
                  </a:lnTo>
                  <a:lnTo>
                    <a:pt x="1013" y="556"/>
                  </a:lnTo>
                  <a:lnTo>
                    <a:pt x="1023" y="545"/>
                  </a:lnTo>
                  <a:lnTo>
                    <a:pt x="1033" y="533"/>
                  </a:lnTo>
                  <a:lnTo>
                    <a:pt x="1041" y="522"/>
                  </a:lnTo>
                  <a:lnTo>
                    <a:pt x="1049" y="509"/>
                  </a:lnTo>
                  <a:lnTo>
                    <a:pt x="1056" y="496"/>
                  </a:lnTo>
                  <a:lnTo>
                    <a:pt x="1063" y="482"/>
                  </a:lnTo>
                  <a:lnTo>
                    <a:pt x="1070" y="468"/>
                  </a:lnTo>
                  <a:lnTo>
                    <a:pt x="1076" y="453"/>
                  </a:lnTo>
                  <a:lnTo>
                    <a:pt x="1081" y="437"/>
                  </a:lnTo>
                  <a:lnTo>
                    <a:pt x="1085" y="422"/>
                  </a:lnTo>
                  <a:lnTo>
                    <a:pt x="1089" y="405"/>
                  </a:lnTo>
                  <a:lnTo>
                    <a:pt x="1092" y="388"/>
                  </a:lnTo>
                  <a:lnTo>
                    <a:pt x="1094" y="370"/>
                  </a:lnTo>
                  <a:lnTo>
                    <a:pt x="1096" y="352"/>
                  </a:lnTo>
                  <a:lnTo>
                    <a:pt x="1097" y="333"/>
                  </a:lnTo>
                  <a:lnTo>
                    <a:pt x="1097" y="314"/>
                  </a:lnTo>
                  <a:lnTo>
                    <a:pt x="1097" y="297"/>
                  </a:lnTo>
                  <a:lnTo>
                    <a:pt x="1096" y="281"/>
                  </a:lnTo>
                  <a:lnTo>
                    <a:pt x="1095" y="265"/>
                  </a:lnTo>
                  <a:lnTo>
                    <a:pt x="1093" y="250"/>
                  </a:lnTo>
                  <a:lnTo>
                    <a:pt x="1090" y="235"/>
                  </a:lnTo>
                  <a:lnTo>
                    <a:pt x="1087" y="219"/>
                  </a:lnTo>
                  <a:lnTo>
                    <a:pt x="1083" y="205"/>
                  </a:lnTo>
                  <a:lnTo>
                    <a:pt x="1078" y="190"/>
                  </a:lnTo>
                  <a:lnTo>
                    <a:pt x="1073" y="176"/>
                  </a:lnTo>
                  <a:lnTo>
                    <a:pt x="1068" y="163"/>
                  </a:lnTo>
                  <a:lnTo>
                    <a:pt x="1061" y="149"/>
                  </a:lnTo>
                  <a:lnTo>
                    <a:pt x="1054" y="137"/>
                  </a:lnTo>
                  <a:lnTo>
                    <a:pt x="1047" y="124"/>
                  </a:lnTo>
                  <a:lnTo>
                    <a:pt x="1039" y="113"/>
                  </a:lnTo>
                  <a:lnTo>
                    <a:pt x="1031" y="102"/>
                  </a:lnTo>
                  <a:lnTo>
                    <a:pt x="1021" y="91"/>
                  </a:lnTo>
                  <a:lnTo>
                    <a:pt x="1012" y="80"/>
                  </a:lnTo>
                  <a:lnTo>
                    <a:pt x="1002" y="71"/>
                  </a:lnTo>
                  <a:lnTo>
                    <a:pt x="991" y="62"/>
                  </a:lnTo>
                  <a:lnTo>
                    <a:pt x="980" y="52"/>
                  </a:lnTo>
                  <a:lnTo>
                    <a:pt x="969" y="44"/>
                  </a:lnTo>
                  <a:lnTo>
                    <a:pt x="957" y="37"/>
                  </a:lnTo>
                  <a:lnTo>
                    <a:pt x="944" y="30"/>
                  </a:lnTo>
                  <a:lnTo>
                    <a:pt x="932" y="24"/>
                  </a:lnTo>
                  <a:lnTo>
                    <a:pt x="917" y="19"/>
                  </a:lnTo>
                  <a:lnTo>
                    <a:pt x="904" y="13"/>
                  </a:lnTo>
                  <a:lnTo>
                    <a:pt x="890" y="9"/>
                  </a:lnTo>
                  <a:lnTo>
                    <a:pt x="874" y="6"/>
                  </a:lnTo>
                  <a:lnTo>
                    <a:pt x="859" y="3"/>
                  </a:lnTo>
                  <a:lnTo>
                    <a:pt x="844" y="2"/>
                  </a:lnTo>
                  <a:lnTo>
                    <a:pt x="827" y="0"/>
                  </a:lnTo>
                  <a:lnTo>
                    <a:pt x="811" y="0"/>
                  </a:lnTo>
                  <a:lnTo>
                    <a:pt x="794" y="0"/>
                  </a:lnTo>
                  <a:lnTo>
                    <a:pt x="778" y="2"/>
                  </a:lnTo>
                  <a:lnTo>
                    <a:pt x="762" y="3"/>
                  </a:lnTo>
                  <a:lnTo>
                    <a:pt x="747" y="6"/>
                  </a:lnTo>
                  <a:lnTo>
                    <a:pt x="733" y="9"/>
                  </a:lnTo>
                  <a:lnTo>
                    <a:pt x="718" y="13"/>
                  </a:lnTo>
                  <a:lnTo>
                    <a:pt x="704" y="19"/>
                  </a:lnTo>
                  <a:lnTo>
                    <a:pt x="690" y="24"/>
                  </a:lnTo>
                  <a:lnTo>
                    <a:pt x="677" y="30"/>
                  </a:lnTo>
                  <a:lnTo>
                    <a:pt x="665" y="37"/>
                  </a:lnTo>
                  <a:lnTo>
                    <a:pt x="652" y="44"/>
                  </a:lnTo>
                  <a:lnTo>
                    <a:pt x="640" y="52"/>
                  </a:lnTo>
                  <a:lnTo>
                    <a:pt x="629" y="62"/>
                  </a:lnTo>
                  <a:lnTo>
                    <a:pt x="617" y="71"/>
                  </a:lnTo>
                  <a:lnTo>
                    <a:pt x="607" y="80"/>
                  </a:lnTo>
                  <a:lnTo>
                    <a:pt x="597" y="92"/>
                  </a:lnTo>
                  <a:lnTo>
                    <a:pt x="588" y="102"/>
                  </a:lnTo>
                  <a:lnTo>
                    <a:pt x="578" y="114"/>
                  </a:lnTo>
                  <a:lnTo>
                    <a:pt x="570" y="126"/>
                  </a:lnTo>
                  <a:lnTo>
                    <a:pt x="562" y="139"/>
                  </a:lnTo>
                  <a:lnTo>
                    <a:pt x="555" y="151"/>
                  </a:lnTo>
                  <a:lnTo>
                    <a:pt x="549" y="166"/>
                  </a:lnTo>
                  <a:lnTo>
                    <a:pt x="542" y="179"/>
                  </a:lnTo>
                  <a:lnTo>
                    <a:pt x="536" y="194"/>
                  </a:lnTo>
                  <a:lnTo>
                    <a:pt x="531" y="209"/>
                  </a:lnTo>
                  <a:lnTo>
                    <a:pt x="527" y="224"/>
                  </a:lnTo>
                  <a:lnTo>
                    <a:pt x="524" y="241"/>
                  </a:lnTo>
                  <a:lnTo>
                    <a:pt x="521" y="256"/>
                  </a:lnTo>
                  <a:lnTo>
                    <a:pt x="518" y="273"/>
                  </a:lnTo>
                  <a:lnTo>
                    <a:pt x="517" y="290"/>
                  </a:lnTo>
                  <a:lnTo>
                    <a:pt x="516" y="308"/>
                  </a:lnTo>
                  <a:lnTo>
                    <a:pt x="515" y="325"/>
                  </a:lnTo>
                  <a:lnTo>
                    <a:pt x="516" y="342"/>
                  </a:lnTo>
                  <a:lnTo>
                    <a:pt x="517" y="359"/>
                  </a:lnTo>
                  <a:lnTo>
                    <a:pt x="518" y="374"/>
                  </a:lnTo>
                  <a:lnTo>
                    <a:pt x="520" y="391"/>
                  </a:lnTo>
                  <a:lnTo>
                    <a:pt x="523" y="406"/>
                  </a:lnTo>
                  <a:lnTo>
                    <a:pt x="526" y="422"/>
                  </a:lnTo>
                  <a:lnTo>
                    <a:pt x="530" y="436"/>
                  </a:lnTo>
                  <a:lnTo>
                    <a:pt x="535" y="452"/>
                  </a:lnTo>
                  <a:lnTo>
                    <a:pt x="540" y="465"/>
                  </a:lnTo>
                  <a:lnTo>
                    <a:pt x="547" y="479"/>
                  </a:lnTo>
                  <a:lnTo>
                    <a:pt x="553" y="492"/>
                  </a:lnTo>
                  <a:lnTo>
                    <a:pt x="559" y="505"/>
                  </a:lnTo>
                  <a:lnTo>
                    <a:pt x="567" y="517"/>
                  </a:lnTo>
                  <a:lnTo>
                    <a:pt x="575" y="529"/>
                  </a:lnTo>
                  <a:lnTo>
                    <a:pt x="584" y="540"/>
                  </a:lnTo>
                  <a:lnTo>
                    <a:pt x="593" y="551"/>
                  </a:lnTo>
                  <a:lnTo>
                    <a:pt x="602" y="562"/>
                  </a:lnTo>
                  <a:lnTo>
                    <a:pt x="612" y="571"/>
                  </a:lnTo>
                  <a:lnTo>
                    <a:pt x="623" y="580"/>
                  </a:lnTo>
                  <a:lnTo>
                    <a:pt x="634" y="588"/>
                  </a:lnTo>
                  <a:lnTo>
                    <a:pt x="645" y="597"/>
                  </a:lnTo>
                  <a:lnTo>
                    <a:pt x="658" y="604"/>
                  </a:lnTo>
                  <a:lnTo>
                    <a:pt x="670" y="611"/>
                  </a:lnTo>
                  <a:lnTo>
                    <a:pt x="682" y="617"/>
                  </a:lnTo>
                  <a:lnTo>
                    <a:pt x="696" y="622"/>
                  </a:lnTo>
                  <a:lnTo>
                    <a:pt x="710" y="628"/>
                  </a:lnTo>
                  <a:lnTo>
                    <a:pt x="724" y="632"/>
                  </a:lnTo>
                  <a:lnTo>
                    <a:pt x="739" y="635"/>
                  </a:lnTo>
                  <a:lnTo>
                    <a:pt x="753" y="638"/>
                  </a:lnTo>
                  <a:lnTo>
                    <a:pt x="769" y="640"/>
                  </a:lnTo>
                  <a:lnTo>
                    <a:pt x="785" y="641"/>
                  </a:lnTo>
                  <a:lnTo>
                    <a:pt x="801" y="641"/>
                  </a:lnTo>
                  <a:lnTo>
                    <a:pt x="802" y="641"/>
                  </a:lnTo>
                  <a:close/>
                  <a:moveTo>
                    <a:pt x="458" y="523"/>
                  </a:moveTo>
                  <a:lnTo>
                    <a:pt x="447" y="528"/>
                  </a:lnTo>
                  <a:lnTo>
                    <a:pt x="434" y="532"/>
                  </a:lnTo>
                  <a:lnTo>
                    <a:pt x="418" y="536"/>
                  </a:lnTo>
                  <a:lnTo>
                    <a:pt x="403" y="539"/>
                  </a:lnTo>
                  <a:lnTo>
                    <a:pt x="386" y="542"/>
                  </a:lnTo>
                  <a:lnTo>
                    <a:pt x="370" y="544"/>
                  </a:lnTo>
                  <a:lnTo>
                    <a:pt x="352" y="545"/>
                  </a:lnTo>
                  <a:lnTo>
                    <a:pt x="335" y="545"/>
                  </a:lnTo>
                  <a:lnTo>
                    <a:pt x="323" y="545"/>
                  </a:lnTo>
                  <a:lnTo>
                    <a:pt x="310" y="544"/>
                  </a:lnTo>
                  <a:lnTo>
                    <a:pt x="298" y="543"/>
                  </a:lnTo>
                  <a:lnTo>
                    <a:pt x="287" y="541"/>
                  </a:lnTo>
                  <a:lnTo>
                    <a:pt x="275" y="539"/>
                  </a:lnTo>
                  <a:lnTo>
                    <a:pt x="265" y="537"/>
                  </a:lnTo>
                  <a:lnTo>
                    <a:pt x="254" y="534"/>
                  </a:lnTo>
                  <a:lnTo>
                    <a:pt x="243" y="530"/>
                  </a:lnTo>
                  <a:lnTo>
                    <a:pt x="234" y="526"/>
                  </a:lnTo>
                  <a:lnTo>
                    <a:pt x="225" y="522"/>
                  </a:lnTo>
                  <a:lnTo>
                    <a:pt x="216" y="516"/>
                  </a:lnTo>
                  <a:lnTo>
                    <a:pt x="207" y="511"/>
                  </a:lnTo>
                  <a:lnTo>
                    <a:pt x="198" y="505"/>
                  </a:lnTo>
                  <a:lnTo>
                    <a:pt x="191" y="499"/>
                  </a:lnTo>
                  <a:lnTo>
                    <a:pt x="183" y="492"/>
                  </a:lnTo>
                  <a:lnTo>
                    <a:pt x="177" y="486"/>
                  </a:lnTo>
                  <a:lnTo>
                    <a:pt x="169" y="477"/>
                  </a:lnTo>
                  <a:lnTo>
                    <a:pt x="163" y="470"/>
                  </a:lnTo>
                  <a:lnTo>
                    <a:pt x="157" y="462"/>
                  </a:lnTo>
                  <a:lnTo>
                    <a:pt x="152" y="453"/>
                  </a:lnTo>
                  <a:lnTo>
                    <a:pt x="147" y="443"/>
                  </a:lnTo>
                  <a:lnTo>
                    <a:pt x="142" y="434"/>
                  </a:lnTo>
                  <a:lnTo>
                    <a:pt x="138" y="425"/>
                  </a:lnTo>
                  <a:lnTo>
                    <a:pt x="134" y="415"/>
                  </a:lnTo>
                  <a:lnTo>
                    <a:pt x="127" y="393"/>
                  </a:lnTo>
                  <a:lnTo>
                    <a:pt x="123" y="371"/>
                  </a:lnTo>
                  <a:lnTo>
                    <a:pt x="120" y="347"/>
                  </a:lnTo>
                  <a:lnTo>
                    <a:pt x="119" y="322"/>
                  </a:lnTo>
                  <a:lnTo>
                    <a:pt x="119" y="309"/>
                  </a:lnTo>
                  <a:lnTo>
                    <a:pt x="120" y="295"/>
                  </a:lnTo>
                  <a:lnTo>
                    <a:pt x="122" y="282"/>
                  </a:lnTo>
                  <a:lnTo>
                    <a:pt x="123" y="270"/>
                  </a:lnTo>
                  <a:lnTo>
                    <a:pt x="125" y="257"/>
                  </a:lnTo>
                  <a:lnTo>
                    <a:pt x="128" y="246"/>
                  </a:lnTo>
                  <a:lnTo>
                    <a:pt x="131" y="235"/>
                  </a:lnTo>
                  <a:lnTo>
                    <a:pt x="136" y="223"/>
                  </a:lnTo>
                  <a:lnTo>
                    <a:pt x="140" y="213"/>
                  </a:lnTo>
                  <a:lnTo>
                    <a:pt x="145" y="203"/>
                  </a:lnTo>
                  <a:lnTo>
                    <a:pt x="149" y="193"/>
                  </a:lnTo>
                  <a:lnTo>
                    <a:pt x="155" y="184"/>
                  </a:lnTo>
                  <a:lnTo>
                    <a:pt x="160" y="176"/>
                  </a:lnTo>
                  <a:lnTo>
                    <a:pt x="167" y="168"/>
                  </a:lnTo>
                  <a:lnTo>
                    <a:pt x="174" y="159"/>
                  </a:lnTo>
                  <a:lnTo>
                    <a:pt x="181" y="152"/>
                  </a:lnTo>
                  <a:lnTo>
                    <a:pt x="188" y="145"/>
                  </a:lnTo>
                  <a:lnTo>
                    <a:pt x="196" y="139"/>
                  </a:lnTo>
                  <a:lnTo>
                    <a:pt x="204" y="133"/>
                  </a:lnTo>
                  <a:lnTo>
                    <a:pt x="213" y="127"/>
                  </a:lnTo>
                  <a:lnTo>
                    <a:pt x="221" y="121"/>
                  </a:lnTo>
                  <a:lnTo>
                    <a:pt x="230" y="117"/>
                  </a:lnTo>
                  <a:lnTo>
                    <a:pt x="239" y="112"/>
                  </a:lnTo>
                  <a:lnTo>
                    <a:pt x="250" y="109"/>
                  </a:lnTo>
                  <a:lnTo>
                    <a:pt x="270" y="102"/>
                  </a:lnTo>
                  <a:lnTo>
                    <a:pt x="291" y="98"/>
                  </a:lnTo>
                  <a:lnTo>
                    <a:pt x="313" y="95"/>
                  </a:lnTo>
                  <a:lnTo>
                    <a:pt x="337" y="94"/>
                  </a:lnTo>
                  <a:lnTo>
                    <a:pt x="355" y="95"/>
                  </a:lnTo>
                  <a:lnTo>
                    <a:pt x="373" y="96"/>
                  </a:lnTo>
                  <a:lnTo>
                    <a:pt x="389" y="98"/>
                  </a:lnTo>
                  <a:lnTo>
                    <a:pt x="405" y="101"/>
                  </a:lnTo>
                  <a:lnTo>
                    <a:pt x="420" y="105"/>
                  </a:lnTo>
                  <a:lnTo>
                    <a:pt x="434" y="109"/>
                  </a:lnTo>
                  <a:lnTo>
                    <a:pt x="446" y="113"/>
                  </a:lnTo>
                  <a:lnTo>
                    <a:pt x="457" y="118"/>
                  </a:lnTo>
                  <a:lnTo>
                    <a:pt x="482" y="28"/>
                  </a:lnTo>
                  <a:lnTo>
                    <a:pt x="473" y="24"/>
                  </a:lnTo>
                  <a:lnTo>
                    <a:pt x="459" y="19"/>
                  </a:lnTo>
                  <a:lnTo>
                    <a:pt x="444" y="13"/>
                  </a:lnTo>
                  <a:lnTo>
                    <a:pt x="426" y="9"/>
                  </a:lnTo>
                  <a:lnTo>
                    <a:pt x="406" y="6"/>
                  </a:lnTo>
                  <a:lnTo>
                    <a:pt x="383" y="3"/>
                  </a:lnTo>
                  <a:lnTo>
                    <a:pt x="359" y="1"/>
                  </a:lnTo>
                  <a:lnTo>
                    <a:pt x="332" y="0"/>
                  </a:lnTo>
                  <a:lnTo>
                    <a:pt x="314" y="1"/>
                  </a:lnTo>
                  <a:lnTo>
                    <a:pt x="297" y="2"/>
                  </a:lnTo>
                  <a:lnTo>
                    <a:pt x="280" y="4"/>
                  </a:lnTo>
                  <a:lnTo>
                    <a:pt x="263" y="6"/>
                  </a:lnTo>
                  <a:lnTo>
                    <a:pt x="247" y="9"/>
                  </a:lnTo>
                  <a:lnTo>
                    <a:pt x="231" y="13"/>
                  </a:lnTo>
                  <a:lnTo>
                    <a:pt x="216" y="17"/>
                  </a:lnTo>
                  <a:lnTo>
                    <a:pt x="200" y="23"/>
                  </a:lnTo>
                  <a:lnTo>
                    <a:pt x="185" y="29"/>
                  </a:lnTo>
                  <a:lnTo>
                    <a:pt x="172" y="35"/>
                  </a:lnTo>
                  <a:lnTo>
                    <a:pt x="157" y="42"/>
                  </a:lnTo>
                  <a:lnTo>
                    <a:pt x="144" y="50"/>
                  </a:lnTo>
                  <a:lnTo>
                    <a:pt x="130" y="59"/>
                  </a:lnTo>
                  <a:lnTo>
                    <a:pt x="118" y="68"/>
                  </a:lnTo>
                  <a:lnTo>
                    <a:pt x="107" y="77"/>
                  </a:lnTo>
                  <a:lnTo>
                    <a:pt x="94" y="87"/>
                  </a:lnTo>
                  <a:lnTo>
                    <a:pt x="84" y="99"/>
                  </a:lnTo>
                  <a:lnTo>
                    <a:pt x="74" y="110"/>
                  </a:lnTo>
                  <a:lnTo>
                    <a:pt x="65" y="122"/>
                  </a:lnTo>
                  <a:lnTo>
                    <a:pt x="55" y="135"/>
                  </a:lnTo>
                  <a:lnTo>
                    <a:pt x="47" y="148"/>
                  </a:lnTo>
                  <a:lnTo>
                    <a:pt x="39" y="162"/>
                  </a:lnTo>
                  <a:lnTo>
                    <a:pt x="32" y="176"/>
                  </a:lnTo>
                  <a:lnTo>
                    <a:pt x="26" y="190"/>
                  </a:lnTo>
                  <a:lnTo>
                    <a:pt x="19" y="206"/>
                  </a:lnTo>
                  <a:lnTo>
                    <a:pt x="14" y="222"/>
                  </a:lnTo>
                  <a:lnTo>
                    <a:pt x="10" y="239"/>
                  </a:lnTo>
                  <a:lnTo>
                    <a:pt x="6" y="255"/>
                  </a:lnTo>
                  <a:lnTo>
                    <a:pt x="4" y="273"/>
                  </a:lnTo>
                  <a:lnTo>
                    <a:pt x="2" y="290"/>
                  </a:lnTo>
                  <a:lnTo>
                    <a:pt x="1" y="309"/>
                  </a:lnTo>
                  <a:lnTo>
                    <a:pt x="0" y="328"/>
                  </a:lnTo>
                  <a:lnTo>
                    <a:pt x="1" y="346"/>
                  </a:lnTo>
                  <a:lnTo>
                    <a:pt x="2" y="362"/>
                  </a:lnTo>
                  <a:lnTo>
                    <a:pt x="3" y="380"/>
                  </a:lnTo>
                  <a:lnTo>
                    <a:pt x="6" y="395"/>
                  </a:lnTo>
                  <a:lnTo>
                    <a:pt x="9" y="412"/>
                  </a:lnTo>
                  <a:lnTo>
                    <a:pt x="12" y="427"/>
                  </a:lnTo>
                  <a:lnTo>
                    <a:pt x="16" y="441"/>
                  </a:lnTo>
                  <a:lnTo>
                    <a:pt x="22" y="457"/>
                  </a:lnTo>
                  <a:lnTo>
                    <a:pt x="28" y="470"/>
                  </a:lnTo>
                  <a:lnTo>
                    <a:pt x="34" y="484"/>
                  </a:lnTo>
                  <a:lnTo>
                    <a:pt x="41" y="497"/>
                  </a:lnTo>
                  <a:lnTo>
                    <a:pt x="48" y="509"/>
                  </a:lnTo>
                  <a:lnTo>
                    <a:pt x="56" y="522"/>
                  </a:lnTo>
                  <a:lnTo>
                    <a:pt x="66" y="534"/>
                  </a:lnTo>
                  <a:lnTo>
                    <a:pt x="75" y="544"/>
                  </a:lnTo>
                  <a:lnTo>
                    <a:pt x="84" y="555"/>
                  </a:lnTo>
                  <a:lnTo>
                    <a:pt x="95" y="565"/>
                  </a:lnTo>
                  <a:lnTo>
                    <a:pt x="106" y="574"/>
                  </a:lnTo>
                  <a:lnTo>
                    <a:pt x="118" y="583"/>
                  </a:lnTo>
                  <a:lnTo>
                    <a:pt x="130" y="592"/>
                  </a:lnTo>
                  <a:lnTo>
                    <a:pt x="143" y="599"/>
                  </a:lnTo>
                  <a:lnTo>
                    <a:pt x="156" y="606"/>
                  </a:lnTo>
                  <a:lnTo>
                    <a:pt x="169" y="612"/>
                  </a:lnTo>
                  <a:lnTo>
                    <a:pt x="184" y="618"/>
                  </a:lnTo>
                  <a:lnTo>
                    <a:pt x="199" y="623"/>
                  </a:lnTo>
                  <a:lnTo>
                    <a:pt x="215" y="628"/>
                  </a:lnTo>
                  <a:lnTo>
                    <a:pt x="230" y="632"/>
                  </a:lnTo>
                  <a:lnTo>
                    <a:pt x="247" y="635"/>
                  </a:lnTo>
                  <a:lnTo>
                    <a:pt x="263" y="637"/>
                  </a:lnTo>
                  <a:lnTo>
                    <a:pt x="280" y="639"/>
                  </a:lnTo>
                  <a:lnTo>
                    <a:pt x="298" y="640"/>
                  </a:lnTo>
                  <a:lnTo>
                    <a:pt x="316" y="641"/>
                  </a:lnTo>
                  <a:lnTo>
                    <a:pt x="344" y="640"/>
                  </a:lnTo>
                  <a:lnTo>
                    <a:pt x="370" y="638"/>
                  </a:lnTo>
                  <a:lnTo>
                    <a:pt x="393" y="635"/>
                  </a:lnTo>
                  <a:lnTo>
                    <a:pt x="415" y="632"/>
                  </a:lnTo>
                  <a:lnTo>
                    <a:pt x="435" y="628"/>
                  </a:lnTo>
                  <a:lnTo>
                    <a:pt x="451" y="622"/>
                  </a:lnTo>
                  <a:lnTo>
                    <a:pt x="465" y="617"/>
                  </a:lnTo>
                  <a:lnTo>
                    <a:pt x="478" y="612"/>
                  </a:lnTo>
                  <a:lnTo>
                    <a:pt x="458" y="523"/>
                  </a:lnTo>
                  <a:close/>
                </a:path>
              </a:pathLst>
            </a:custGeom>
            <a:grpFill/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" name="CustomShape 14">
              <a:extLst>
                <a:ext uri="{FF2B5EF4-FFF2-40B4-BE49-F238E27FC236}">
                  <a16:creationId xmlns:a16="http://schemas.microsoft.com/office/drawing/2014/main" id="{BDE0F81A-E328-439B-915A-BBBE06C4C8EC}"/>
                </a:ext>
              </a:extLst>
            </p:cNvPr>
            <p:cNvSpPr/>
            <p:nvPr/>
          </p:nvSpPr>
          <p:spPr>
            <a:xfrm>
              <a:off x="380880" y="334800"/>
              <a:ext cx="438840" cy="109080"/>
            </a:xfrm>
            <a:custGeom>
              <a:avLst/>
              <a:gdLst/>
              <a:ahLst/>
              <a:cxnLst/>
              <a:rect l="l" t="t" r="r" b="b"/>
              <a:pathLst>
                <a:path w="2491" h="621">
                  <a:moveTo>
                    <a:pt x="598" y="179"/>
                  </a:moveTo>
                  <a:lnTo>
                    <a:pt x="598" y="0"/>
                  </a:lnTo>
                  <a:lnTo>
                    <a:pt x="524" y="0"/>
                  </a:lnTo>
                  <a:lnTo>
                    <a:pt x="449" y="0"/>
                  </a:lnTo>
                  <a:lnTo>
                    <a:pt x="374" y="0"/>
                  </a:lnTo>
                  <a:lnTo>
                    <a:pt x="299" y="0"/>
                  </a:lnTo>
                  <a:lnTo>
                    <a:pt x="224" y="0"/>
                  </a:lnTo>
                  <a:lnTo>
                    <a:pt x="150" y="0"/>
                  </a:lnTo>
                  <a:lnTo>
                    <a:pt x="75" y="0"/>
                  </a:lnTo>
                  <a:lnTo>
                    <a:pt x="0" y="0"/>
                  </a:lnTo>
                  <a:lnTo>
                    <a:pt x="0" y="179"/>
                  </a:lnTo>
                  <a:lnTo>
                    <a:pt x="176" y="179"/>
                  </a:lnTo>
                  <a:lnTo>
                    <a:pt x="176" y="621"/>
                  </a:lnTo>
                  <a:lnTo>
                    <a:pt x="423" y="621"/>
                  </a:lnTo>
                  <a:lnTo>
                    <a:pt x="423" y="179"/>
                  </a:lnTo>
                  <a:lnTo>
                    <a:pt x="598" y="179"/>
                  </a:lnTo>
                  <a:close/>
                  <a:moveTo>
                    <a:pt x="907" y="250"/>
                  </a:moveTo>
                  <a:lnTo>
                    <a:pt x="781" y="621"/>
                  </a:lnTo>
                  <a:lnTo>
                    <a:pt x="539" y="621"/>
                  </a:lnTo>
                  <a:lnTo>
                    <a:pt x="776" y="0"/>
                  </a:lnTo>
                  <a:lnTo>
                    <a:pt x="809" y="0"/>
                  </a:lnTo>
                  <a:lnTo>
                    <a:pt x="842" y="0"/>
                  </a:lnTo>
                  <a:lnTo>
                    <a:pt x="874" y="0"/>
                  </a:lnTo>
                  <a:lnTo>
                    <a:pt x="907" y="0"/>
                  </a:lnTo>
                  <a:lnTo>
                    <a:pt x="939" y="0"/>
                  </a:lnTo>
                  <a:lnTo>
                    <a:pt x="972" y="0"/>
                  </a:lnTo>
                  <a:lnTo>
                    <a:pt x="1005" y="0"/>
                  </a:lnTo>
                  <a:lnTo>
                    <a:pt x="1038" y="0"/>
                  </a:lnTo>
                  <a:lnTo>
                    <a:pt x="1275" y="621"/>
                  </a:lnTo>
                  <a:lnTo>
                    <a:pt x="1033" y="621"/>
                  </a:lnTo>
                  <a:lnTo>
                    <a:pt x="907" y="250"/>
                  </a:lnTo>
                  <a:close/>
                  <a:moveTo>
                    <a:pt x="1814" y="179"/>
                  </a:moveTo>
                  <a:lnTo>
                    <a:pt x="1814" y="0"/>
                  </a:lnTo>
                  <a:lnTo>
                    <a:pt x="1740" y="0"/>
                  </a:lnTo>
                  <a:lnTo>
                    <a:pt x="1665" y="0"/>
                  </a:lnTo>
                  <a:lnTo>
                    <a:pt x="1590" y="0"/>
                  </a:lnTo>
                  <a:lnTo>
                    <a:pt x="1515" y="0"/>
                  </a:lnTo>
                  <a:lnTo>
                    <a:pt x="1440" y="0"/>
                  </a:lnTo>
                  <a:lnTo>
                    <a:pt x="1366" y="0"/>
                  </a:lnTo>
                  <a:lnTo>
                    <a:pt x="1291" y="0"/>
                  </a:lnTo>
                  <a:lnTo>
                    <a:pt x="1216" y="0"/>
                  </a:lnTo>
                  <a:lnTo>
                    <a:pt x="1216" y="179"/>
                  </a:lnTo>
                  <a:lnTo>
                    <a:pt x="1391" y="179"/>
                  </a:lnTo>
                  <a:lnTo>
                    <a:pt x="1391" y="621"/>
                  </a:lnTo>
                  <a:lnTo>
                    <a:pt x="1639" y="621"/>
                  </a:lnTo>
                  <a:lnTo>
                    <a:pt x="1639" y="179"/>
                  </a:lnTo>
                  <a:lnTo>
                    <a:pt x="1814" y="179"/>
                  </a:lnTo>
                  <a:close/>
                  <a:moveTo>
                    <a:pt x="2123" y="250"/>
                  </a:moveTo>
                  <a:lnTo>
                    <a:pt x="1996" y="621"/>
                  </a:lnTo>
                  <a:lnTo>
                    <a:pt x="1754" y="621"/>
                  </a:lnTo>
                  <a:lnTo>
                    <a:pt x="1991" y="0"/>
                  </a:lnTo>
                  <a:lnTo>
                    <a:pt x="2024" y="0"/>
                  </a:lnTo>
                  <a:lnTo>
                    <a:pt x="2057" y="0"/>
                  </a:lnTo>
                  <a:lnTo>
                    <a:pt x="2090" y="0"/>
                  </a:lnTo>
                  <a:lnTo>
                    <a:pt x="2123" y="0"/>
                  </a:lnTo>
                  <a:lnTo>
                    <a:pt x="2155" y="0"/>
                  </a:lnTo>
                  <a:lnTo>
                    <a:pt x="2188" y="0"/>
                  </a:lnTo>
                  <a:lnTo>
                    <a:pt x="2220" y="0"/>
                  </a:lnTo>
                  <a:lnTo>
                    <a:pt x="2253" y="0"/>
                  </a:lnTo>
                  <a:lnTo>
                    <a:pt x="2491" y="621"/>
                  </a:lnTo>
                  <a:lnTo>
                    <a:pt x="2248" y="621"/>
                  </a:lnTo>
                  <a:lnTo>
                    <a:pt x="2123" y="250"/>
                  </a:lnTo>
                  <a:close/>
                </a:path>
              </a:pathLst>
            </a:custGeom>
            <a:grpFill/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668670F2-7724-4893-BD64-87026E2026B0}"/>
              </a:ext>
            </a:extLst>
          </p:cNvPr>
          <p:cNvSpPr/>
          <p:nvPr userDrawn="1"/>
        </p:nvSpPr>
        <p:spPr>
          <a:xfrm>
            <a:off x="1" y="6350000"/>
            <a:ext cx="2628900" cy="4846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423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3pPr>
              <a:defRPr/>
            </a:lvl3pPr>
            <a:lvl4pPr>
              <a:defRPr sz="16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80CF15-54C5-04AE-9380-DD1162E85771}"/>
              </a:ext>
            </a:extLst>
          </p:cNvPr>
          <p:cNvSpPr txBox="1"/>
          <p:nvPr userDrawn="1"/>
        </p:nvSpPr>
        <p:spPr>
          <a:xfrm>
            <a:off x="6096000" y="654396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TCS – IHCL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68858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190501" y="924945"/>
            <a:ext cx="11866033" cy="482271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C87218-85A3-20FE-7615-A637E17CD536}"/>
              </a:ext>
            </a:extLst>
          </p:cNvPr>
          <p:cNvSpPr txBox="1"/>
          <p:nvPr userDrawn="1"/>
        </p:nvSpPr>
        <p:spPr>
          <a:xfrm>
            <a:off x="5976732" y="6599583"/>
            <a:ext cx="1855304" cy="11453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US" sz="1067" dirty="0">
                <a:solidFill>
                  <a:schemeClr val="bg1">
                    <a:lumMod val="50000"/>
                  </a:schemeClr>
                </a:solidFill>
              </a:rPr>
              <a:t>TCS – IHCL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81626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ADBEFC-FA18-4CB3-8943-7B03BFC04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8" y="1"/>
            <a:ext cx="10514927" cy="7373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30D6D-B7EA-4150-94B2-C963D98EB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1554" y="1119911"/>
            <a:ext cx="11430316" cy="435071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marL="228584" lvl="0" indent="-228584">
              <a:buClr>
                <a:srgbClr val="F03782"/>
              </a:buClr>
            </a:pPr>
            <a:r>
              <a:rPr lang="en-US" dirty="0"/>
              <a:t>Click to edit Master text styles</a:t>
            </a:r>
          </a:p>
          <a:p>
            <a:pPr marL="505793" lvl="1" indent="-228584">
              <a:buClr>
                <a:srgbClr val="F03782"/>
              </a:buClr>
              <a:buFont typeface="Symbol" panose="05050102010706020507" pitchFamily="18" charset="2"/>
              <a:buChar char="-"/>
            </a:pPr>
            <a:r>
              <a:rPr lang="en-US" dirty="0"/>
              <a:t>Second level</a:t>
            </a:r>
          </a:p>
          <a:p>
            <a:pPr marL="782999" lvl="2" indent="-228584">
              <a:buClr>
                <a:srgbClr val="F03782"/>
              </a:buClr>
            </a:pPr>
            <a:r>
              <a:rPr lang="en-US" dirty="0"/>
              <a:t>Third level</a:t>
            </a:r>
          </a:p>
          <a:p>
            <a:pPr marL="1060208" lvl="3" indent="-228584">
              <a:buClr>
                <a:srgbClr val="F03782"/>
              </a:buClr>
              <a:buFont typeface="Courier New" panose="02070309020205020404" pitchFamily="49" charset="0"/>
              <a:buChar char="o"/>
            </a:pPr>
            <a:r>
              <a:rPr lang="en-US" dirty="0"/>
              <a:t>Fourth level</a:t>
            </a:r>
          </a:p>
          <a:p>
            <a:pPr marL="1337417" lvl="4" indent="-228584">
              <a:buClr>
                <a:srgbClr val="F03782"/>
              </a:buClr>
            </a:pPr>
            <a:r>
              <a:rPr lang="en-US" dirty="0"/>
              <a:t>Fifth level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62E987-DCEA-4D36-A8D6-3A4C817A4EDF}"/>
              </a:ext>
            </a:extLst>
          </p:cNvPr>
          <p:cNvCxnSpPr/>
          <p:nvPr userDrawn="1"/>
        </p:nvCxnSpPr>
        <p:spPr>
          <a:xfrm>
            <a:off x="6086669" y="6590128"/>
            <a:ext cx="0" cy="169560"/>
          </a:xfrm>
          <a:prstGeom prst="line">
            <a:avLst/>
          </a:prstGeom>
          <a:ln>
            <a:solidFill>
              <a:srgbClr val="808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6AC0F397-9BF6-4594-946F-74C8A8FA01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08699" y="6590128"/>
            <a:ext cx="2501900" cy="169560"/>
          </a:xfrm>
          <a:prstGeom prst="rect">
            <a:avLst/>
          </a:prstGeom>
        </p:spPr>
        <p:txBody>
          <a:bodyPr vert="horz" lIns="64008" tIns="45720" rIns="91440" bIns="45720" rtlCol="0" anchor="ctr"/>
          <a:lstStyle>
            <a:lvl1pPr>
              <a:defRPr lang="en-US" sz="9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IN" dirty="0"/>
              <a:t>TCS – IHCL Confidential</a:t>
            </a:r>
            <a:endParaRPr lang="en-US" dirty="0"/>
          </a:p>
        </p:txBody>
      </p:sp>
      <p:sp>
        <p:nvSpPr>
          <p:cNvPr id="28" name="Rectangle 71">
            <a:extLst>
              <a:ext uri="{FF2B5EF4-FFF2-40B4-BE49-F238E27FC236}">
                <a16:creationId xmlns:a16="http://schemas.microsoft.com/office/drawing/2014/main" id="{D6FF4C5E-6B0C-4334-B3AE-3C2ABAF43B4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732464" y="6590128"/>
            <a:ext cx="400784" cy="16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chemeClr val="bg1">
                    <a:lumMod val="50000"/>
                  </a:schemeClr>
                </a:solidFill>
                <a:latin typeface="+mj-lt"/>
                <a:cs typeface="Arial" pitchFamily="34" charset="0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lvl="0"/>
            <a:fld id="{13B55AB4-0D57-4FBE-946B-A81E4A9D2A4C}" type="slidenum">
              <a:rPr lang="en-US" sz="933" noProof="0" smtClean="0"/>
              <a:pPr lvl="0"/>
              <a:t>‹#›</a:t>
            </a:fld>
            <a:r>
              <a:rPr lang="en-US" sz="933" noProof="0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B6FADE-9B8F-4183-95D8-36CAA23AE3F3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1555" y="6323286"/>
            <a:ext cx="1376775" cy="38028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17863AE-169A-47E2-B872-D21C2177249F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29856" y="6599964"/>
            <a:ext cx="1092013" cy="138257"/>
          </a:xfrm>
          <a:prstGeom prst="rect">
            <a:avLst/>
          </a:prstGeom>
        </p:spPr>
      </p:pic>
      <p:pic>
        <p:nvPicPr>
          <p:cNvPr id="4" name="Picture 3" descr="A blue and black logo&#10;&#10;Description automatically generated">
            <a:extLst>
              <a:ext uri="{FF2B5EF4-FFF2-40B4-BE49-F238E27FC236}">
                <a16:creationId xmlns:a16="http://schemas.microsoft.com/office/drawing/2014/main" id="{76127AB3-8CE8-E0F8-ED2F-C48FDBEAE0A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5847" y="119780"/>
            <a:ext cx="1600031" cy="552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404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sldNum="0" hdr="0" dt="0"/>
  <p:txStyles>
    <p:titleStyle>
      <a:lvl1pPr algn="l" defTabSz="1219110" rtl="0" eaLnBrk="1" latinLnBrk="0" hangingPunct="1">
        <a:lnSpc>
          <a:spcPct val="90000"/>
        </a:lnSpc>
        <a:spcBef>
          <a:spcPct val="0"/>
        </a:spcBef>
        <a:buNone/>
        <a:defRPr lang="en-US" sz="2800" b="0" kern="0" baseline="0" dirty="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304776" indent="-304776" algn="l" defTabSz="121911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lang="en-US" sz="1600" kern="120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914332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lang="en-US" sz="16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523887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lang="en-US" sz="16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133440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lang="en-US" sz="16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742994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lang="en-US" sz="16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352548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orient="horz" pos="64">
          <p15:clr>
            <a:srgbClr val="F26B43"/>
          </p15:clr>
        </p15:guide>
        <p15:guide id="4" orient="horz" pos="418">
          <p15:clr>
            <a:srgbClr val="F26B43"/>
          </p15:clr>
        </p15:guide>
        <p15:guide id="5" orient="horz" pos="529">
          <p15:clr>
            <a:srgbClr val="F26B43"/>
          </p15:clr>
        </p15:guide>
        <p15:guide id="6" orient="horz" pos="2957">
          <p15:clr>
            <a:srgbClr val="F26B43"/>
          </p15:clr>
        </p15:guide>
        <p15:guide id="8" pos="5585">
          <p15:clr>
            <a:srgbClr val="F26B43"/>
          </p15:clr>
        </p15:guide>
        <p15:guide id="9" pos="183">
          <p15:clr>
            <a:srgbClr val="F26B43"/>
          </p15:clr>
        </p15:guide>
        <p15:guide id="10" orient="horz" pos="3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ctr" defTabSz="121917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solidFill>
                  <a:srgbClr val="000000">
                    <a:tint val="75000"/>
                  </a:srgbClr>
                </a:solidFill>
                <a:latin typeface="Calibri"/>
              </a:rPr>
              <a:t>IHCL - TCS Confidential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121917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22F54D-F3A7-4F4F-A21B-9B404085F82F}" type="slidenum">
              <a:rPr lang="en-IN">
                <a:solidFill>
                  <a:srgbClr val="000000">
                    <a:tint val="75000"/>
                  </a:srgbClr>
                </a:solidFill>
                <a:latin typeface="Calibri"/>
              </a:rPr>
              <a:pPr/>
              <a:t>1</a:t>
            </a:fld>
            <a:endParaRPr lang="en-IN">
              <a:solidFill>
                <a:srgbClr val="000000">
                  <a:tint val="75000"/>
                </a:srgbClr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1597" y="184729"/>
            <a:ext cx="7410427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10">
              <a:lnSpc>
                <a:spcPct val="9000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Calibri"/>
              </a:rPr>
              <a:t>Applications to be integrated with IHCL SAP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5305" y="2037030"/>
            <a:ext cx="184731" cy="2183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54047"/>
            <a:endParaRPr lang="en-US" sz="819" dirty="0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0" y="948117"/>
          <a:ext cx="12192002" cy="5377692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381215491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9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76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07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68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44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271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Sl.No</a:t>
                      </a:r>
                    </a:p>
                  </a:txBody>
                  <a:tcPr marL="5492" marR="5492" marT="5492" marB="0" anchor="ctr">
                    <a:lnL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Source Application </a:t>
                      </a:r>
                    </a:p>
                  </a:txBody>
                  <a:tcPr marL="5492" marR="5492"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Partner - Source Application</a:t>
                      </a:r>
                    </a:p>
                  </a:txBody>
                  <a:tcPr marL="5492" marR="5492"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Partner Functional SPOC - Source Application</a:t>
                      </a:r>
                    </a:p>
                  </a:txBody>
                  <a:tcPr marL="5492" marR="5492"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5492" marR="5492"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Target Application</a:t>
                      </a:r>
                    </a:p>
                  </a:txBody>
                  <a:tcPr marL="5492" marR="5492"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Partner - Target Application</a:t>
                      </a:r>
                    </a:p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Functional SPOC</a:t>
                      </a:r>
                    </a:p>
                  </a:txBody>
                  <a:tcPr marL="5492" marR="5492"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Middleware</a:t>
                      </a:r>
                    </a:p>
                  </a:txBody>
                  <a:tcPr marL="5492" marR="5492"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6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marT="5492" marB="0" anchor="ctr">
                    <a:lnL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Concur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SAP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Expenses &amp; imprest management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S/4HANA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TCS Finance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CPI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8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marT="5492" marB="0" anchor="ctr">
                    <a:lnL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SuccessFactors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Deloitte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HRMS application ( Employee Master )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S/4HANA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TCS Finance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CPI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24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 marT="5492" marB="0" anchor="ctr">
                    <a:lnL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SAP DCS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SAP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E-invoicing, GST reconciliation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S/4HANA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TCS Finance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CPI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6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 marT="5492" marB="0" anchor="ctr">
                    <a:lnL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SAP DCS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SAP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TDS returns and reconciliation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S/4HANA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TCS Finance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CPI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924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5</a:t>
                      </a:r>
                    </a:p>
                  </a:txBody>
                  <a:tcPr marT="5492" marB="0" anchor="ctr">
                    <a:lnL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Ariba - Sourcing &amp; SLP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SAP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For Sourcing - RFP/RFQ management and e-auctioning, Onboarding of Vendor 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S/4HANA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TCS S2P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CIG / CPI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88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6</a:t>
                      </a:r>
                    </a:p>
                  </a:txBody>
                  <a:tcPr marT="5492" marB="0" anchor="ctr">
                    <a:lnL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Ariba - Sourcing &amp; SLP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SAP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For Sourcing - RFP/RFQ management and e-auctioning, Onboarding of Vendor 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S/4HANA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TCS S2P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CIG / CPI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25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7</a:t>
                      </a:r>
                    </a:p>
                  </a:txBody>
                  <a:tcPr marT="5492" marB="0" anchor="ctr">
                    <a:lnL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Opera PMS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SAP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Billing Data on settlement For e-invoice generation &amp; settlement accounting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S/4HANA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TCS Finance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CPI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924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8</a:t>
                      </a:r>
                    </a:p>
                  </a:txBody>
                  <a:tcPr marT="5492" marB="0" anchor="ctr">
                    <a:lnL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POS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SAP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Line level unbilled revenue, revenue data(along with market segment) will be sent from POS outlet, Banquets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S/4HANA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TCS Finance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CPI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229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9</a:t>
                      </a:r>
                    </a:p>
                  </a:txBody>
                  <a:tcPr marT="5492" marB="0" anchor="ctr">
                    <a:lnL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CDM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SAP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To sync CDM master with SAP Customer master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S/4HANA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TCS Finance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CPI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1229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10</a:t>
                      </a:r>
                    </a:p>
                  </a:txBody>
                  <a:tcPr marT="5492" marB="0" anchor="ctr">
                    <a:lnL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HGS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SAP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Payroll JV File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S/4HANA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TCS Finance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CPI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043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5894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ctr" defTabSz="121917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solidFill>
                  <a:srgbClr val="000000">
                    <a:tint val="75000"/>
                  </a:srgbClr>
                </a:solidFill>
                <a:latin typeface="Calibri"/>
              </a:rPr>
              <a:t>IHCL - TCS Confidential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121917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22F54D-F3A7-4F4F-A21B-9B404085F82F}" type="slidenum">
              <a:rPr lang="en-IN">
                <a:solidFill>
                  <a:srgbClr val="000000">
                    <a:tint val="75000"/>
                  </a:srgbClr>
                </a:solidFill>
                <a:latin typeface="Calibri"/>
              </a:rPr>
              <a:pPr/>
              <a:t>2</a:t>
            </a:fld>
            <a:endParaRPr lang="en-IN">
              <a:solidFill>
                <a:srgbClr val="000000">
                  <a:tint val="75000"/>
                </a:srgbClr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1597" y="184729"/>
            <a:ext cx="7410427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10">
              <a:lnSpc>
                <a:spcPct val="9000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Calibri"/>
              </a:rPr>
              <a:t>Applications to be integrated with IHCL SAP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5305" y="2037030"/>
            <a:ext cx="184731" cy="2183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54047"/>
            <a:endParaRPr lang="en-US" sz="819" dirty="0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0" y="851012"/>
          <a:ext cx="12192003" cy="5820816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381215491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9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68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44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886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Sl.No</a:t>
                      </a:r>
                    </a:p>
                  </a:txBody>
                  <a:tcPr marL="5492" marR="5492" marT="5492" marB="0" anchor="ctr">
                    <a:lnL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Source Application </a:t>
                      </a:r>
                    </a:p>
                  </a:txBody>
                  <a:tcPr marL="5492" marR="5492"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Partner - Source Application</a:t>
                      </a:r>
                    </a:p>
                  </a:txBody>
                  <a:tcPr marL="5492" marR="5492"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Partner Functional SPOC - Source Application</a:t>
                      </a:r>
                    </a:p>
                  </a:txBody>
                  <a:tcPr marL="5492" marR="5492"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5492" marR="5492"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Target Application</a:t>
                      </a:r>
                    </a:p>
                  </a:txBody>
                  <a:tcPr marL="5492" marR="5492"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Partner - Target Application</a:t>
                      </a:r>
                    </a:p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Functional SPOC</a:t>
                      </a:r>
                    </a:p>
                  </a:txBody>
                  <a:tcPr marL="5492" marR="5492"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Middleware</a:t>
                      </a:r>
                    </a:p>
                  </a:txBody>
                  <a:tcPr marL="5492" marR="5492"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1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11</a:t>
                      </a:r>
                    </a:p>
                  </a:txBody>
                  <a:tcPr marT="5492" marB="0" anchor="ctr">
                    <a:lnL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Epicure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IHCL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Update points data from Epicure source system to SAP S/4 HANA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S/4HANA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TCS Finance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CPI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8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12</a:t>
                      </a:r>
                    </a:p>
                  </a:txBody>
                  <a:tcPr marT="5492" marB="0" anchor="ctr">
                    <a:lnL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Loyalty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IHCL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Update points data from Epicure source system to SAP S/4 HANA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S/4HANA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TCS Finance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CPI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24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13</a:t>
                      </a:r>
                    </a:p>
                  </a:txBody>
                  <a:tcPr marT="5492" marB="0" anchor="ctr">
                    <a:lnL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Pearl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SAP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PO Data for IHCL is created and sent to Pearl.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S/4HANA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TCS Finance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CPI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40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14</a:t>
                      </a:r>
                    </a:p>
                  </a:txBody>
                  <a:tcPr marT="5492" marB="0" anchor="ctr">
                    <a:lnL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Data Lake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SAP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Control Centre Analysis data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S/4HANA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TCS Finance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CPI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19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15</a:t>
                      </a:r>
                    </a:p>
                  </a:txBody>
                  <a:tcPr marT="5492" marB="0" anchor="ctr">
                    <a:lnL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Hyperion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SAP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Integrating trial balance data from units to HFMGL  on monthly basis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S/4HANA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TCS S2P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CIG / CPI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69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16</a:t>
                      </a:r>
                    </a:p>
                  </a:txBody>
                  <a:tcPr marT="5492" marB="0" anchor="ctr">
                    <a:lnL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Anaplan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SAP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Related Party  Transactions Data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S/4HANA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TCS S2P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CIG / CPI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2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17</a:t>
                      </a:r>
                    </a:p>
                  </a:txBody>
                  <a:tcPr marT="5492" marB="0" anchor="ctr">
                    <a:lnL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HDFC Host to Host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IHCL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Finance - Banks - Interface with HDFC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S/4HANA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TCS Finance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CPI / Standard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924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18</a:t>
                      </a:r>
                    </a:p>
                  </a:txBody>
                  <a:tcPr marT="5492" marB="0" anchor="ctr">
                    <a:lnL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HSBC Host to Host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IHCL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Finance - Banks - Interface with HSBC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S/4HANA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TCS Finance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CPI / Standard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229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19</a:t>
                      </a:r>
                    </a:p>
                  </a:txBody>
                  <a:tcPr marT="5492" marB="0" anchor="ctr">
                    <a:lnL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Kotak Host to Host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IHCL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Finance - Banks - Interface with Kotak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S/4HANA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TCS Finance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CPI / Standard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1229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20</a:t>
                      </a:r>
                    </a:p>
                  </a:txBody>
                  <a:tcPr marT="5492" marB="0" anchor="ctr">
                    <a:lnL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Axis Host to Host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IHCL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Finance - Banks - Interface with Axis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S/4HANA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TCS Finance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CPI / Standard</a:t>
                      </a:r>
                    </a:p>
                  </a:txBody>
                  <a:tcPr marT="5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04316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DA653B17-F9B2-7B67-A416-402B58A30900}"/>
              </a:ext>
            </a:extLst>
          </p:cNvPr>
          <p:cNvSpPr/>
          <p:nvPr/>
        </p:nvSpPr>
        <p:spPr bwMode="gray">
          <a:xfrm>
            <a:off x="9197473" y="5119962"/>
            <a:ext cx="2775480" cy="12040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3">
                <a:lumMod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algn="ctr" defTabSz="685750">
              <a:defRPr/>
            </a:pPr>
            <a:endParaRPr lang="en-US" sz="1400" kern="0" dirty="0">
              <a:solidFill>
                <a:prstClr val="white"/>
              </a:solidFill>
              <a:latin typeface="Myriad Pro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868DC02-576B-447D-5A12-2D9F43D1DDD7}"/>
              </a:ext>
            </a:extLst>
          </p:cNvPr>
          <p:cNvSpPr/>
          <p:nvPr/>
        </p:nvSpPr>
        <p:spPr>
          <a:xfrm>
            <a:off x="651500" y="4531828"/>
            <a:ext cx="1404035" cy="1644253"/>
          </a:xfrm>
          <a:prstGeom prst="roundRect">
            <a:avLst/>
          </a:prstGeom>
          <a:solidFill>
            <a:srgbClr val="0063BE">
              <a:lumMod val="40000"/>
              <a:lumOff val="60000"/>
              <a:alpha val="32000"/>
            </a:srgbClr>
          </a:solidFill>
          <a:ln w="9525" cap="flat" cmpd="sng" algn="ctr">
            <a:solidFill>
              <a:srgbClr val="0063BE"/>
            </a:solidFill>
            <a:prstDash val="solid"/>
          </a:ln>
          <a:effectLst/>
        </p:spPr>
        <p:txBody>
          <a:bodyPr tIns="0" rtlCol="0" anchor="t"/>
          <a:lstStyle/>
          <a:p>
            <a:pPr algn="ctr" defTabSz="914354"/>
            <a:endParaRPr lang="en-US" sz="1100" b="1" kern="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B42FE1C-79BC-1D02-4D62-C39498959F98}"/>
              </a:ext>
            </a:extLst>
          </p:cNvPr>
          <p:cNvSpPr txBox="1">
            <a:spLocks/>
          </p:cNvSpPr>
          <p:nvPr/>
        </p:nvSpPr>
        <p:spPr>
          <a:xfrm>
            <a:off x="102783" y="-30189"/>
            <a:ext cx="11068493" cy="49606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eaLnBrk="1" hangingPunct="1">
              <a:defRPr lang="en-US" sz="2800" b="0" kern="0" baseline="0">
                <a:solidFill>
                  <a:srgbClr val="4D2F9E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554047"/>
            <a:r>
              <a:rPr lang="en-US" sz="3200" dirty="0">
                <a:solidFill>
                  <a:srgbClr val="002060"/>
                </a:solidFill>
                <a:latin typeface="Calibri" panose="020F0502020204030204"/>
              </a:rPr>
              <a:t>SAP System Landscape – Proposed Architecture </a:t>
            </a:r>
            <a:endParaRPr lang="en-US" b="1" dirty="0">
              <a:latin typeface="Calibri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057A005-0364-D834-206F-1DD8D90737B3}"/>
              </a:ext>
            </a:extLst>
          </p:cNvPr>
          <p:cNvSpPr/>
          <p:nvPr/>
        </p:nvSpPr>
        <p:spPr bwMode="gray">
          <a:xfrm>
            <a:off x="9181764" y="1292927"/>
            <a:ext cx="2775480" cy="36799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3">
                <a:lumMod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algn="ctr" defTabSz="685750">
              <a:defRPr/>
            </a:pPr>
            <a:endParaRPr lang="en-US" sz="1400" kern="0" dirty="0">
              <a:solidFill>
                <a:prstClr val="white"/>
              </a:solidFill>
              <a:latin typeface="Myriad Pro"/>
            </a:endParaRPr>
          </a:p>
        </p:txBody>
      </p:sp>
      <p:sp>
        <p:nvSpPr>
          <p:cNvPr id="4" name="Rounded Rectangle 5">
            <a:extLst>
              <a:ext uri="{FF2B5EF4-FFF2-40B4-BE49-F238E27FC236}">
                <a16:creationId xmlns:a16="http://schemas.microsoft.com/office/drawing/2014/main" id="{E201C99A-E8AA-3B3F-C43A-175234CA3D2F}"/>
              </a:ext>
            </a:extLst>
          </p:cNvPr>
          <p:cNvSpPr/>
          <p:nvPr/>
        </p:nvSpPr>
        <p:spPr>
          <a:xfrm>
            <a:off x="3231931" y="2738748"/>
            <a:ext cx="4766064" cy="1909888"/>
          </a:xfrm>
          <a:prstGeom prst="rect">
            <a:avLst/>
          </a:prstGeom>
          <a:solidFill>
            <a:srgbClr val="7FC2FF">
              <a:alpha val="31765"/>
            </a:srgbClr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tIns="0" rtlCol="0" anchor="t"/>
          <a:lstStyle/>
          <a:p>
            <a:pPr algn="ctr" defTabSz="914354">
              <a:defRPr/>
            </a:pPr>
            <a:r>
              <a:rPr lang="en-US" sz="1333" b="1" kern="0" dirty="0">
                <a:solidFill>
                  <a:srgbClr val="000000"/>
                </a:solidFill>
                <a:latin typeface="Calibri" panose="020F0502020204030204"/>
              </a:rPr>
              <a:t>SAP S/4HANA 2023</a:t>
            </a:r>
          </a:p>
        </p:txBody>
      </p:sp>
      <p:sp>
        <p:nvSpPr>
          <p:cNvPr id="6" name="Rounded Rectangle 53">
            <a:extLst>
              <a:ext uri="{FF2B5EF4-FFF2-40B4-BE49-F238E27FC236}">
                <a16:creationId xmlns:a16="http://schemas.microsoft.com/office/drawing/2014/main" id="{61115E72-C91F-6109-2D22-905CB99036A6}"/>
              </a:ext>
            </a:extLst>
          </p:cNvPr>
          <p:cNvSpPr/>
          <p:nvPr/>
        </p:nvSpPr>
        <p:spPr>
          <a:xfrm>
            <a:off x="640803" y="3348656"/>
            <a:ext cx="1392475" cy="446032"/>
          </a:xfrm>
          <a:prstGeom prst="roundRect">
            <a:avLst/>
          </a:prstGeom>
          <a:solidFill>
            <a:srgbClr val="0063BE">
              <a:lumMod val="40000"/>
              <a:lumOff val="60000"/>
              <a:alpha val="32000"/>
            </a:srgbClr>
          </a:solidFill>
          <a:ln w="9525" cap="flat" cmpd="sng" algn="ctr">
            <a:solidFill>
              <a:srgbClr val="0063BE"/>
            </a:solidFill>
            <a:prstDash val="solid"/>
          </a:ln>
          <a:effectLst/>
        </p:spPr>
        <p:txBody>
          <a:bodyPr tIns="0" rtlCol="0" anchor="t"/>
          <a:lstStyle/>
          <a:p>
            <a:pPr algn="ctr" defTabSz="914354">
              <a:defRPr/>
            </a:pPr>
            <a:r>
              <a:rPr lang="en-US" sz="1100" b="1" kern="0" dirty="0">
                <a:solidFill>
                  <a:srgbClr val="000000"/>
                </a:solidFill>
                <a:latin typeface="Calibri" panose="020F0502020204030204"/>
              </a:rPr>
              <a:t>SAP Open Text</a:t>
            </a:r>
          </a:p>
          <a:p>
            <a:pPr algn="ctr" defTabSz="914354">
              <a:defRPr/>
            </a:pPr>
            <a:r>
              <a:rPr lang="en-US" sz="1100" b="1" kern="0" dirty="0">
                <a:solidFill>
                  <a:srgbClr val="000000"/>
                </a:solidFill>
                <a:latin typeface="Calibri" panose="020F0502020204030204"/>
              </a:rPr>
              <a:t>ADA</a:t>
            </a:r>
          </a:p>
        </p:txBody>
      </p:sp>
      <p:sp>
        <p:nvSpPr>
          <p:cNvPr id="7" name="Flowchart: Magnetic Disk 6">
            <a:extLst>
              <a:ext uri="{FF2B5EF4-FFF2-40B4-BE49-F238E27FC236}">
                <a16:creationId xmlns:a16="http://schemas.microsoft.com/office/drawing/2014/main" id="{658E3381-356B-CD44-8162-6C6ACF73AC48}"/>
              </a:ext>
            </a:extLst>
          </p:cNvPr>
          <p:cNvSpPr/>
          <p:nvPr/>
        </p:nvSpPr>
        <p:spPr>
          <a:xfrm>
            <a:off x="1347739" y="3698359"/>
            <a:ext cx="645347" cy="353568"/>
          </a:xfrm>
          <a:prstGeom prst="flowChartMagneticDisk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309"/>
            <a:r>
              <a:rPr lang="en-US" sz="1000" b="1" dirty="0">
                <a:solidFill>
                  <a:prstClr val="white"/>
                </a:solidFill>
                <a:latin typeface="Calibri"/>
              </a:rPr>
              <a:t>HANA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19F9ECC-C2C8-9CF3-6317-76476E2D7B15}"/>
              </a:ext>
            </a:extLst>
          </p:cNvPr>
          <p:cNvSpPr/>
          <p:nvPr/>
        </p:nvSpPr>
        <p:spPr>
          <a:xfrm>
            <a:off x="3378944" y="3014873"/>
            <a:ext cx="4398389" cy="228467"/>
          </a:xfrm>
          <a:prstGeom prst="roundRect">
            <a:avLst/>
          </a:prstGeom>
          <a:solidFill>
            <a:srgbClr val="B9AFA4">
              <a:lumMod val="75000"/>
              <a:alpha val="32000"/>
            </a:srgbClr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tIns="0" rtlCol="0" anchor="t"/>
          <a:lstStyle/>
          <a:p>
            <a:pPr algn="ctr" defTabSz="914354">
              <a:defRPr/>
            </a:pPr>
            <a:r>
              <a:rPr lang="en-US" sz="1067" b="1" kern="0" dirty="0">
                <a:solidFill>
                  <a:srgbClr val="000000"/>
                </a:solidFill>
                <a:latin typeface="Calibri" panose="020F0502020204030204"/>
              </a:rPr>
              <a:t>Embedded SAP Fiori front-end server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9249D43C-26C9-E659-E9BB-B124351DBABB}"/>
              </a:ext>
            </a:extLst>
          </p:cNvPr>
          <p:cNvGrpSpPr/>
          <p:nvPr/>
        </p:nvGrpSpPr>
        <p:grpSpPr>
          <a:xfrm>
            <a:off x="4719411" y="1254672"/>
            <a:ext cx="1697903" cy="491939"/>
            <a:chOff x="3623377" y="979528"/>
            <a:chExt cx="1273427" cy="36895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7F39CF6-9C2B-BA11-3740-5605DE88D6A2}"/>
                </a:ext>
              </a:extLst>
            </p:cNvPr>
            <p:cNvSpPr/>
            <p:nvPr/>
          </p:nvSpPr>
          <p:spPr>
            <a:xfrm>
              <a:off x="3623377" y="979528"/>
              <a:ext cx="1273427" cy="36895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018"/>
              <a:endParaRPr lang="en-US" sz="1051" b="1" dirty="0">
                <a:solidFill>
                  <a:prstClr val="white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1" name="Rounded Rectangle 22">
              <a:extLst>
                <a:ext uri="{FF2B5EF4-FFF2-40B4-BE49-F238E27FC236}">
                  <a16:creationId xmlns:a16="http://schemas.microsoft.com/office/drawing/2014/main" id="{8A316059-4E1E-35A7-29CD-136C8F2AB2F9}"/>
                </a:ext>
              </a:extLst>
            </p:cNvPr>
            <p:cNvSpPr/>
            <p:nvPr/>
          </p:nvSpPr>
          <p:spPr>
            <a:xfrm>
              <a:off x="3677978" y="1044149"/>
              <a:ext cx="1121205" cy="235458"/>
            </a:xfrm>
            <a:prstGeom prst="roundRect">
              <a:avLst/>
            </a:prstGeom>
            <a:solidFill>
              <a:srgbClr val="F03782"/>
            </a:solidFill>
            <a:ln w="9525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018"/>
              <a:r>
                <a:rPr lang="en-US" sz="1051" b="1" dirty="0">
                  <a:solidFill>
                    <a:prstClr val="white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SAP Fiori Client</a:t>
              </a: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066D4B7-B3DE-7704-52C3-0D19A6AA39C0}"/>
              </a:ext>
            </a:extLst>
          </p:cNvPr>
          <p:cNvSpPr/>
          <p:nvPr/>
        </p:nvSpPr>
        <p:spPr>
          <a:xfrm>
            <a:off x="4977297" y="829172"/>
            <a:ext cx="1115979" cy="4034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00" b="1" kern="0" dirty="0">
                <a:solidFill>
                  <a:srgbClr val="000000"/>
                </a:solidFill>
                <a:latin typeface="Myriad Pro"/>
                <a:cs typeface="Arial" pitchFamily="34" charset="0"/>
              </a:rPr>
              <a:t>SAP </a:t>
            </a:r>
          </a:p>
          <a:p>
            <a:pPr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00" b="1" kern="0" dirty="0">
                <a:solidFill>
                  <a:srgbClr val="000000"/>
                </a:solidFill>
                <a:latin typeface="Myriad Pro"/>
                <a:cs typeface="Arial" pitchFamily="34" charset="0"/>
              </a:rPr>
              <a:t>Fiori Use</a:t>
            </a:r>
            <a:r>
              <a:rPr lang="en-US" sz="800" b="1" kern="0" dirty="0">
                <a:solidFill>
                  <a:srgbClr val="000000"/>
                </a:solidFill>
                <a:latin typeface="Myriad Pro"/>
                <a:cs typeface="Arial" pitchFamily="34" charset="0"/>
              </a:rPr>
              <a:t>r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994EC9D-1720-410B-BA1B-1CF492F8D01F}"/>
              </a:ext>
            </a:extLst>
          </p:cNvPr>
          <p:cNvGrpSpPr/>
          <p:nvPr/>
        </p:nvGrpSpPr>
        <p:grpSpPr>
          <a:xfrm>
            <a:off x="5859645" y="894739"/>
            <a:ext cx="146403" cy="274576"/>
            <a:chOff x="7679201" y="2303511"/>
            <a:chExt cx="128425" cy="23992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DAD7F0C-781E-6F2C-2235-C114E69CEA7E}"/>
                </a:ext>
              </a:extLst>
            </p:cNvPr>
            <p:cNvSpPr/>
            <p:nvPr/>
          </p:nvSpPr>
          <p:spPr>
            <a:xfrm>
              <a:off x="7708230" y="2303511"/>
              <a:ext cx="64008" cy="64008"/>
            </a:xfrm>
            <a:prstGeom prst="ellips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35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b="1" kern="0" dirty="0">
                <a:solidFill>
                  <a:srgbClr val="000000"/>
                </a:solidFill>
                <a:latin typeface="Myriad Pro"/>
                <a:cs typeface="Arial" pitchFamily="34" charset="0"/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FDF0871-B571-23AF-25DB-EB2F0BEB2956}"/>
                </a:ext>
              </a:extLst>
            </p:cNvPr>
            <p:cNvCxnSpPr/>
            <p:nvPr/>
          </p:nvCxnSpPr>
          <p:spPr>
            <a:xfrm flipH="1">
              <a:off x="7739796" y="2373915"/>
              <a:ext cx="0" cy="109728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CE7F382-3A4A-2A71-B904-3EE9C039FC26}"/>
                </a:ext>
              </a:extLst>
            </p:cNvPr>
            <p:cNvCxnSpPr/>
            <p:nvPr/>
          </p:nvCxnSpPr>
          <p:spPr>
            <a:xfrm flipV="1">
              <a:off x="7684525" y="2473100"/>
              <a:ext cx="56355" cy="70332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46F8DAD-C82E-3D13-0559-8A5B932BC236}"/>
                </a:ext>
              </a:extLst>
            </p:cNvPr>
            <p:cNvCxnSpPr/>
            <p:nvPr/>
          </p:nvCxnSpPr>
          <p:spPr>
            <a:xfrm>
              <a:off x="7679201" y="2383538"/>
              <a:ext cx="64008" cy="4572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DABB9ED-BABF-1B5F-5521-DDE981962869}"/>
                </a:ext>
              </a:extLst>
            </p:cNvPr>
            <p:cNvCxnSpPr/>
            <p:nvPr/>
          </p:nvCxnSpPr>
          <p:spPr>
            <a:xfrm flipH="1">
              <a:off x="7743618" y="2380618"/>
              <a:ext cx="64008" cy="4572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6827FD6-A0FE-C8E7-D3DD-66D8A356041C}"/>
                </a:ext>
              </a:extLst>
            </p:cNvPr>
            <p:cNvCxnSpPr/>
            <p:nvPr/>
          </p:nvCxnSpPr>
          <p:spPr>
            <a:xfrm flipH="1" flipV="1">
              <a:off x="7737467" y="2473099"/>
              <a:ext cx="67830" cy="70333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</a:ln>
            <a:effectLst/>
          </p:spPr>
        </p:cxn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70D4609-ED18-4743-3FB1-D49E00A48BF3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5567768" y="1746611"/>
            <a:ext cx="592" cy="126277"/>
          </a:xfrm>
          <a:prstGeom prst="line">
            <a:avLst/>
          </a:prstGeom>
          <a:noFill/>
          <a:ln w="9525" cap="flat" cmpd="sng" algn="ctr">
            <a:solidFill>
              <a:srgbClr val="0063BE">
                <a:shade val="95000"/>
                <a:satMod val="105000"/>
              </a:srgbClr>
            </a:solidFill>
            <a:prstDash val="solid"/>
          </a:ln>
          <a:effectLst/>
        </p:spPr>
      </p:cxnSp>
      <p:grpSp>
        <p:nvGrpSpPr>
          <p:cNvPr id="97" name="Group 96">
            <a:extLst>
              <a:ext uri="{FF2B5EF4-FFF2-40B4-BE49-F238E27FC236}">
                <a16:creationId xmlns:a16="http://schemas.microsoft.com/office/drawing/2014/main" id="{3A811691-F045-DB22-0C19-43D8AE1C78A1}"/>
              </a:ext>
            </a:extLst>
          </p:cNvPr>
          <p:cNvGrpSpPr/>
          <p:nvPr/>
        </p:nvGrpSpPr>
        <p:grpSpPr>
          <a:xfrm>
            <a:off x="2517837" y="1248226"/>
            <a:ext cx="1739207" cy="504799"/>
            <a:chOff x="1972196" y="974693"/>
            <a:chExt cx="1304405" cy="37859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CD8FC6B-534A-70B6-A151-8B8A5D5AA024}"/>
                </a:ext>
              </a:extLst>
            </p:cNvPr>
            <p:cNvSpPr/>
            <p:nvPr/>
          </p:nvSpPr>
          <p:spPr>
            <a:xfrm>
              <a:off x="1972196" y="974693"/>
              <a:ext cx="1304405" cy="37859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018"/>
              <a:endParaRPr lang="en-US" sz="1051" b="1" dirty="0">
                <a:solidFill>
                  <a:prstClr val="white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2" name="Rounded Rectangle 83">
              <a:extLst>
                <a:ext uri="{FF2B5EF4-FFF2-40B4-BE49-F238E27FC236}">
                  <a16:creationId xmlns:a16="http://schemas.microsoft.com/office/drawing/2014/main" id="{7B84DF5E-38C8-2A88-C497-5120FE4ACD69}"/>
                </a:ext>
              </a:extLst>
            </p:cNvPr>
            <p:cNvSpPr/>
            <p:nvPr/>
          </p:nvSpPr>
          <p:spPr>
            <a:xfrm>
              <a:off x="2082241" y="1040381"/>
              <a:ext cx="1094275" cy="235458"/>
            </a:xfrm>
            <a:prstGeom prst="roundRect">
              <a:avLst/>
            </a:prstGeom>
            <a:solidFill>
              <a:srgbClr val="F03782"/>
            </a:solidFill>
            <a:ln w="9525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018"/>
              <a:r>
                <a:rPr lang="en-US" sz="1051" b="1" dirty="0">
                  <a:solidFill>
                    <a:prstClr val="white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SAP GUI Client</a:t>
              </a: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E04EDE8A-1ED9-9281-A961-055F94947E32}"/>
              </a:ext>
            </a:extLst>
          </p:cNvPr>
          <p:cNvSpPr/>
          <p:nvPr/>
        </p:nvSpPr>
        <p:spPr>
          <a:xfrm>
            <a:off x="2777293" y="837922"/>
            <a:ext cx="1115979" cy="3759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00" b="1" kern="0" dirty="0">
                <a:solidFill>
                  <a:srgbClr val="000000"/>
                </a:solidFill>
                <a:latin typeface="Myriad Pro"/>
                <a:cs typeface="Arial" pitchFamily="34" charset="0"/>
              </a:rPr>
              <a:t>SAP </a:t>
            </a:r>
          </a:p>
          <a:p>
            <a:pPr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00" b="1" kern="0" dirty="0">
                <a:solidFill>
                  <a:srgbClr val="000000"/>
                </a:solidFill>
                <a:latin typeface="Myriad Pro"/>
                <a:cs typeface="Arial" pitchFamily="34" charset="0"/>
              </a:rPr>
              <a:t>GUI User</a:t>
            </a:r>
            <a:endParaRPr lang="en-US" sz="800" b="1" kern="0" dirty="0">
              <a:solidFill>
                <a:srgbClr val="000000"/>
              </a:solidFill>
              <a:latin typeface="Myriad Pro"/>
              <a:cs typeface="Arial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64FC365-8277-CDEE-9D72-862CF4CAF347}"/>
              </a:ext>
            </a:extLst>
          </p:cNvPr>
          <p:cNvGrpSpPr/>
          <p:nvPr/>
        </p:nvGrpSpPr>
        <p:grpSpPr>
          <a:xfrm>
            <a:off x="3685345" y="876321"/>
            <a:ext cx="146403" cy="274576"/>
            <a:chOff x="7679201" y="2303511"/>
            <a:chExt cx="128425" cy="239921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3282B7D-9369-7199-A660-2A8091D2C27C}"/>
                </a:ext>
              </a:extLst>
            </p:cNvPr>
            <p:cNvSpPr/>
            <p:nvPr/>
          </p:nvSpPr>
          <p:spPr>
            <a:xfrm>
              <a:off x="7708230" y="2303511"/>
              <a:ext cx="64008" cy="64008"/>
            </a:xfrm>
            <a:prstGeom prst="ellips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35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b="1" kern="0" dirty="0">
                <a:solidFill>
                  <a:srgbClr val="000000"/>
                </a:solidFill>
                <a:latin typeface="Myriad Pro"/>
                <a:cs typeface="Arial" pitchFamily="34" charset="0"/>
              </a:endParaRP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22D6F1B-0F97-6C5A-1266-AB7E5920B8DB}"/>
                </a:ext>
              </a:extLst>
            </p:cNvPr>
            <p:cNvCxnSpPr/>
            <p:nvPr/>
          </p:nvCxnSpPr>
          <p:spPr>
            <a:xfrm flipH="1">
              <a:off x="7739796" y="2373915"/>
              <a:ext cx="0" cy="109728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E2FE446-7E12-BC05-FB18-2DBF37B1AABD}"/>
                </a:ext>
              </a:extLst>
            </p:cNvPr>
            <p:cNvCxnSpPr/>
            <p:nvPr/>
          </p:nvCxnSpPr>
          <p:spPr>
            <a:xfrm flipV="1">
              <a:off x="7684525" y="2473100"/>
              <a:ext cx="56355" cy="70332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EAED05C-F4C0-A254-4328-75EA2C73ED02}"/>
                </a:ext>
              </a:extLst>
            </p:cNvPr>
            <p:cNvCxnSpPr/>
            <p:nvPr/>
          </p:nvCxnSpPr>
          <p:spPr>
            <a:xfrm>
              <a:off x="7679201" y="2383538"/>
              <a:ext cx="64008" cy="4572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0B2F97-6C29-4FF8-9469-BA4CD4E00867}"/>
                </a:ext>
              </a:extLst>
            </p:cNvPr>
            <p:cNvCxnSpPr/>
            <p:nvPr/>
          </p:nvCxnSpPr>
          <p:spPr>
            <a:xfrm flipH="1">
              <a:off x="7743618" y="2380618"/>
              <a:ext cx="64008" cy="4572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2A34C54-0932-3EAE-550A-2E4FC8EA5F52}"/>
                </a:ext>
              </a:extLst>
            </p:cNvPr>
            <p:cNvCxnSpPr/>
            <p:nvPr/>
          </p:nvCxnSpPr>
          <p:spPr>
            <a:xfrm flipH="1" flipV="1">
              <a:off x="7737467" y="2473099"/>
              <a:ext cx="67830" cy="70333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</a:ln>
            <a:effectLst/>
          </p:spPr>
        </p:cxnSp>
      </p:grpSp>
      <p:sp>
        <p:nvSpPr>
          <p:cNvPr id="32" name="Flowchart: Magnetic Disk 31">
            <a:extLst>
              <a:ext uri="{FF2B5EF4-FFF2-40B4-BE49-F238E27FC236}">
                <a16:creationId xmlns:a16="http://schemas.microsoft.com/office/drawing/2014/main" id="{4E448CDA-FB4D-0751-7A1C-90A45F16D053}"/>
              </a:ext>
            </a:extLst>
          </p:cNvPr>
          <p:cNvSpPr/>
          <p:nvPr/>
        </p:nvSpPr>
        <p:spPr>
          <a:xfrm>
            <a:off x="1383485" y="2860437"/>
            <a:ext cx="609600" cy="353568"/>
          </a:xfrm>
          <a:prstGeom prst="flowChartMagneticDisk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309"/>
            <a:r>
              <a:rPr lang="en-US" sz="1000" b="1" dirty="0">
                <a:solidFill>
                  <a:prstClr val="white"/>
                </a:solidFill>
                <a:latin typeface="Calibri"/>
              </a:rPr>
              <a:t>HANA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BEA7E651-5DC1-09C3-DF17-BABF1F2163A4}"/>
              </a:ext>
            </a:extLst>
          </p:cNvPr>
          <p:cNvCxnSpPr>
            <a:cxnSpLocks/>
          </p:cNvCxnSpPr>
          <p:nvPr/>
        </p:nvCxnSpPr>
        <p:spPr>
          <a:xfrm rot="16200000" flipH="1">
            <a:off x="2899759" y="2237724"/>
            <a:ext cx="975360" cy="0"/>
          </a:xfrm>
          <a:prstGeom prst="bentConnector3">
            <a:avLst/>
          </a:prstGeom>
          <a:noFill/>
          <a:ln w="19050" cap="flat" cmpd="sng" algn="ctr">
            <a:solidFill>
              <a:srgbClr val="0063BE">
                <a:shade val="95000"/>
                <a:satMod val="105000"/>
              </a:srgbClr>
            </a:solidFill>
            <a:prstDash val="solid"/>
            <a:headEnd type="triangle"/>
            <a:tailEnd type="triangle"/>
          </a:ln>
          <a:effectLst/>
        </p:spPr>
      </p:cxnSp>
      <p:sp>
        <p:nvSpPr>
          <p:cNvPr id="36" name="Rounded Rectangle 20">
            <a:extLst>
              <a:ext uri="{FF2B5EF4-FFF2-40B4-BE49-F238E27FC236}">
                <a16:creationId xmlns:a16="http://schemas.microsoft.com/office/drawing/2014/main" id="{796F5070-2078-0B6B-6475-0254B4A95934}"/>
              </a:ext>
            </a:extLst>
          </p:cNvPr>
          <p:cNvSpPr/>
          <p:nvPr/>
        </p:nvSpPr>
        <p:spPr>
          <a:xfrm rot="16200000">
            <a:off x="7556898" y="3580743"/>
            <a:ext cx="2213409" cy="432405"/>
          </a:xfrm>
          <a:prstGeom prst="roundRect">
            <a:avLst/>
          </a:prstGeom>
          <a:solidFill>
            <a:srgbClr val="0063BE">
              <a:lumMod val="40000"/>
              <a:lumOff val="60000"/>
              <a:alpha val="32000"/>
            </a:srgbClr>
          </a:solidFill>
          <a:ln w="9525" cap="flat" cmpd="sng" algn="ctr">
            <a:solidFill>
              <a:srgbClr val="0063BE"/>
            </a:solidFill>
            <a:prstDash val="solid"/>
          </a:ln>
          <a:effectLst/>
        </p:spPr>
        <p:txBody>
          <a:bodyPr lIns="48000" tIns="48000" rIns="48000" bIns="48000" rtlCol="0" anchor="ctr"/>
          <a:lstStyle/>
          <a:p>
            <a:pPr algn="ctr" defTabSz="914354">
              <a:defRPr/>
            </a:pPr>
            <a:r>
              <a:rPr lang="en-US" sz="933" b="1" kern="0" dirty="0">
                <a:solidFill>
                  <a:srgbClr val="000000"/>
                </a:solidFill>
                <a:latin typeface="Calibri" panose="020F0502020204030204"/>
              </a:rPr>
              <a:t>SAP  CPI / Flat File  / SFTP</a:t>
            </a:r>
          </a:p>
        </p:txBody>
      </p:sp>
      <p:sp>
        <p:nvSpPr>
          <p:cNvPr id="38" name="TextBox 33">
            <a:extLst>
              <a:ext uri="{FF2B5EF4-FFF2-40B4-BE49-F238E27FC236}">
                <a16:creationId xmlns:a16="http://schemas.microsoft.com/office/drawing/2014/main" id="{DA83B61E-9DA7-F2D3-9820-2958373026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711" y="906531"/>
            <a:ext cx="1379780" cy="369567"/>
          </a:xfrm>
          <a:prstGeom prst="rect">
            <a:avLst/>
          </a:prstGeom>
          <a:solidFill>
            <a:srgbClr val="0063BE">
              <a:lumMod val="5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en-US"/>
            </a:defPPr>
            <a:lvl1pPr algn="ctr" defTabSz="415556" fontAlgn="base">
              <a:spcBef>
                <a:spcPct val="0"/>
              </a:spcBef>
              <a:spcAft>
                <a:spcPct val="0"/>
              </a:spcAft>
              <a:defRPr sz="700" kern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415536">
              <a:defRPr/>
            </a:pPr>
            <a:r>
              <a:rPr lang="en-US" sz="933" dirty="0"/>
              <a:t>3rd Party Business Applications</a:t>
            </a:r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8FCD7A25-5671-0AED-EA13-F80A8DA98902}"/>
              </a:ext>
            </a:extLst>
          </p:cNvPr>
          <p:cNvCxnSpPr>
            <a:cxnSpLocks/>
          </p:cNvCxnSpPr>
          <p:nvPr/>
        </p:nvCxnSpPr>
        <p:spPr>
          <a:xfrm>
            <a:off x="2033279" y="2845653"/>
            <a:ext cx="1158460" cy="205599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rgbClr val="0063BE">
                <a:shade val="95000"/>
                <a:satMod val="105000"/>
              </a:srgbClr>
            </a:solidFill>
            <a:prstDash val="solid"/>
            <a:headEnd type="triangle"/>
            <a:tailEnd type="triangle"/>
          </a:ln>
          <a:effectLst/>
        </p:spPr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2B9C3C1A-D025-8F4E-7FFB-91EE59667BDC}"/>
              </a:ext>
            </a:extLst>
          </p:cNvPr>
          <p:cNvCxnSpPr>
            <a:cxnSpLocks/>
            <a:stCxn id="10" idx="2"/>
            <a:endCxn id="4" idx="0"/>
          </p:cNvCxnSpPr>
          <p:nvPr/>
        </p:nvCxnSpPr>
        <p:spPr>
          <a:xfrm rot="16200000" flipH="1">
            <a:off x="5095593" y="2219380"/>
            <a:ext cx="992139" cy="46601"/>
          </a:xfrm>
          <a:prstGeom prst="bentConnector3">
            <a:avLst/>
          </a:prstGeom>
          <a:noFill/>
          <a:ln w="19050" cap="flat" cmpd="sng" algn="ctr">
            <a:solidFill>
              <a:srgbClr val="0063BE">
                <a:shade val="95000"/>
                <a:satMod val="105000"/>
              </a:srgbClr>
            </a:solidFill>
            <a:prstDash val="solid"/>
            <a:headEnd type="triangle"/>
            <a:tailEnd type="triangle"/>
          </a:ln>
          <a:effectLst/>
        </p:spPr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128C4B4E-3E4B-38C2-EF10-CC9F57889998}"/>
              </a:ext>
            </a:extLst>
          </p:cNvPr>
          <p:cNvSpPr/>
          <p:nvPr/>
        </p:nvSpPr>
        <p:spPr>
          <a:xfrm>
            <a:off x="4637677" y="2239649"/>
            <a:ext cx="1854563" cy="3474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018"/>
            <a:endParaRPr lang="en-US" sz="1051" b="1" dirty="0">
              <a:solidFill>
                <a:prstClr val="white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5" name="Rounded Rectangle 20">
            <a:extLst>
              <a:ext uri="{FF2B5EF4-FFF2-40B4-BE49-F238E27FC236}">
                <a16:creationId xmlns:a16="http://schemas.microsoft.com/office/drawing/2014/main" id="{B5A43100-8987-4D9D-C11F-0E969DF962A3}"/>
              </a:ext>
            </a:extLst>
          </p:cNvPr>
          <p:cNvSpPr/>
          <p:nvPr/>
        </p:nvSpPr>
        <p:spPr>
          <a:xfrm>
            <a:off x="4724174" y="2290327"/>
            <a:ext cx="1680647" cy="230436"/>
          </a:xfrm>
          <a:prstGeom prst="roundRect">
            <a:avLst/>
          </a:prstGeom>
          <a:solidFill>
            <a:srgbClr val="F03782"/>
          </a:solidFill>
          <a:ln w="952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018"/>
            <a:r>
              <a:rPr lang="en-US" sz="1051" b="1" dirty="0">
                <a:solidFill>
                  <a:prstClr val="white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SAP Web Dispatcher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CFB6379-E16C-904F-B5AF-93B10AD7D053}"/>
              </a:ext>
            </a:extLst>
          </p:cNvPr>
          <p:cNvGrpSpPr/>
          <p:nvPr/>
        </p:nvGrpSpPr>
        <p:grpSpPr>
          <a:xfrm>
            <a:off x="4780001" y="1962195"/>
            <a:ext cx="1564641" cy="104648"/>
            <a:chOff x="4353531" y="2164462"/>
            <a:chExt cx="1372517" cy="91440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890A96A6-86E9-D09A-3261-695192D53F59}"/>
                </a:ext>
              </a:extLst>
            </p:cNvPr>
            <p:cNvCxnSpPr/>
            <p:nvPr/>
          </p:nvCxnSpPr>
          <p:spPr>
            <a:xfrm>
              <a:off x="4353531" y="2210182"/>
              <a:ext cx="640080" cy="0"/>
            </a:xfrm>
            <a:prstGeom prst="line">
              <a:avLst/>
            </a:prstGeom>
            <a:noFill/>
            <a:ln w="6350" cap="flat" cmpd="sng" algn="ctr">
              <a:solidFill>
                <a:srgbClr val="000000">
                  <a:lumMod val="50000"/>
                  <a:lumOff val="50000"/>
                </a:srgbClr>
              </a:solidFill>
              <a:prstDash val="dash"/>
            </a:ln>
            <a:effectLst/>
          </p:spPr>
        </p:cxn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DCB8162B-8BDE-B28B-D91B-346B6A45D4A2}"/>
                </a:ext>
              </a:extLst>
            </p:cNvPr>
            <p:cNvSpPr/>
            <p:nvPr/>
          </p:nvSpPr>
          <p:spPr>
            <a:xfrm>
              <a:off x="4994528" y="2164462"/>
              <a:ext cx="91440" cy="91440"/>
            </a:xfrm>
            <a:prstGeom prst="ellipse">
              <a:avLst/>
            </a:prstGeom>
            <a:noFill/>
            <a:ln w="15875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35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b="1" kern="0" dirty="0">
                <a:solidFill>
                  <a:srgbClr val="000000"/>
                </a:solidFill>
                <a:latin typeface="Myriad Pro"/>
                <a:cs typeface="Arial" pitchFamily="34" charset="0"/>
              </a:endParaRP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E3E8143-EFE8-920E-9EAB-7D5601D08333}"/>
                </a:ext>
              </a:extLst>
            </p:cNvPr>
            <p:cNvCxnSpPr/>
            <p:nvPr/>
          </p:nvCxnSpPr>
          <p:spPr>
            <a:xfrm>
              <a:off x="5085968" y="2210564"/>
              <a:ext cx="640080" cy="0"/>
            </a:xfrm>
            <a:prstGeom prst="line">
              <a:avLst/>
            </a:prstGeom>
            <a:noFill/>
            <a:ln w="6350" cap="flat" cmpd="sng" algn="ctr">
              <a:solidFill>
                <a:srgbClr val="000000">
                  <a:lumMod val="50000"/>
                  <a:lumOff val="50000"/>
                </a:srgbClr>
              </a:solidFill>
              <a:prstDash val="dash"/>
            </a:ln>
            <a:effectLst/>
          </p:spPr>
        </p:cxn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EC94F98B-617C-1A03-9364-909591BB86EA}"/>
              </a:ext>
            </a:extLst>
          </p:cNvPr>
          <p:cNvSpPr txBox="1"/>
          <p:nvPr/>
        </p:nvSpPr>
        <p:spPr>
          <a:xfrm>
            <a:off x="5722500" y="1825039"/>
            <a:ext cx="938157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defTabSz="914354">
              <a:defRPr/>
            </a:pPr>
            <a:r>
              <a:rPr lang="en-US" sz="900" dirty="0">
                <a:solidFill>
                  <a:srgbClr val="000000"/>
                </a:solidFill>
                <a:latin typeface="Myriad Pro"/>
              </a:rPr>
              <a:t>HTTPS (OData) </a:t>
            </a:r>
          </a:p>
        </p:txBody>
      </p:sp>
      <p:sp>
        <p:nvSpPr>
          <p:cNvPr id="73" name="Flowchart: Magnetic Disk 72">
            <a:extLst>
              <a:ext uri="{FF2B5EF4-FFF2-40B4-BE49-F238E27FC236}">
                <a16:creationId xmlns:a16="http://schemas.microsoft.com/office/drawing/2014/main" id="{B270614B-1A0C-5707-1914-5680175B9027}"/>
              </a:ext>
            </a:extLst>
          </p:cNvPr>
          <p:cNvSpPr/>
          <p:nvPr/>
        </p:nvSpPr>
        <p:spPr>
          <a:xfrm>
            <a:off x="7313720" y="4500735"/>
            <a:ext cx="609600" cy="353568"/>
          </a:xfrm>
          <a:prstGeom prst="flowChartMagneticDisk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309"/>
            <a:r>
              <a:rPr lang="en-US" sz="1000" b="1" dirty="0">
                <a:solidFill>
                  <a:prstClr val="white"/>
                </a:solidFill>
                <a:latin typeface="Calibri"/>
              </a:rPr>
              <a:t>HANA</a:t>
            </a:r>
          </a:p>
        </p:txBody>
      </p:sp>
      <p:sp>
        <p:nvSpPr>
          <p:cNvPr id="5" name="Rounded Rectangle 39">
            <a:extLst>
              <a:ext uri="{FF2B5EF4-FFF2-40B4-BE49-F238E27FC236}">
                <a16:creationId xmlns:a16="http://schemas.microsoft.com/office/drawing/2014/main" id="{74C073C1-3CAB-3C02-9C2C-6405A42CC860}"/>
              </a:ext>
            </a:extLst>
          </p:cNvPr>
          <p:cNvSpPr/>
          <p:nvPr/>
        </p:nvSpPr>
        <p:spPr>
          <a:xfrm>
            <a:off x="3378944" y="3292220"/>
            <a:ext cx="4398389" cy="1185859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algn="ctr" defTabSz="914354">
              <a:defRPr/>
            </a:pPr>
            <a:endParaRPr lang="en-US" sz="800" kern="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5" name="Rounded Rectangle 101">
            <a:extLst>
              <a:ext uri="{FF2B5EF4-FFF2-40B4-BE49-F238E27FC236}">
                <a16:creationId xmlns:a16="http://schemas.microsoft.com/office/drawing/2014/main" id="{4C1E63FB-0643-3770-0284-3ABF67EB349B}"/>
              </a:ext>
            </a:extLst>
          </p:cNvPr>
          <p:cNvSpPr/>
          <p:nvPr/>
        </p:nvSpPr>
        <p:spPr>
          <a:xfrm>
            <a:off x="3505327" y="3391612"/>
            <a:ext cx="1341120" cy="268224"/>
          </a:xfrm>
          <a:prstGeom prst="roundRect">
            <a:avLst/>
          </a:prstGeom>
          <a:solidFill>
            <a:srgbClr val="0063BE">
              <a:lumMod val="50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354"/>
            <a:r>
              <a:rPr lang="en-US" sz="800" kern="0" dirty="0">
                <a:solidFill>
                  <a:prstClr val="white"/>
                </a:solidFill>
                <a:latin typeface="Calibri" panose="020F0502020204030204"/>
              </a:rPr>
              <a:t>Finance &amp; Controlling</a:t>
            </a:r>
          </a:p>
        </p:txBody>
      </p:sp>
      <p:sp>
        <p:nvSpPr>
          <p:cNvPr id="75" name="Rounded Rectangle 83">
            <a:extLst>
              <a:ext uri="{FF2B5EF4-FFF2-40B4-BE49-F238E27FC236}">
                <a16:creationId xmlns:a16="http://schemas.microsoft.com/office/drawing/2014/main" id="{62DA20EC-B8C0-AADF-4C9F-ECB217C03725}"/>
              </a:ext>
            </a:extLst>
          </p:cNvPr>
          <p:cNvSpPr/>
          <p:nvPr/>
        </p:nvSpPr>
        <p:spPr>
          <a:xfrm>
            <a:off x="10691601" y="1332676"/>
            <a:ext cx="1097280" cy="609600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tIns="0" bIns="0" rtlCol="0" anchor="t"/>
          <a:lstStyle/>
          <a:p>
            <a:pPr algn="ctr" defTabSz="914354"/>
            <a:r>
              <a:rPr lang="en-US" sz="1067" b="1" kern="0" dirty="0">
                <a:solidFill>
                  <a:prstClr val="white"/>
                </a:solidFill>
                <a:latin typeface="Calibri" panose="020F0502020204030204"/>
              </a:rPr>
              <a:t>POS</a:t>
            </a:r>
          </a:p>
        </p:txBody>
      </p: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95C969E6-6DD6-0E07-6790-6438853FB94D}"/>
              </a:ext>
            </a:extLst>
          </p:cNvPr>
          <p:cNvGrpSpPr/>
          <p:nvPr/>
        </p:nvGrpSpPr>
        <p:grpSpPr>
          <a:xfrm>
            <a:off x="2887477" y="4997082"/>
            <a:ext cx="5347547" cy="993250"/>
            <a:chOff x="2864304" y="4824475"/>
            <a:chExt cx="5608724" cy="993251"/>
          </a:xfrm>
        </p:grpSpPr>
        <p:sp>
          <p:nvSpPr>
            <p:cNvPr id="174" name="object 54">
              <a:extLst>
                <a:ext uri="{FF2B5EF4-FFF2-40B4-BE49-F238E27FC236}">
                  <a16:creationId xmlns:a16="http://schemas.microsoft.com/office/drawing/2014/main" id="{A6FB4BB4-71F3-6F4D-6161-6682C6880284}"/>
                </a:ext>
              </a:extLst>
            </p:cNvPr>
            <p:cNvSpPr/>
            <p:nvPr/>
          </p:nvSpPr>
          <p:spPr>
            <a:xfrm>
              <a:off x="2864304" y="4824475"/>
              <a:ext cx="5608724" cy="993251"/>
            </a:xfrm>
            <a:custGeom>
              <a:avLst/>
              <a:gdLst/>
              <a:ahLst/>
              <a:cxnLst/>
              <a:rect l="l" t="t" r="r" b="b"/>
              <a:pathLst>
                <a:path w="11119485" h="1268095">
                  <a:moveTo>
                    <a:pt x="10907776" y="0"/>
                  </a:moveTo>
                  <a:lnTo>
                    <a:pt x="211328" y="0"/>
                  </a:lnTo>
                  <a:lnTo>
                    <a:pt x="162872" y="5581"/>
                  </a:lnTo>
                  <a:lnTo>
                    <a:pt x="118391" y="21479"/>
                  </a:lnTo>
                  <a:lnTo>
                    <a:pt x="79153" y="46426"/>
                  </a:lnTo>
                  <a:lnTo>
                    <a:pt x="46426" y="79153"/>
                  </a:lnTo>
                  <a:lnTo>
                    <a:pt x="21479" y="118391"/>
                  </a:lnTo>
                  <a:lnTo>
                    <a:pt x="5581" y="162872"/>
                  </a:lnTo>
                  <a:lnTo>
                    <a:pt x="0" y="211328"/>
                  </a:lnTo>
                  <a:lnTo>
                    <a:pt x="0" y="1056640"/>
                  </a:lnTo>
                  <a:lnTo>
                    <a:pt x="5581" y="1105095"/>
                  </a:lnTo>
                  <a:lnTo>
                    <a:pt x="21479" y="1149576"/>
                  </a:lnTo>
                  <a:lnTo>
                    <a:pt x="46426" y="1188814"/>
                  </a:lnTo>
                  <a:lnTo>
                    <a:pt x="79153" y="1221541"/>
                  </a:lnTo>
                  <a:lnTo>
                    <a:pt x="118391" y="1246488"/>
                  </a:lnTo>
                  <a:lnTo>
                    <a:pt x="162872" y="1262386"/>
                  </a:lnTo>
                  <a:lnTo>
                    <a:pt x="211328" y="1267968"/>
                  </a:lnTo>
                  <a:lnTo>
                    <a:pt x="10907776" y="1267968"/>
                  </a:lnTo>
                  <a:lnTo>
                    <a:pt x="10956231" y="1262386"/>
                  </a:lnTo>
                  <a:lnTo>
                    <a:pt x="11000712" y="1246488"/>
                  </a:lnTo>
                  <a:lnTo>
                    <a:pt x="11039950" y="1221541"/>
                  </a:lnTo>
                  <a:lnTo>
                    <a:pt x="11072677" y="1188814"/>
                  </a:lnTo>
                  <a:lnTo>
                    <a:pt x="11097624" y="1149576"/>
                  </a:lnTo>
                  <a:lnTo>
                    <a:pt x="11113522" y="1105095"/>
                  </a:lnTo>
                  <a:lnTo>
                    <a:pt x="11119104" y="1056640"/>
                  </a:lnTo>
                  <a:lnTo>
                    <a:pt x="11119104" y="211328"/>
                  </a:lnTo>
                  <a:lnTo>
                    <a:pt x="11113522" y="162872"/>
                  </a:lnTo>
                  <a:lnTo>
                    <a:pt x="11097624" y="118391"/>
                  </a:lnTo>
                  <a:lnTo>
                    <a:pt x="11072677" y="79153"/>
                  </a:lnTo>
                  <a:lnTo>
                    <a:pt x="11039950" y="46426"/>
                  </a:lnTo>
                  <a:lnTo>
                    <a:pt x="11000712" y="21479"/>
                  </a:lnTo>
                  <a:lnTo>
                    <a:pt x="10956231" y="5581"/>
                  </a:lnTo>
                  <a:lnTo>
                    <a:pt x="10907776" y="0"/>
                  </a:lnTo>
                  <a:close/>
                </a:path>
              </a:pathLst>
            </a:custGeom>
            <a:solidFill>
              <a:srgbClr val="7FC2FF">
                <a:alpha val="31765"/>
              </a:srgb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lIns="0" tIns="0" rIns="0" bIns="0" rtlCol="0"/>
            <a:lstStyle/>
            <a:p>
              <a:pPr defTabSz="1219140">
                <a:defRPr/>
              </a:pPr>
              <a:endParaRPr sz="2400" kern="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75" name="object 56">
              <a:extLst>
                <a:ext uri="{FF2B5EF4-FFF2-40B4-BE49-F238E27FC236}">
                  <a16:creationId xmlns:a16="http://schemas.microsoft.com/office/drawing/2014/main" id="{85DEA21F-D527-CF19-E6CE-828CD3B80A15}"/>
                </a:ext>
              </a:extLst>
            </p:cNvPr>
            <p:cNvSpPr txBox="1"/>
            <p:nvPr/>
          </p:nvSpPr>
          <p:spPr>
            <a:xfrm>
              <a:off x="3447043" y="5513237"/>
              <a:ext cx="4507701" cy="200055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16933" defTabSz="1219140">
                <a:spcBef>
                  <a:spcPts val="120"/>
                </a:spcBef>
                <a:defRPr/>
              </a:pPr>
              <a:r>
                <a:rPr sz="1200" b="1" kern="0" spc="-20" dirty="0">
                  <a:solidFill>
                    <a:prstClr val="black"/>
                  </a:solidFill>
                  <a:latin typeface="Calibri" panose="020F0502020204030204"/>
                  <a:cs typeface="Arial"/>
                </a:rPr>
                <a:t>SAP </a:t>
              </a:r>
              <a:r>
                <a:rPr lang="en-US" sz="1200" b="1" kern="0" spc="-20" dirty="0">
                  <a:solidFill>
                    <a:prstClr val="black"/>
                  </a:solidFill>
                  <a:latin typeface="Calibri" panose="020F0502020204030204"/>
                  <a:cs typeface="Arial"/>
                </a:rPr>
                <a:t>B</a:t>
              </a:r>
              <a:r>
                <a:rPr sz="1200" b="1" kern="0" spc="-20" dirty="0">
                  <a:solidFill>
                    <a:prstClr val="black"/>
                  </a:solidFill>
                  <a:latin typeface="Calibri" panose="020F0502020204030204"/>
                  <a:cs typeface="Arial"/>
                </a:rPr>
                <a:t>usiness </a:t>
              </a:r>
              <a:r>
                <a:rPr sz="1200" b="1" kern="0" spc="-27" dirty="0">
                  <a:solidFill>
                    <a:prstClr val="black"/>
                  </a:solidFill>
                  <a:latin typeface="Calibri" panose="020F0502020204030204"/>
                  <a:cs typeface="Arial"/>
                </a:rPr>
                <a:t>Technology </a:t>
              </a:r>
              <a:r>
                <a:rPr sz="1200" b="1" kern="0" spc="-13" dirty="0">
                  <a:solidFill>
                    <a:prstClr val="black"/>
                  </a:solidFill>
                  <a:latin typeface="Calibri" panose="020F0502020204030204"/>
                  <a:cs typeface="Arial"/>
                </a:rPr>
                <a:t>Platform </a:t>
              </a:r>
              <a:r>
                <a:rPr lang="en-US" sz="1200" b="1" kern="0" spc="-7" dirty="0">
                  <a:solidFill>
                    <a:prstClr val="black"/>
                  </a:solidFill>
                  <a:latin typeface="Calibri" panose="020F0502020204030204"/>
                  <a:cs typeface="Arial"/>
                </a:rPr>
                <a:t>–</a:t>
              </a:r>
              <a:r>
                <a:rPr sz="1200" b="1" kern="0" spc="-7" dirty="0">
                  <a:solidFill>
                    <a:prstClr val="black"/>
                  </a:solidFill>
                  <a:latin typeface="Calibri" panose="020F0502020204030204"/>
                  <a:cs typeface="Arial"/>
                </a:rPr>
                <a:t> </a:t>
              </a:r>
              <a:r>
                <a:rPr sz="1200" b="1" kern="0" spc="-13" dirty="0">
                  <a:solidFill>
                    <a:prstClr val="black"/>
                  </a:solidFill>
                  <a:latin typeface="Calibri" panose="020F0502020204030204"/>
                  <a:cs typeface="Arial"/>
                </a:rPr>
                <a:t>Platform</a:t>
              </a:r>
              <a:r>
                <a:rPr lang="en-US" sz="1200" b="1" kern="0" spc="-13" dirty="0">
                  <a:solidFill>
                    <a:prstClr val="black"/>
                  </a:solidFill>
                  <a:latin typeface="Calibri" panose="020F0502020204030204"/>
                  <a:cs typeface="Arial"/>
                </a:rPr>
                <a:t> </a:t>
              </a:r>
              <a:r>
                <a:rPr sz="1200" b="1" kern="0" spc="-20" dirty="0">
                  <a:solidFill>
                    <a:prstClr val="black"/>
                  </a:solidFill>
                  <a:latin typeface="Calibri" panose="020F0502020204030204"/>
                  <a:cs typeface="Arial"/>
                </a:rPr>
                <a:t>and Technology</a:t>
              </a:r>
              <a:r>
                <a:rPr sz="1200" b="1" kern="0" spc="293" dirty="0">
                  <a:solidFill>
                    <a:prstClr val="black"/>
                  </a:solidFill>
                  <a:latin typeface="Calibri" panose="020F0502020204030204"/>
                  <a:cs typeface="Arial"/>
                </a:rPr>
                <a:t> </a:t>
              </a:r>
              <a:r>
                <a:rPr sz="1200" b="1" kern="0" spc="-33" dirty="0">
                  <a:solidFill>
                    <a:prstClr val="black"/>
                  </a:solidFill>
                  <a:latin typeface="Calibri" panose="020F0502020204030204"/>
                  <a:cs typeface="Arial"/>
                </a:rPr>
                <a:t>Layer</a:t>
              </a:r>
              <a:endParaRPr sz="1200" kern="0" dirty="0">
                <a:solidFill>
                  <a:prstClr val="black"/>
                </a:solidFill>
                <a:latin typeface="Calibri" panose="020F0502020204030204"/>
                <a:cs typeface="Arial"/>
              </a:endParaRPr>
            </a:p>
          </p:txBody>
        </p:sp>
        <p:sp>
          <p:nvSpPr>
            <p:cNvPr id="176" name="object 64">
              <a:extLst>
                <a:ext uri="{FF2B5EF4-FFF2-40B4-BE49-F238E27FC236}">
                  <a16:creationId xmlns:a16="http://schemas.microsoft.com/office/drawing/2014/main" id="{AE4E9D71-AE28-28E3-30E0-3F0A058E0D1A}"/>
                </a:ext>
              </a:extLst>
            </p:cNvPr>
            <p:cNvSpPr txBox="1"/>
            <p:nvPr/>
          </p:nvSpPr>
          <p:spPr>
            <a:xfrm>
              <a:off x="7363248" y="5052461"/>
              <a:ext cx="853440" cy="3048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wrap="none" lIns="0" tIns="0" rIns="0" bIns="0" rtlCol="0" anchor="ctr">
              <a:noAutofit/>
            </a:bodyPr>
            <a:lstStyle>
              <a:defPPr>
                <a:defRPr lang="en-US"/>
              </a:defPPr>
              <a:lvl1pPr algn="ctr" defTabSz="1219170">
                <a:lnSpc>
                  <a:spcPct val="100000"/>
                </a:lnSpc>
                <a:defRPr sz="667" b="1" kern="0" spc="7">
                  <a:solidFill>
                    <a:prstClr val="black"/>
                  </a:solidFill>
                  <a:latin typeface="Calibri" panose="020F0502020204030204"/>
                  <a:cs typeface="Arial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defTabSz="1625519"/>
              <a:r>
                <a:rPr spc="9" dirty="0"/>
                <a:t>Reporting </a:t>
              </a:r>
              <a:endParaRPr lang="en-US" spc="9" dirty="0"/>
            </a:p>
            <a:p>
              <a:pPr defTabSz="1625519"/>
              <a:r>
                <a:rPr spc="9" dirty="0"/>
                <a:t>(Analytics Cloud)</a:t>
              </a:r>
            </a:p>
          </p:txBody>
        </p:sp>
        <p:sp>
          <p:nvSpPr>
            <p:cNvPr id="177" name="object 66">
              <a:extLst>
                <a:ext uri="{FF2B5EF4-FFF2-40B4-BE49-F238E27FC236}">
                  <a16:creationId xmlns:a16="http://schemas.microsoft.com/office/drawing/2014/main" id="{B5DD880B-5A97-5746-AFB5-5D38006DC2E4}"/>
                </a:ext>
              </a:extLst>
            </p:cNvPr>
            <p:cNvSpPr txBox="1"/>
            <p:nvPr/>
          </p:nvSpPr>
          <p:spPr>
            <a:xfrm>
              <a:off x="4225280" y="5052461"/>
              <a:ext cx="853440" cy="304800"/>
            </a:xfrm>
            <a:prstGeom prst="round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wrap="none" lIns="0" tIns="0" rIns="0" bIns="0" rtlCol="0" anchor="ctr">
              <a:noAutofit/>
            </a:bodyPr>
            <a:lstStyle>
              <a:defPPr>
                <a:defRPr lang="en-US"/>
              </a:defPPr>
              <a:lvl1pPr algn="ctr" defTabSz="1219170">
                <a:lnSpc>
                  <a:spcPct val="100000"/>
                </a:lnSpc>
                <a:defRPr sz="667" b="1" kern="0" spc="7">
                  <a:solidFill>
                    <a:prstClr val="black"/>
                  </a:solidFill>
                  <a:latin typeface="Calibri" panose="020F0502020204030204"/>
                  <a:cs typeface="Arial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defTabSz="1625519"/>
              <a:r>
                <a:rPr lang="en-US" spc="9" dirty="0"/>
                <a:t>Fiori/Mobile Extension</a:t>
              </a:r>
              <a:endParaRPr spc="9" dirty="0"/>
            </a:p>
          </p:txBody>
        </p:sp>
        <p:sp>
          <p:nvSpPr>
            <p:cNvPr id="180" name="object 104">
              <a:extLst>
                <a:ext uri="{FF2B5EF4-FFF2-40B4-BE49-F238E27FC236}">
                  <a16:creationId xmlns:a16="http://schemas.microsoft.com/office/drawing/2014/main" id="{6BA38F5B-8DE8-0831-B15C-66B459118FE9}"/>
                </a:ext>
              </a:extLst>
            </p:cNvPr>
            <p:cNvSpPr txBox="1"/>
            <p:nvPr/>
          </p:nvSpPr>
          <p:spPr>
            <a:xfrm>
              <a:off x="5273212" y="5052461"/>
              <a:ext cx="853440" cy="3048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wrap="none" lIns="0" tIns="0" rIns="0" bIns="0" rtlCol="0" anchor="ctr">
              <a:noAutofit/>
            </a:bodyPr>
            <a:lstStyle>
              <a:defPPr>
                <a:defRPr lang="en-US"/>
              </a:defPPr>
              <a:lvl1pPr algn="ctr">
                <a:lnSpc>
                  <a:spcPct val="100000"/>
                </a:lnSpc>
                <a:defRPr sz="900" spc="5">
                  <a:solidFill>
                    <a:schemeClr val="tx1"/>
                  </a:solidFill>
                  <a:latin typeface="Arial"/>
                  <a:cs typeface="Arial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defTabSz="1219140">
                <a:defRPr/>
              </a:pPr>
              <a:r>
                <a:rPr sz="667" b="1" kern="0" spc="7" dirty="0">
                  <a:solidFill>
                    <a:prstClr val="black"/>
                  </a:solidFill>
                  <a:latin typeface="Calibri" panose="020F0502020204030204"/>
                </a:rPr>
                <a:t>Datawarehouse </a:t>
              </a:r>
              <a:endParaRPr lang="en-US" sz="667" b="1" kern="0" spc="7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defTabSz="1219140">
                <a:defRPr/>
              </a:pPr>
              <a:r>
                <a:rPr sz="667" b="1" kern="0" spc="7" dirty="0">
                  <a:solidFill>
                    <a:prstClr val="black"/>
                  </a:solidFill>
                  <a:latin typeface="Calibri" panose="020F0502020204030204"/>
                </a:rPr>
                <a:t>Cloud</a:t>
              </a: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B9083CCD-359C-F1B4-2870-2408B678D53F}"/>
                </a:ext>
              </a:extLst>
            </p:cNvPr>
            <p:cNvSpPr txBox="1"/>
            <p:nvPr/>
          </p:nvSpPr>
          <p:spPr>
            <a:xfrm>
              <a:off x="3117680" y="5052461"/>
              <a:ext cx="853440" cy="304800"/>
            </a:xfrm>
            <a:prstGeom prst="round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rtlCol="0" anchor="ctr">
              <a:noAutofit/>
            </a:bodyPr>
            <a:lstStyle>
              <a:defPPr>
                <a:defRPr lang="en-US"/>
              </a:defPPr>
              <a:lvl1pPr algn="ctr">
                <a:lnSpc>
                  <a:spcPct val="100000"/>
                </a:lnSpc>
                <a:defRPr sz="900" spc="5">
                  <a:solidFill>
                    <a:schemeClr val="tx1"/>
                  </a:solidFill>
                  <a:latin typeface="Arial"/>
                  <a:cs typeface="Arial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defTabSz="1219140">
                <a:defRPr/>
              </a:pPr>
              <a:r>
                <a:rPr lang="en-US" sz="667" b="1" kern="0" spc="7" dirty="0">
                  <a:solidFill>
                    <a:prstClr val="black"/>
                  </a:solidFill>
                  <a:latin typeface="Calibri" panose="020F0502020204030204"/>
                </a:rPr>
                <a:t>Platform Extension</a:t>
              </a: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F2B4C164-ABC1-9E4E-A33A-83A705A53954}"/>
                </a:ext>
              </a:extLst>
            </p:cNvPr>
            <p:cNvSpPr txBox="1"/>
            <p:nvPr/>
          </p:nvSpPr>
          <p:spPr>
            <a:xfrm>
              <a:off x="6350978" y="5052461"/>
              <a:ext cx="853440" cy="3048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rtlCol="0" anchor="ctr">
              <a:noAutofit/>
            </a:bodyPr>
            <a:lstStyle>
              <a:defPPr>
                <a:defRPr lang="en-US"/>
              </a:defPPr>
              <a:lvl1pPr algn="ctr">
                <a:lnSpc>
                  <a:spcPct val="100000"/>
                </a:lnSpc>
                <a:defRPr sz="900" spc="5">
                  <a:solidFill>
                    <a:schemeClr val="tx1"/>
                  </a:solidFill>
                  <a:latin typeface="Arial"/>
                  <a:cs typeface="Arial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defTabSz="1219140">
                <a:defRPr/>
              </a:pPr>
              <a:r>
                <a:rPr lang="en-US" sz="667" b="1" kern="0" spc="7" dirty="0">
                  <a:solidFill>
                    <a:prstClr val="black"/>
                  </a:solidFill>
                  <a:latin typeface="Calibri" panose="020F0502020204030204"/>
                </a:rPr>
                <a:t>API Management</a:t>
              </a:r>
            </a:p>
          </p:txBody>
        </p:sp>
        <p:sp>
          <p:nvSpPr>
            <p:cNvPr id="184" name="Rectangle: Rounded Corners 183">
              <a:extLst>
                <a:ext uri="{FF2B5EF4-FFF2-40B4-BE49-F238E27FC236}">
                  <a16:creationId xmlns:a16="http://schemas.microsoft.com/office/drawing/2014/main" id="{A6F9B923-EC1F-D4E6-75C6-E5D008EBE227}"/>
                </a:ext>
              </a:extLst>
            </p:cNvPr>
            <p:cNvSpPr/>
            <p:nvPr/>
          </p:nvSpPr>
          <p:spPr>
            <a:xfrm>
              <a:off x="3019812" y="4984532"/>
              <a:ext cx="5374200" cy="449371"/>
            </a:xfrm>
            <a:custGeom>
              <a:avLst/>
              <a:gdLst>
                <a:gd name="connsiteX0" fmla="*/ 0 w 4659284"/>
                <a:gd name="connsiteY0" fmla="*/ 82083 h 492488"/>
                <a:gd name="connsiteX1" fmla="*/ 82083 w 4659284"/>
                <a:gd name="connsiteY1" fmla="*/ 0 h 492488"/>
                <a:gd name="connsiteX2" fmla="*/ 4577201 w 4659284"/>
                <a:gd name="connsiteY2" fmla="*/ 0 h 492488"/>
                <a:gd name="connsiteX3" fmla="*/ 4659284 w 4659284"/>
                <a:gd name="connsiteY3" fmla="*/ 82083 h 492488"/>
                <a:gd name="connsiteX4" fmla="*/ 4659284 w 4659284"/>
                <a:gd name="connsiteY4" fmla="*/ 410405 h 492488"/>
                <a:gd name="connsiteX5" fmla="*/ 4577201 w 4659284"/>
                <a:gd name="connsiteY5" fmla="*/ 492488 h 492488"/>
                <a:gd name="connsiteX6" fmla="*/ 82083 w 4659284"/>
                <a:gd name="connsiteY6" fmla="*/ 492488 h 492488"/>
                <a:gd name="connsiteX7" fmla="*/ 0 w 4659284"/>
                <a:gd name="connsiteY7" fmla="*/ 410405 h 492488"/>
                <a:gd name="connsiteX8" fmla="*/ 0 w 4659284"/>
                <a:gd name="connsiteY8" fmla="*/ 82083 h 492488"/>
                <a:gd name="connsiteX0" fmla="*/ 0 w 4659284"/>
                <a:gd name="connsiteY0" fmla="*/ 70360 h 492488"/>
                <a:gd name="connsiteX1" fmla="*/ 82083 w 4659284"/>
                <a:gd name="connsiteY1" fmla="*/ 0 h 492488"/>
                <a:gd name="connsiteX2" fmla="*/ 4577201 w 4659284"/>
                <a:gd name="connsiteY2" fmla="*/ 0 h 492488"/>
                <a:gd name="connsiteX3" fmla="*/ 4659284 w 4659284"/>
                <a:gd name="connsiteY3" fmla="*/ 82083 h 492488"/>
                <a:gd name="connsiteX4" fmla="*/ 4659284 w 4659284"/>
                <a:gd name="connsiteY4" fmla="*/ 410405 h 492488"/>
                <a:gd name="connsiteX5" fmla="*/ 4577201 w 4659284"/>
                <a:gd name="connsiteY5" fmla="*/ 492488 h 492488"/>
                <a:gd name="connsiteX6" fmla="*/ 82083 w 4659284"/>
                <a:gd name="connsiteY6" fmla="*/ 492488 h 492488"/>
                <a:gd name="connsiteX7" fmla="*/ 0 w 4659284"/>
                <a:gd name="connsiteY7" fmla="*/ 410405 h 492488"/>
                <a:gd name="connsiteX8" fmla="*/ 0 w 4659284"/>
                <a:gd name="connsiteY8" fmla="*/ 70360 h 492488"/>
                <a:gd name="connsiteX0" fmla="*/ 0 w 4659284"/>
                <a:gd name="connsiteY0" fmla="*/ 70360 h 492488"/>
                <a:gd name="connsiteX1" fmla="*/ 82083 w 4659284"/>
                <a:gd name="connsiteY1" fmla="*/ 0 h 492488"/>
                <a:gd name="connsiteX2" fmla="*/ 4577201 w 4659284"/>
                <a:gd name="connsiteY2" fmla="*/ 0 h 492488"/>
                <a:gd name="connsiteX3" fmla="*/ 4659284 w 4659284"/>
                <a:gd name="connsiteY3" fmla="*/ 82083 h 492488"/>
                <a:gd name="connsiteX4" fmla="*/ 4659284 w 4659284"/>
                <a:gd name="connsiteY4" fmla="*/ 410405 h 492488"/>
                <a:gd name="connsiteX5" fmla="*/ 4577201 w 4659284"/>
                <a:gd name="connsiteY5" fmla="*/ 492488 h 492488"/>
                <a:gd name="connsiteX6" fmla="*/ 82083 w 4659284"/>
                <a:gd name="connsiteY6" fmla="*/ 492488 h 492488"/>
                <a:gd name="connsiteX7" fmla="*/ 0 w 4659284"/>
                <a:gd name="connsiteY7" fmla="*/ 410405 h 492488"/>
                <a:gd name="connsiteX8" fmla="*/ 0 w 4659284"/>
                <a:gd name="connsiteY8" fmla="*/ 70360 h 492488"/>
                <a:gd name="connsiteX0" fmla="*/ 0 w 4659284"/>
                <a:gd name="connsiteY0" fmla="*/ 70360 h 492488"/>
                <a:gd name="connsiteX1" fmla="*/ 58637 w 4659284"/>
                <a:gd name="connsiteY1" fmla="*/ 0 h 492488"/>
                <a:gd name="connsiteX2" fmla="*/ 4577201 w 4659284"/>
                <a:gd name="connsiteY2" fmla="*/ 0 h 492488"/>
                <a:gd name="connsiteX3" fmla="*/ 4659284 w 4659284"/>
                <a:gd name="connsiteY3" fmla="*/ 82083 h 492488"/>
                <a:gd name="connsiteX4" fmla="*/ 4659284 w 4659284"/>
                <a:gd name="connsiteY4" fmla="*/ 410405 h 492488"/>
                <a:gd name="connsiteX5" fmla="*/ 4577201 w 4659284"/>
                <a:gd name="connsiteY5" fmla="*/ 492488 h 492488"/>
                <a:gd name="connsiteX6" fmla="*/ 82083 w 4659284"/>
                <a:gd name="connsiteY6" fmla="*/ 492488 h 492488"/>
                <a:gd name="connsiteX7" fmla="*/ 0 w 4659284"/>
                <a:gd name="connsiteY7" fmla="*/ 410405 h 492488"/>
                <a:gd name="connsiteX8" fmla="*/ 0 w 4659284"/>
                <a:gd name="connsiteY8" fmla="*/ 70360 h 492488"/>
                <a:gd name="connsiteX0" fmla="*/ 0 w 4659284"/>
                <a:gd name="connsiteY0" fmla="*/ 70360 h 492488"/>
                <a:gd name="connsiteX1" fmla="*/ 58637 w 4659284"/>
                <a:gd name="connsiteY1" fmla="*/ 0 h 492488"/>
                <a:gd name="connsiteX2" fmla="*/ 4577201 w 4659284"/>
                <a:gd name="connsiteY2" fmla="*/ 0 h 492488"/>
                <a:gd name="connsiteX3" fmla="*/ 4659284 w 4659284"/>
                <a:gd name="connsiteY3" fmla="*/ 82083 h 492488"/>
                <a:gd name="connsiteX4" fmla="*/ 4659284 w 4659284"/>
                <a:gd name="connsiteY4" fmla="*/ 410405 h 492488"/>
                <a:gd name="connsiteX5" fmla="*/ 4577201 w 4659284"/>
                <a:gd name="connsiteY5" fmla="*/ 492488 h 492488"/>
                <a:gd name="connsiteX6" fmla="*/ 82083 w 4659284"/>
                <a:gd name="connsiteY6" fmla="*/ 492488 h 492488"/>
                <a:gd name="connsiteX7" fmla="*/ 0 w 4659284"/>
                <a:gd name="connsiteY7" fmla="*/ 422128 h 492488"/>
                <a:gd name="connsiteX8" fmla="*/ 0 w 4659284"/>
                <a:gd name="connsiteY8" fmla="*/ 70360 h 492488"/>
                <a:gd name="connsiteX0" fmla="*/ 290 w 4659574"/>
                <a:gd name="connsiteY0" fmla="*/ 70360 h 492488"/>
                <a:gd name="connsiteX1" fmla="*/ 58927 w 4659574"/>
                <a:gd name="connsiteY1" fmla="*/ 0 h 492488"/>
                <a:gd name="connsiteX2" fmla="*/ 4577491 w 4659574"/>
                <a:gd name="connsiteY2" fmla="*/ 0 h 492488"/>
                <a:gd name="connsiteX3" fmla="*/ 4659574 w 4659574"/>
                <a:gd name="connsiteY3" fmla="*/ 82083 h 492488"/>
                <a:gd name="connsiteX4" fmla="*/ 4659574 w 4659574"/>
                <a:gd name="connsiteY4" fmla="*/ 410405 h 492488"/>
                <a:gd name="connsiteX5" fmla="*/ 4577491 w 4659574"/>
                <a:gd name="connsiteY5" fmla="*/ 492488 h 492488"/>
                <a:gd name="connsiteX6" fmla="*/ 39388 w 4659574"/>
                <a:gd name="connsiteY6" fmla="*/ 492488 h 492488"/>
                <a:gd name="connsiteX7" fmla="*/ 290 w 4659574"/>
                <a:gd name="connsiteY7" fmla="*/ 422128 h 492488"/>
                <a:gd name="connsiteX8" fmla="*/ 290 w 4659574"/>
                <a:gd name="connsiteY8" fmla="*/ 70360 h 492488"/>
                <a:gd name="connsiteX0" fmla="*/ 290 w 4659574"/>
                <a:gd name="connsiteY0" fmla="*/ 70360 h 492488"/>
                <a:gd name="connsiteX1" fmla="*/ 58927 w 4659574"/>
                <a:gd name="connsiteY1" fmla="*/ 0 h 492488"/>
                <a:gd name="connsiteX2" fmla="*/ 4577491 w 4659574"/>
                <a:gd name="connsiteY2" fmla="*/ 0 h 492488"/>
                <a:gd name="connsiteX3" fmla="*/ 4659574 w 4659574"/>
                <a:gd name="connsiteY3" fmla="*/ 54729 h 492488"/>
                <a:gd name="connsiteX4" fmla="*/ 4659574 w 4659574"/>
                <a:gd name="connsiteY4" fmla="*/ 410405 h 492488"/>
                <a:gd name="connsiteX5" fmla="*/ 4577491 w 4659574"/>
                <a:gd name="connsiteY5" fmla="*/ 492488 h 492488"/>
                <a:gd name="connsiteX6" fmla="*/ 39388 w 4659574"/>
                <a:gd name="connsiteY6" fmla="*/ 492488 h 492488"/>
                <a:gd name="connsiteX7" fmla="*/ 290 w 4659574"/>
                <a:gd name="connsiteY7" fmla="*/ 422128 h 492488"/>
                <a:gd name="connsiteX8" fmla="*/ 290 w 4659574"/>
                <a:gd name="connsiteY8" fmla="*/ 70360 h 492488"/>
                <a:gd name="connsiteX0" fmla="*/ 290 w 4659574"/>
                <a:gd name="connsiteY0" fmla="*/ 74267 h 496395"/>
                <a:gd name="connsiteX1" fmla="*/ 58927 w 4659574"/>
                <a:gd name="connsiteY1" fmla="*/ 3907 h 496395"/>
                <a:gd name="connsiteX2" fmla="*/ 4593122 w 4659574"/>
                <a:gd name="connsiteY2" fmla="*/ 0 h 496395"/>
                <a:gd name="connsiteX3" fmla="*/ 4659574 w 4659574"/>
                <a:gd name="connsiteY3" fmla="*/ 58636 h 496395"/>
                <a:gd name="connsiteX4" fmla="*/ 4659574 w 4659574"/>
                <a:gd name="connsiteY4" fmla="*/ 414312 h 496395"/>
                <a:gd name="connsiteX5" fmla="*/ 4577491 w 4659574"/>
                <a:gd name="connsiteY5" fmla="*/ 496395 h 496395"/>
                <a:gd name="connsiteX6" fmla="*/ 39388 w 4659574"/>
                <a:gd name="connsiteY6" fmla="*/ 496395 h 496395"/>
                <a:gd name="connsiteX7" fmla="*/ 290 w 4659574"/>
                <a:gd name="connsiteY7" fmla="*/ 426035 h 496395"/>
                <a:gd name="connsiteX8" fmla="*/ 290 w 4659574"/>
                <a:gd name="connsiteY8" fmla="*/ 74267 h 496395"/>
                <a:gd name="connsiteX0" fmla="*/ 290 w 4659574"/>
                <a:gd name="connsiteY0" fmla="*/ 74267 h 500303"/>
                <a:gd name="connsiteX1" fmla="*/ 58927 w 4659574"/>
                <a:gd name="connsiteY1" fmla="*/ 3907 h 500303"/>
                <a:gd name="connsiteX2" fmla="*/ 4593122 w 4659574"/>
                <a:gd name="connsiteY2" fmla="*/ 0 h 500303"/>
                <a:gd name="connsiteX3" fmla="*/ 4659574 w 4659574"/>
                <a:gd name="connsiteY3" fmla="*/ 58636 h 500303"/>
                <a:gd name="connsiteX4" fmla="*/ 4659574 w 4659574"/>
                <a:gd name="connsiteY4" fmla="*/ 414312 h 500303"/>
                <a:gd name="connsiteX5" fmla="*/ 4608752 w 4659574"/>
                <a:gd name="connsiteY5" fmla="*/ 500303 h 500303"/>
                <a:gd name="connsiteX6" fmla="*/ 39388 w 4659574"/>
                <a:gd name="connsiteY6" fmla="*/ 496395 h 500303"/>
                <a:gd name="connsiteX7" fmla="*/ 290 w 4659574"/>
                <a:gd name="connsiteY7" fmla="*/ 426035 h 500303"/>
                <a:gd name="connsiteX8" fmla="*/ 290 w 4659574"/>
                <a:gd name="connsiteY8" fmla="*/ 74267 h 500303"/>
                <a:gd name="connsiteX0" fmla="*/ 290 w 4659574"/>
                <a:gd name="connsiteY0" fmla="*/ 74267 h 500303"/>
                <a:gd name="connsiteX1" fmla="*/ 58927 w 4659574"/>
                <a:gd name="connsiteY1" fmla="*/ 3907 h 500303"/>
                <a:gd name="connsiteX2" fmla="*/ 4593122 w 4659574"/>
                <a:gd name="connsiteY2" fmla="*/ 0 h 500303"/>
                <a:gd name="connsiteX3" fmla="*/ 4659574 w 4659574"/>
                <a:gd name="connsiteY3" fmla="*/ 58636 h 500303"/>
                <a:gd name="connsiteX4" fmla="*/ 4659574 w 4659574"/>
                <a:gd name="connsiteY4" fmla="*/ 433850 h 500303"/>
                <a:gd name="connsiteX5" fmla="*/ 4608752 w 4659574"/>
                <a:gd name="connsiteY5" fmla="*/ 500303 h 500303"/>
                <a:gd name="connsiteX6" fmla="*/ 39388 w 4659574"/>
                <a:gd name="connsiteY6" fmla="*/ 496395 h 500303"/>
                <a:gd name="connsiteX7" fmla="*/ 290 w 4659574"/>
                <a:gd name="connsiteY7" fmla="*/ 426035 h 500303"/>
                <a:gd name="connsiteX8" fmla="*/ 290 w 4659574"/>
                <a:gd name="connsiteY8" fmla="*/ 74267 h 500303"/>
                <a:gd name="connsiteX0" fmla="*/ 290 w 4659574"/>
                <a:gd name="connsiteY0" fmla="*/ 74267 h 500303"/>
                <a:gd name="connsiteX1" fmla="*/ 58927 w 4659574"/>
                <a:gd name="connsiteY1" fmla="*/ 3907 h 500303"/>
                <a:gd name="connsiteX2" fmla="*/ 4593122 w 4659574"/>
                <a:gd name="connsiteY2" fmla="*/ 0 h 500303"/>
                <a:gd name="connsiteX3" fmla="*/ 4659574 w 4659574"/>
                <a:gd name="connsiteY3" fmla="*/ 58636 h 500303"/>
                <a:gd name="connsiteX4" fmla="*/ 4659574 w 4659574"/>
                <a:gd name="connsiteY4" fmla="*/ 433850 h 500303"/>
                <a:gd name="connsiteX5" fmla="*/ 4608752 w 4659574"/>
                <a:gd name="connsiteY5" fmla="*/ 500303 h 500303"/>
                <a:gd name="connsiteX6" fmla="*/ 39388 w 4659574"/>
                <a:gd name="connsiteY6" fmla="*/ 496395 h 500303"/>
                <a:gd name="connsiteX7" fmla="*/ 290 w 4659574"/>
                <a:gd name="connsiteY7" fmla="*/ 426035 h 500303"/>
                <a:gd name="connsiteX8" fmla="*/ 290 w 4659574"/>
                <a:gd name="connsiteY8" fmla="*/ 74267 h 50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59574" h="500303">
                  <a:moveTo>
                    <a:pt x="290" y="74267"/>
                  </a:moveTo>
                  <a:cubicBezTo>
                    <a:pt x="290" y="28934"/>
                    <a:pt x="13594" y="3907"/>
                    <a:pt x="58927" y="3907"/>
                  </a:cubicBezTo>
                  <a:lnTo>
                    <a:pt x="4593122" y="0"/>
                  </a:lnTo>
                  <a:cubicBezTo>
                    <a:pt x="4638455" y="0"/>
                    <a:pt x="4659574" y="13303"/>
                    <a:pt x="4659574" y="58636"/>
                  </a:cubicBezTo>
                  <a:lnTo>
                    <a:pt x="4659574" y="433850"/>
                  </a:lnTo>
                  <a:cubicBezTo>
                    <a:pt x="4659574" y="479183"/>
                    <a:pt x="4654085" y="500303"/>
                    <a:pt x="4608752" y="500303"/>
                  </a:cubicBezTo>
                  <a:lnTo>
                    <a:pt x="39388" y="496395"/>
                  </a:lnTo>
                  <a:cubicBezTo>
                    <a:pt x="-5945" y="496395"/>
                    <a:pt x="290" y="471368"/>
                    <a:pt x="290" y="426035"/>
                  </a:cubicBezTo>
                  <a:lnTo>
                    <a:pt x="290" y="74267"/>
                  </a:lnTo>
                  <a:close/>
                </a:path>
              </a:pathLst>
            </a:custGeom>
            <a:noFill/>
            <a:ln w="9525" cap="flat" cmpd="sng" algn="ctr">
              <a:solidFill>
                <a:sysClr val="window" lastClr="FFFFFF">
                  <a:lumMod val="50000"/>
                </a:sysClr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algn="ctr" defTabSz="1219140">
                <a:defRPr/>
              </a:pPr>
              <a:endParaRPr lang="en-US" sz="2400" kern="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3CE0193B-5AAA-471D-9E9F-79E1726ECE5B}"/>
              </a:ext>
            </a:extLst>
          </p:cNvPr>
          <p:cNvCxnSpPr>
            <a:cxnSpLocks/>
            <a:endCxn id="36" idx="0"/>
          </p:cNvCxnSpPr>
          <p:nvPr/>
        </p:nvCxnSpPr>
        <p:spPr>
          <a:xfrm>
            <a:off x="8045022" y="3796945"/>
            <a:ext cx="402378" cy="0"/>
          </a:xfrm>
          <a:prstGeom prst="straightConnector1">
            <a:avLst/>
          </a:prstGeom>
          <a:noFill/>
          <a:ln w="19050" cap="flat" cmpd="sng" algn="ctr">
            <a:solidFill>
              <a:srgbClr val="0063BE">
                <a:shade val="95000"/>
                <a:satMod val="105000"/>
              </a:srgbClr>
            </a:solidFill>
            <a:prstDash val="solid"/>
            <a:headEnd type="triangle"/>
            <a:tailEnd type="triangle"/>
          </a:ln>
          <a:effectLst/>
        </p:spPr>
      </p:cxn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08D80B2A-82A3-BE3B-3CE2-371490CF6A32}"/>
              </a:ext>
            </a:extLst>
          </p:cNvPr>
          <p:cNvSpPr/>
          <p:nvPr/>
        </p:nvSpPr>
        <p:spPr>
          <a:xfrm>
            <a:off x="9459703" y="1359380"/>
            <a:ext cx="1097280" cy="609600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tIns="0" bIns="0" rtlCol="0" anchor="t"/>
          <a:lstStyle/>
          <a:p>
            <a:pPr algn="ctr" defTabSz="914354"/>
            <a:r>
              <a:rPr lang="en-US" sz="1067" b="1" kern="0" dirty="0">
                <a:solidFill>
                  <a:prstClr val="white"/>
                </a:solidFill>
                <a:latin typeface="Calibri" panose="020F0502020204030204"/>
              </a:rPr>
              <a:t>OPERA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002E62C-9921-328D-2378-E2CF8C22FA3D}"/>
              </a:ext>
            </a:extLst>
          </p:cNvPr>
          <p:cNvSpPr txBox="1"/>
          <p:nvPr/>
        </p:nvSpPr>
        <p:spPr>
          <a:xfrm>
            <a:off x="9583598" y="1574689"/>
            <a:ext cx="902533" cy="304800"/>
          </a:xfrm>
          <a:prstGeom prst="round2SameRect">
            <a:avLst/>
          </a:prstGeom>
          <a:solidFill>
            <a:sysClr val="window" lastClr="FFFFFF"/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algn="ctr" defTabSz="914354">
              <a:defRPr/>
            </a:pPr>
            <a:r>
              <a:rPr lang="en-US" sz="933" b="1" kern="0" dirty="0">
                <a:solidFill>
                  <a:srgbClr val="000000">
                    <a:lumMod val="95000"/>
                    <a:lumOff val="5000"/>
                  </a:srgbClr>
                </a:solidFill>
                <a:latin typeface="Calibri" panose="020F0502020204030204"/>
              </a:rPr>
              <a:t>Settlement PMS</a:t>
            </a: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1B860527-F837-8534-955C-E4DB91E13EC2}"/>
              </a:ext>
            </a:extLst>
          </p:cNvPr>
          <p:cNvSpPr/>
          <p:nvPr/>
        </p:nvSpPr>
        <p:spPr>
          <a:xfrm>
            <a:off x="9453071" y="5213453"/>
            <a:ext cx="1097280" cy="515551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tIns="0" bIns="0" rtlCol="0" anchor="t"/>
          <a:lstStyle/>
          <a:p>
            <a:pPr algn="ctr" defTabSz="914354"/>
            <a:r>
              <a:rPr lang="en-US" sz="1067" b="1" kern="0" dirty="0">
                <a:solidFill>
                  <a:prstClr val="white"/>
                </a:solidFill>
                <a:latin typeface="Calibri" panose="020F0502020204030204"/>
              </a:rPr>
              <a:t>Hyperion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C0FF8A46-8C17-EE01-9815-3D40F9D5C9F2}"/>
              </a:ext>
            </a:extLst>
          </p:cNvPr>
          <p:cNvSpPr txBox="1"/>
          <p:nvPr/>
        </p:nvSpPr>
        <p:spPr>
          <a:xfrm>
            <a:off x="9576967" y="5428762"/>
            <a:ext cx="902533" cy="220909"/>
          </a:xfrm>
          <a:prstGeom prst="round2SameRect">
            <a:avLst/>
          </a:prstGeom>
          <a:solidFill>
            <a:sysClr val="window" lastClr="FFFFFF"/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algn="ctr" defTabSz="914354">
              <a:defRPr/>
            </a:pPr>
            <a:r>
              <a:rPr lang="en-US" sz="933" b="1" kern="0" dirty="0">
                <a:solidFill>
                  <a:srgbClr val="000000">
                    <a:lumMod val="95000"/>
                    <a:lumOff val="5000"/>
                  </a:srgbClr>
                </a:solidFill>
                <a:latin typeface="Calibri" panose="020F0502020204030204"/>
              </a:rPr>
              <a:t>PBCS /HFM</a:t>
            </a:r>
          </a:p>
        </p:txBody>
      </p:sp>
      <p:cxnSp>
        <p:nvCxnSpPr>
          <p:cNvPr id="154" name="Connector: Elbow 153">
            <a:extLst>
              <a:ext uri="{FF2B5EF4-FFF2-40B4-BE49-F238E27FC236}">
                <a16:creationId xmlns:a16="http://schemas.microsoft.com/office/drawing/2014/main" id="{92B16779-EDDC-2CD5-84BE-05107BC0F552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93087" y="4211099"/>
            <a:ext cx="1249543" cy="1011752"/>
          </a:xfrm>
          <a:prstGeom prst="bentConnector3">
            <a:avLst/>
          </a:prstGeom>
          <a:noFill/>
          <a:ln w="19050" cap="flat" cmpd="sng" algn="ctr">
            <a:solidFill>
              <a:srgbClr val="0063BE">
                <a:shade val="95000"/>
                <a:satMod val="105000"/>
              </a:srgbClr>
            </a:solidFill>
            <a:prstDash val="solid"/>
            <a:headEnd type="triangle"/>
            <a:tailEnd type="triangle"/>
          </a:ln>
          <a:effectLst/>
        </p:spPr>
      </p:cxnSp>
      <p:sp>
        <p:nvSpPr>
          <p:cNvPr id="157" name="Rectangle: Rounded Corners 156">
            <a:extLst>
              <a:ext uri="{FF2B5EF4-FFF2-40B4-BE49-F238E27FC236}">
                <a16:creationId xmlns:a16="http://schemas.microsoft.com/office/drawing/2014/main" id="{42EBAC24-C594-0F0D-84EA-895F7FD36F60}"/>
              </a:ext>
            </a:extLst>
          </p:cNvPr>
          <p:cNvSpPr/>
          <p:nvPr/>
        </p:nvSpPr>
        <p:spPr>
          <a:xfrm>
            <a:off x="787955" y="5066250"/>
            <a:ext cx="1097280" cy="250889"/>
          </a:xfrm>
          <a:prstGeom prst="roundRect">
            <a:avLst/>
          </a:prstGeom>
          <a:solidFill>
            <a:srgbClr val="008FD2"/>
          </a:solidFill>
        </p:spPr>
        <p:txBody>
          <a:bodyPr wrap="square" lIns="0" tIns="0" rIns="0" bIns="0" rtlCol="0" anchor="ctr"/>
          <a:lstStyle/>
          <a:p>
            <a:pPr algn="ctr" defTabSz="554061"/>
            <a:r>
              <a:rPr lang="en-US" sz="1200" dirty="0">
                <a:solidFill>
                  <a:prstClr val="white"/>
                </a:solidFill>
                <a:latin typeface="Calibri" panose="020F0502020204030204"/>
              </a:rPr>
              <a:t>SuccessFactors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E9D1694-28E4-D58F-2C36-9FCB81D11C95}"/>
              </a:ext>
            </a:extLst>
          </p:cNvPr>
          <p:cNvSpPr/>
          <p:nvPr/>
        </p:nvSpPr>
        <p:spPr>
          <a:xfrm>
            <a:off x="787955" y="5423510"/>
            <a:ext cx="1097280" cy="250889"/>
          </a:xfrm>
          <a:prstGeom prst="roundRect">
            <a:avLst/>
          </a:prstGeom>
          <a:solidFill>
            <a:srgbClr val="008FD2"/>
          </a:solidFill>
        </p:spPr>
        <p:txBody>
          <a:bodyPr wrap="square" lIns="0" tIns="0" rIns="0" bIns="0" rtlCol="0" anchor="ctr"/>
          <a:lstStyle/>
          <a:p>
            <a:pPr algn="ctr" defTabSz="554061"/>
            <a:r>
              <a:rPr lang="en-US" sz="1200" dirty="0">
                <a:solidFill>
                  <a:prstClr val="white"/>
                </a:solidFill>
                <a:latin typeface="Calibri" panose="020F0502020204030204"/>
              </a:rPr>
              <a:t>Ariba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9EAB1AD-CDCA-7298-F017-80851EC416C5}"/>
              </a:ext>
            </a:extLst>
          </p:cNvPr>
          <p:cNvSpPr/>
          <p:nvPr/>
        </p:nvSpPr>
        <p:spPr>
          <a:xfrm>
            <a:off x="787955" y="5797490"/>
            <a:ext cx="1097280" cy="250889"/>
          </a:xfrm>
          <a:prstGeom prst="roundRect">
            <a:avLst/>
          </a:prstGeom>
          <a:solidFill>
            <a:srgbClr val="008FD2"/>
          </a:solidFill>
        </p:spPr>
        <p:txBody>
          <a:bodyPr wrap="square" lIns="0" tIns="0" rIns="0" bIns="0" rtlCol="0" anchor="ctr"/>
          <a:lstStyle/>
          <a:p>
            <a:pPr algn="ctr" defTabSz="554061"/>
            <a:r>
              <a:rPr lang="en-US" sz="1200" dirty="0">
                <a:solidFill>
                  <a:prstClr val="white"/>
                </a:solidFill>
                <a:latin typeface="Calibri" panose="020F0502020204030204"/>
              </a:rPr>
              <a:t>Concur</a:t>
            </a: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24935196-8A10-F06F-71BA-A4B9A540553A}"/>
              </a:ext>
            </a:extLst>
          </p:cNvPr>
          <p:cNvCxnSpPr>
            <a:cxnSpLocks/>
          </p:cNvCxnSpPr>
          <p:nvPr/>
        </p:nvCxnSpPr>
        <p:spPr>
          <a:xfrm>
            <a:off x="2068024" y="5549177"/>
            <a:ext cx="789717" cy="307153"/>
          </a:xfrm>
          <a:prstGeom prst="bentConnector3">
            <a:avLst/>
          </a:prstGeom>
          <a:noFill/>
          <a:ln w="19050" cap="flat" cmpd="sng" algn="ctr">
            <a:solidFill>
              <a:srgbClr val="0063BE">
                <a:shade val="95000"/>
                <a:satMod val="105000"/>
              </a:srgbClr>
            </a:solidFill>
            <a:prstDash val="solid"/>
            <a:headEnd type="triangle"/>
            <a:tailEnd type="triangle"/>
          </a:ln>
          <a:effectLst/>
        </p:spPr>
      </p:cxnSp>
      <p:sp>
        <p:nvSpPr>
          <p:cNvPr id="43" name="Rounded Rectangle 103">
            <a:extLst>
              <a:ext uri="{FF2B5EF4-FFF2-40B4-BE49-F238E27FC236}">
                <a16:creationId xmlns:a16="http://schemas.microsoft.com/office/drawing/2014/main" id="{8A236EBD-1A6E-6AE0-E6E0-059A36F44ABD}"/>
              </a:ext>
            </a:extLst>
          </p:cNvPr>
          <p:cNvSpPr/>
          <p:nvPr/>
        </p:nvSpPr>
        <p:spPr>
          <a:xfrm>
            <a:off x="3526111" y="3784825"/>
            <a:ext cx="1341120" cy="268224"/>
          </a:xfrm>
          <a:prstGeom prst="roundRect">
            <a:avLst/>
          </a:prstGeom>
          <a:solidFill>
            <a:srgbClr val="0063BE">
              <a:lumMod val="50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354">
              <a:defRPr/>
            </a:pPr>
            <a:r>
              <a:rPr lang="en-US" sz="800" b="1" kern="0">
                <a:solidFill>
                  <a:srgbClr val="FF0000"/>
                </a:solidFill>
                <a:latin typeface="Calibri" panose="020F0502020204030204"/>
              </a:rPr>
              <a:t> </a:t>
            </a:r>
            <a:r>
              <a:rPr lang="en-US" sz="800" b="1" kern="0">
                <a:solidFill>
                  <a:prstClr val="white"/>
                </a:solidFill>
                <a:latin typeface="Calibri" panose="020F0502020204030204"/>
              </a:rPr>
              <a:t>Controlling</a:t>
            </a:r>
            <a:endParaRPr lang="en-US" sz="800" kern="0" baseline="30000">
              <a:solidFill>
                <a:srgbClr val="FF0000"/>
              </a:solidFill>
              <a:latin typeface="Calibri" panose="020F0502020204030204"/>
            </a:endParaRPr>
          </a:p>
        </p:txBody>
      </p:sp>
      <p:sp>
        <p:nvSpPr>
          <p:cNvPr id="44" name="Rounded Rectangle 101">
            <a:extLst>
              <a:ext uri="{FF2B5EF4-FFF2-40B4-BE49-F238E27FC236}">
                <a16:creationId xmlns:a16="http://schemas.microsoft.com/office/drawing/2014/main" id="{E7509022-ED77-5567-9AEA-14B10E646D47}"/>
              </a:ext>
            </a:extLst>
          </p:cNvPr>
          <p:cNvSpPr/>
          <p:nvPr/>
        </p:nvSpPr>
        <p:spPr>
          <a:xfrm>
            <a:off x="4190916" y="4152731"/>
            <a:ext cx="1341120" cy="268224"/>
          </a:xfrm>
          <a:prstGeom prst="roundRect">
            <a:avLst/>
          </a:prstGeom>
          <a:solidFill>
            <a:srgbClr val="0063BE">
              <a:lumMod val="50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354">
              <a:defRPr/>
            </a:pPr>
            <a:r>
              <a:rPr lang="en-US" sz="800" kern="0">
                <a:solidFill>
                  <a:prstClr val="white"/>
                </a:solidFill>
                <a:latin typeface="Calibri" panose="020F0502020204030204"/>
              </a:rPr>
              <a:t>Sales &amp; Distribution</a:t>
            </a:r>
          </a:p>
        </p:txBody>
      </p:sp>
      <p:sp>
        <p:nvSpPr>
          <p:cNvPr id="45" name="Rounded Rectangle 101">
            <a:extLst>
              <a:ext uri="{FF2B5EF4-FFF2-40B4-BE49-F238E27FC236}">
                <a16:creationId xmlns:a16="http://schemas.microsoft.com/office/drawing/2014/main" id="{F0EA7898-E340-783B-E303-1C51BC9C507C}"/>
              </a:ext>
            </a:extLst>
          </p:cNvPr>
          <p:cNvSpPr/>
          <p:nvPr/>
        </p:nvSpPr>
        <p:spPr>
          <a:xfrm>
            <a:off x="4953653" y="3784825"/>
            <a:ext cx="1341120" cy="268224"/>
          </a:xfrm>
          <a:prstGeom prst="roundRect">
            <a:avLst/>
          </a:prstGeom>
          <a:solidFill>
            <a:srgbClr val="0063BE">
              <a:lumMod val="50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354">
              <a:defRPr/>
            </a:pPr>
            <a:r>
              <a:rPr lang="en-US" sz="800" kern="0">
                <a:solidFill>
                  <a:prstClr val="white"/>
                </a:solidFill>
                <a:latin typeface="Calibri" panose="020F0502020204030204"/>
              </a:rPr>
              <a:t>Project Systems</a:t>
            </a:r>
          </a:p>
        </p:txBody>
      </p:sp>
      <p:sp>
        <p:nvSpPr>
          <p:cNvPr id="49" name="Rounded Rectangle 103">
            <a:extLst>
              <a:ext uri="{FF2B5EF4-FFF2-40B4-BE49-F238E27FC236}">
                <a16:creationId xmlns:a16="http://schemas.microsoft.com/office/drawing/2014/main" id="{7AA7A991-94E5-85AC-270E-C7450B147C18}"/>
              </a:ext>
            </a:extLst>
          </p:cNvPr>
          <p:cNvSpPr/>
          <p:nvPr/>
        </p:nvSpPr>
        <p:spPr>
          <a:xfrm>
            <a:off x="6371987" y="3784825"/>
            <a:ext cx="1341120" cy="268224"/>
          </a:xfrm>
          <a:prstGeom prst="roundRect">
            <a:avLst/>
          </a:prstGeom>
          <a:solidFill>
            <a:srgbClr val="0063BE">
              <a:lumMod val="50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354">
              <a:defRPr/>
            </a:pPr>
            <a:r>
              <a:rPr lang="en-US" sz="800" kern="0">
                <a:solidFill>
                  <a:prstClr val="white"/>
                </a:solidFill>
                <a:latin typeface="Calibri" panose="020F0502020204030204"/>
              </a:rPr>
              <a:t>Procure to Pay</a:t>
            </a:r>
          </a:p>
        </p:txBody>
      </p:sp>
      <p:sp>
        <p:nvSpPr>
          <p:cNvPr id="50" name="Rounded Rectangle 101">
            <a:extLst>
              <a:ext uri="{FF2B5EF4-FFF2-40B4-BE49-F238E27FC236}">
                <a16:creationId xmlns:a16="http://schemas.microsoft.com/office/drawing/2014/main" id="{779E8193-8CF3-6578-05F6-74B5E4E26638}"/>
              </a:ext>
            </a:extLst>
          </p:cNvPr>
          <p:cNvSpPr/>
          <p:nvPr/>
        </p:nvSpPr>
        <p:spPr>
          <a:xfrm>
            <a:off x="4975232" y="3384161"/>
            <a:ext cx="1341120" cy="268224"/>
          </a:xfrm>
          <a:prstGeom prst="roundRect">
            <a:avLst/>
          </a:prstGeom>
          <a:solidFill>
            <a:srgbClr val="0063BE">
              <a:lumMod val="50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354">
              <a:defRPr/>
            </a:pPr>
            <a:r>
              <a:rPr lang="en-US" sz="800" b="1" kern="0">
                <a:solidFill>
                  <a:srgbClr val="FFFF00"/>
                </a:solidFill>
                <a:latin typeface="Calibri" panose="020F0502020204030204"/>
              </a:rPr>
              <a:t> </a:t>
            </a:r>
            <a:r>
              <a:rPr lang="en-US" sz="800" kern="0">
                <a:solidFill>
                  <a:prstClr val="white"/>
                </a:solidFill>
                <a:latin typeface="Calibri" panose="020F0502020204030204"/>
              </a:rPr>
              <a:t>Group Reporting</a:t>
            </a:r>
          </a:p>
        </p:txBody>
      </p:sp>
      <p:sp>
        <p:nvSpPr>
          <p:cNvPr id="70" name="Rounded Rectangle 103">
            <a:extLst>
              <a:ext uri="{FF2B5EF4-FFF2-40B4-BE49-F238E27FC236}">
                <a16:creationId xmlns:a16="http://schemas.microsoft.com/office/drawing/2014/main" id="{9E0AA7B5-EC76-5788-5FF3-3212D43F5C65}"/>
              </a:ext>
            </a:extLst>
          </p:cNvPr>
          <p:cNvSpPr/>
          <p:nvPr/>
        </p:nvSpPr>
        <p:spPr>
          <a:xfrm>
            <a:off x="6393565" y="3422609"/>
            <a:ext cx="1341120" cy="268224"/>
          </a:xfrm>
          <a:prstGeom prst="roundRect">
            <a:avLst/>
          </a:prstGeom>
          <a:solidFill>
            <a:srgbClr val="00315F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354">
              <a:defRPr/>
            </a:pPr>
            <a:r>
              <a:rPr lang="en-US" sz="800" kern="0">
                <a:solidFill>
                  <a:prstClr val="white"/>
                </a:solidFill>
                <a:latin typeface="Calibri" panose="020F0502020204030204"/>
              </a:rPr>
              <a:t>FSCM – TRM &amp; Cash Mgt</a:t>
            </a:r>
            <a:endParaRPr lang="en-US" sz="667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4" name="Rounded Rectangle 103">
            <a:extLst>
              <a:ext uri="{FF2B5EF4-FFF2-40B4-BE49-F238E27FC236}">
                <a16:creationId xmlns:a16="http://schemas.microsoft.com/office/drawing/2014/main" id="{B1787EDC-7498-B079-C6B2-362AFB7053A5}"/>
              </a:ext>
            </a:extLst>
          </p:cNvPr>
          <p:cNvSpPr/>
          <p:nvPr/>
        </p:nvSpPr>
        <p:spPr>
          <a:xfrm>
            <a:off x="6066037" y="4154993"/>
            <a:ext cx="1341120" cy="268224"/>
          </a:xfrm>
          <a:prstGeom prst="roundRect">
            <a:avLst/>
          </a:prstGeom>
          <a:solidFill>
            <a:srgbClr val="0063BE">
              <a:lumMod val="50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354">
              <a:defRPr/>
            </a:pPr>
            <a:r>
              <a:rPr lang="en-US" sz="800" kern="0">
                <a:solidFill>
                  <a:prstClr val="white"/>
                </a:solidFill>
                <a:latin typeface="Calibri" panose="020F0502020204030204"/>
              </a:rPr>
              <a:t>Contract &amp; Lease</a:t>
            </a:r>
          </a:p>
        </p:txBody>
      </p:sp>
      <p:sp>
        <p:nvSpPr>
          <p:cNvPr id="76" name="Rounded Rectangle 83">
            <a:extLst>
              <a:ext uri="{FF2B5EF4-FFF2-40B4-BE49-F238E27FC236}">
                <a16:creationId xmlns:a16="http://schemas.microsoft.com/office/drawing/2014/main" id="{C0567EFB-8850-2911-0D23-582C8CA430EE}"/>
              </a:ext>
            </a:extLst>
          </p:cNvPr>
          <p:cNvSpPr/>
          <p:nvPr/>
        </p:nvSpPr>
        <p:spPr>
          <a:xfrm>
            <a:off x="10689804" y="2062089"/>
            <a:ext cx="1097280" cy="609600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tIns="0" bIns="0" rtlCol="0" anchor="t"/>
          <a:lstStyle/>
          <a:p>
            <a:pPr algn="ctr" defTabSz="914354"/>
            <a:r>
              <a:rPr lang="en-US" sz="1067" b="1" kern="0" dirty="0">
                <a:solidFill>
                  <a:prstClr val="white"/>
                </a:solidFill>
                <a:latin typeface="Calibri" panose="020F0502020204030204"/>
              </a:rPr>
              <a:t>Epicure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1E8E1CD-C01D-49AD-2FE5-59B614FF4517}"/>
              </a:ext>
            </a:extLst>
          </p:cNvPr>
          <p:cNvSpPr txBox="1"/>
          <p:nvPr/>
        </p:nvSpPr>
        <p:spPr>
          <a:xfrm>
            <a:off x="10826964" y="2292087"/>
            <a:ext cx="822960" cy="304800"/>
          </a:xfrm>
          <a:prstGeom prst="round2SameRect">
            <a:avLst/>
          </a:prstGeom>
          <a:solidFill>
            <a:sysClr val="window" lastClr="FFFFFF"/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algn="ctr" defTabSz="914354">
              <a:defRPr/>
            </a:pPr>
            <a:r>
              <a:rPr lang="en-US" sz="933" b="1" kern="0" dirty="0">
                <a:solidFill>
                  <a:srgbClr val="000000">
                    <a:lumMod val="95000"/>
                    <a:lumOff val="5000"/>
                  </a:srgbClr>
                </a:solidFill>
                <a:latin typeface="Calibri" panose="020F0502020204030204"/>
              </a:rPr>
              <a:t>Membership fees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D236C7AB-AEC5-5147-6BD6-2C0540CD5D1E}"/>
              </a:ext>
            </a:extLst>
          </p:cNvPr>
          <p:cNvSpPr/>
          <p:nvPr/>
        </p:nvSpPr>
        <p:spPr>
          <a:xfrm>
            <a:off x="9457905" y="2026521"/>
            <a:ext cx="1097280" cy="609600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tIns="0" bIns="0" rtlCol="0" anchor="t"/>
          <a:lstStyle/>
          <a:p>
            <a:pPr algn="ctr" defTabSz="914354"/>
            <a:r>
              <a:rPr lang="en-US" sz="1067" b="1" kern="0" dirty="0">
                <a:solidFill>
                  <a:prstClr val="white"/>
                </a:solidFill>
                <a:latin typeface="Calibri" panose="020F0502020204030204"/>
              </a:rPr>
              <a:t>Loyalty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944D89A-0E33-C887-0FA0-86E7F7E79A62}"/>
              </a:ext>
            </a:extLst>
          </p:cNvPr>
          <p:cNvSpPr txBox="1"/>
          <p:nvPr/>
        </p:nvSpPr>
        <p:spPr>
          <a:xfrm>
            <a:off x="9560222" y="2231041"/>
            <a:ext cx="902533" cy="304800"/>
          </a:xfrm>
          <a:prstGeom prst="round2SameRect">
            <a:avLst/>
          </a:prstGeom>
          <a:solidFill>
            <a:sysClr val="window" lastClr="FFFFFF"/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algn="ctr" defTabSz="914354">
              <a:defRPr/>
            </a:pPr>
            <a:r>
              <a:rPr lang="en-US" sz="933" b="1" kern="0" dirty="0">
                <a:solidFill>
                  <a:srgbClr val="000000">
                    <a:lumMod val="95000"/>
                    <a:lumOff val="5000"/>
                  </a:srgbClr>
                </a:solidFill>
                <a:latin typeface="Calibri" panose="020F0502020204030204"/>
              </a:rPr>
              <a:t>Loyalty Data</a:t>
            </a:r>
          </a:p>
        </p:txBody>
      </p:sp>
      <p:sp>
        <p:nvSpPr>
          <p:cNvPr id="80" name="Rounded Rectangle 53">
            <a:extLst>
              <a:ext uri="{FF2B5EF4-FFF2-40B4-BE49-F238E27FC236}">
                <a16:creationId xmlns:a16="http://schemas.microsoft.com/office/drawing/2014/main" id="{6C9D2A33-FFA4-37F4-D0F6-5B984B3F2EB3}"/>
              </a:ext>
            </a:extLst>
          </p:cNvPr>
          <p:cNvSpPr/>
          <p:nvPr/>
        </p:nvSpPr>
        <p:spPr>
          <a:xfrm>
            <a:off x="651500" y="2528000"/>
            <a:ext cx="1392475" cy="446032"/>
          </a:xfrm>
          <a:prstGeom prst="roundRect">
            <a:avLst/>
          </a:prstGeom>
          <a:solidFill>
            <a:srgbClr val="0063BE">
              <a:lumMod val="40000"/>
              <a:lumOff val="60000"/>
              <a:alpha val="32000"/>
            </a:srgbClr>
          </a:solidFill>
          <a:ln w="9525" cap="flat" cmpd="sng" algn="ctr">
            <a:solidFill>
              <a:srgbClr val="0063BE"/>
            </a:solidFill>
            <a:prstDash val="solid"/>
          </a:ln>
          <a:effectLst/>
        </p:spPr>
        <p:txBody>
          <a:bodyPr tIns="0" rtlCol="0" anchor="t"/>
          <a:lstStyle/>
          <a:p>
            <a:pPr algn="ctr" defTabSz="914354">
              <a:defRPr/>
            </a:pPr>
            <a:r>
              <a:rPr lang="en-US" sz="1100" b="1" kern="0" dirty="0">
                <a:solidFill>
                  <a:srgbClr val="000000"/>
                </a:solidFill>
                <a:latin typeface="Calibri" panose="020F0502020204030204"/>
              </a:rPr>
              <a:t>SAP Open Text VIM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68ACD8DF-5351-9EA9-1513-98292636CCD9}"/>
              </a:ext>
            </a:extLst>
          </p:cNvPr>
          <p:cNvCxnSpPr>
            <a:cxnSpLocks/>
          </p:cNvCxnSpPr>
          <p:nvPr/>
        </p:nvCxnSpPr>
        <p:spPr>
          <a:xfrm flipV="1">
            <a:off x="1280349" y="2966534"/>
            <a:ext cx="0" cy="368543"/>
          </a:xfrm>
          <a:prstGeom prst="straightConnector1">
            <a:avLst/>
          </a:prstGeom>
          <a:noFill/>
          <a:ln w="19050" cap="flat" cmpd="sng" algn="ctr">
            <a:solidFill>
              <a:srgbClr val="0063BE">
                <a:shade val="95000"/>
                <a:satMod val="105000"/>
              </a:srgbClr>
            </a:solidFill>
            <a:prstDash val="solid"/>
            <a:headEnd type="triangle"/>
            <a:tailEnd type="triangle"/>
          </a:ln>
          <a:effectLst/>
        </p:spPr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6A7F1A71-2CDA-725C-2185-965DCD305F1D}"/>
              </a:ext>
            </a:extLst>
          </p:cNvPr>
          <p:cNvSpPr txBox="1"/>
          <p:nvPr/>
        </p:nvSpPr>
        <p:spPr>
          <a:xfrm>
            <a:off x="10790206" y="1562103"/>
            <a:ext cx="902533" cy="304800"/>
          </a:xfrm>
          <a:prstGeom prst="round2SameRect">
            <a:avLst/>
          </a:prstGeom>
          <a:solidFill>
            <a:sysClr val="window" lastClr="FFFFFF"/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algn="ctr" defTabSz="914354">
              <a:defRPr/>
            </a:pPr>
            <a:r>
              <a:rPr lang="en-US" sz="933" b="1" kern="0" dirty="0">
                <a:solidFill>
                  <a:srgbClr val="000000">
                    <a:lumMod val="95000"/>
                    <a:lumOff val="5000"/>
                  </a:srgbClr>
                </a:solidFill>
                <a:latin typeface="Calibri" panose="020F0502020204030204"/>
              </a:rPr>
              <a:t>Settlement POS</a:t>
            </a:r>
          </a:p>
        </p:txBody>
      </p:sp>
      <p:sp>
        <p:nvSpPr>
          <p:cNvPr id="85" name="Rounded Rectangle 83">
            <a:extLst>
              <a:ext uri="{FF2B5EF4-FFF2-40B4-BE49-F238E27FC236}">
                <a16:creationId xmlns:a16="http://schemas.microsoft.com/office/drawing/2014/main" id="{197A81AC-C79B-B551-216D-C67783FD3F25}"/>
              </a:ext>
            </a:extLst>
          </p:cNvPr>
          <p:cNvSpPr/>
          <p:nvPr/>
        </p:nvSpPr>
        <p:spPr>
          <a:xfrm>
            <a:off x="10730967" y="2825447"/>
            <a:ext cx="1097280" cy="609600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tIns="0" bIns="0" rtlCol="0" anchor="t"/>
          <a:lstStyle/>
          <a:p>
            <a:pPr algn="ctr" defTabSz="914354"/>
            <a:r>
              <a:rPr lang="en-US" sz="1067" b="1" kern="0" dirty="0">
                <a:solidFill>
                  <a:prstClr val="white"/>
                </a:solidFill>
                <a:latin typeface="Calibri" panose="020F0502020204030204"/>
              </a:rPr>
              <a:t>Pearl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A073F2B-2111-50F0-8862-8889336A0BA5}"/>
              </a:ext>
            </a:extLst>
          </p:cNvPr>
          <p:cNvSpPr txBox="1"/>
          <p:nvPr/>
        </p:nvSpPr>
        <p:spPr>
          <a:xfrm>
            <a:off x="10868127" y="3055444"/>
            <a:ext cx="822960" cy="304800"/>
          </a:xfrm>
          <a:prstGeom prst="round2SameRect">
            <a:avLst/>
          </a:prstGeom>
          <a:solidFill>
            <a:sysClr val="window" lastClr="FFFFFF"/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algn="ctr" defTabSz="914354">
              <a:defRPr/>
            </a:pPr>
            <a:r>
              <a:rPr lang="en-US" sz="933" b="1" kern="0" dirty="0">
                <a:solidFill>
                  <a:srgbClr val="000000">
                    <a:lumMod val="95000"/>
                    <a:lumOff val="5000"/>
                  </a:srgbClr>
                </a:solidFill>
                <a:latin typeface="Calibri" panose="020F0502020204030204"/>
              </a:rPr>
              <a:t>Contracts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EF7D03EC-18F3-A4E0-31F6-F22893CD9559}"/>
              </a:ext>
            </a:extLst>
          </p:cNvPr>
          <p:cNvSpPr/>
          <p:nvPr/>
        </p:nvSpPr>
        <p:spPr>
          <a:xfrm>
            <a:off x="9499068" y="2746721"/>
            <a:ext cx="1097280" cy="609600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tIns="0" bIns="0" rtlCol="0" anchor="t"/>
          <a:lstStyle/>
          <a:p>
            <a:pPr algn="ctr" defTabSz="914354"/>
            <a:r>
              <a:rPr lang="en-US" sz="1067" b="1" kern="0" dirty="0">
                <a:solidFill>
                  <a:prstClr val="white"/>
                </a:solidFill>
                <a:latin typeface="Calibri" panose="020F0502020204030204"/>
              </a:rPr>
              <a:t>Travel Agents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E605A19-8D20-E569-C7A3-EBB83C6E35B2}"/>
              </a:ext>
            </a:extLst>
          </p:cNvPr>
          <p:cNvSpPr txBox="1"/>
          <p:nvPr/>
        </p:nvSpPr>
        <p:spPr>
          <a:xfrm>
            <a:off x="9601384" y="2951241"/>
            <a:ext cx="902533" cy="304800"/>
          </a:xfrm>
          <a:prstGeom prst="round2SameRect">
            <a:avLst/>
          </a:prstGeom>
          <a:solidFill>
            <a:sysClr val="window" lastClr="FFFFFF"/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algn="ctr" defTabSz="914354">
              <a:defRPr/>
            </a:pPr>
            <a:r>
              <a:rPr lang="en-US" sz="933" b="1" kern="0" dirty="0">
                <a:solidFill>
                  <a:srgbClr val="000000">
                    <a:lumMod val="95000"/>
                    <a:lumOff val="5000"/>
                  </a:srgbClr>
                </a:solidFill>
                <a:latin typeface="Calibri" panose="020F0502020204030204"/>
              </a:rPr>
              <a:t>Web portal</a:t>
            </a:r>
          </a:p>
        </p:txBody>
      </p:sp>
      <p:sp>
        <p:nvSpPr>
          <p:cNvPr id="89" name="Rounded Rectangle 83">
            <a:extLst>
              <a:ext uri="{FF2B5EF4-FFF2-40B4-BE49-F238E27FC236}">
                <a16:creationId xmlns:a16="http://schemas.microsoft.com/office/drawing/2014/main" id="{4713DB41-287C-9FFB-7571-E06BCB81AF5B}"/>
              </a:ext>
            </a:extLst>
          </p:cNvPr>
          <p:cNvSpPr/>
          <p:nvPr/>
        </p:nvSpPr>
        <p:spPr>
          <a:xfrm>
            <a:off x="10756367" y="3541292"/>
            <a:ext cx="1097280" cy="609600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tIns="0" bIns="0" rtlCol="0" anchor="t"/>
          <a:lstStyle/>
          <a:p>
            <a:pPr algn="ctr" defTabSz="914354"/>
            <a:r>
              <a:rPr lang="en-US" sz="1067" b="1" kern="0" dirty="0">
                <a:solidFill>
                  <a:prstClr val="white"/>
                </a:solidFill>
                <a:latin typeface="Calibri" panose="020F0502020204030204"/>
              </a:rPr>
              <a:t>Gift Card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C3D662F-AFDE-5841-CA17-1A8E0F2B2032}"/>
              </a:ext>
            </a:extLst>
          </p:cNvPr>
          <p:cNvSpPr txBox="1"/>
          <p:nvPr/>
        </p:nvSpPr>
        <p:spPr>
          <a:xfrm>
            <a:off x="10893527" y="3771289"/>
            <a:ext cx="822960" cy="304800"/>
          </a:xfrm>
          <a:prstGeom prst="round2SameRect">
            <a:avLst/>
          </a:prstGeom>
          <a:solidFill>
            <a:sysClr val="window" lastClr="FFFFFF"/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algn="ctr" defTabSz="914354">
              <a:defRPr/>
            </a:pPr>
            <a:r>
              <a:rPr lang="en-US" sz="933" b="1" kern="0" dirty="0">
                <a:solidFill>
                  <a:srgbClr val="000000">
                    <a:lumMod val="95000"/>
                    <a:lumOff val="5000"/>
                  </a:srgbClr>
                </a:solidFill>
                <a:latin typeface="Calibri" panose="020F0502020204030204"/>
              </a:rPr>
              <a:t>Epicure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84536C03-5CE4-0B37-DFEC-6B86CBCFC24F}"/>
              </a:ext>
            </a:extLst>
          </p:cNvPr>
          <p:cNvSpPr/>
          <p:nvPr/>
        </p:nvSpPr>
        <p:spPr>
          <a:xfrm>
            <a:off x="10689716" y="5188862"/>
            <a:ext cx="1097280" cy="515404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tIns="0" bIns="0" rtlCol="0" anchor="t"/>
          <a:lstStyle/>
          <a:p>
            <a:pPr algn="ctr" defTabSz="914354"/>
            <a:r>
              <a:rPr lang="en-US" sz="1067" b="1" kern="0" dirty="0">
                <a:solidFill>
                  <a:prstClr val="white"/>
                </a:solidFill>
                <a:latin typeface="Calibri" panose="020F0502020204030204"/>
              </a:rPr>
              <a:t>Data Lake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A3FF8EF-F04F-54C8-48B4-4367F33001A2}"/>
              </a:ext>
            </a:extLst>
          </p:cNvPr>
          <p:cNvSpPr txBox="1"/>
          <p:nvPr/>
        </p:nvSpPr>
        <p:spPr>
          <a:xfrm>
            <a:off x="10770454" y="5414959"/>
            <a:ext cx="902533" cy="229096"/>
          </a:xfrm>
          <a:prstGeom prst="round2SameRect">
            <a:avLst/>
          </a:prstGeom>
          <a:solidFill>
            <a:sysClr val="window" lastClr="FFFFFF"/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algn="ctr" defTabSz="914354">
              <a:defRPr/>
            </a:pPr>
            <a:r>
              <a:rPr lang="en-US" sz="933" b="1" kern="0" dirty="0">
                <a:solidFill>
                  <a:srgbClr val="000000">
                    <a:lumMod val="95000"/>
                    <a:lumOff val="5000"/>
                  </a:srgbClr>
                </a:solidFill>
                <a:latin typeface="Calibri" panose="020F0502020204030204"/>
              </a:rPr>
              <a:t>HBR data</a:t>
            </a:r>
          </a:p>
        </p:txBody>
      </p:sp>
      <p:sp>
        <p:nvSpPr>
          <p:cNvPr id="94" name="Rounded Rectangle 83">
            <a:extLst>
              <a:ext uri="{FF2B5EF4-FFF2-40B4-BE49-F238E27FC236}">
                <a16:creationId xmlns:a16="http://schemas.microsoft.com/office/drawing/2014/main" id="{2D8907CD-6E61-43E5-9DA3-7A7A17E2AD7A}"/>
              </a:ext>
            </a:extLst>
          </p:cNvPr>
          <p:cNvSpPr/>
          <p:nvPr/>
        </p:nvSpPr>
        <p:spPr>
          <a:xfrm>
            <a:off x="10756367" y="4269575"/>
            <a:ext cx="1097280" cy="609600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tIns="0" bIns="0" rtlCol="0" anchor="t"/>
          <a:lstStyle/>
          <a:p>
            <a:pPr algn="ctr" defTabSz="914354"/>
            <a:r>
              <a:rPr lang="en-US" sz="1067" b="1" kern="0" dirty="0">
                <a:solidFill>
                  <a:prstClr val="white"/>
                </a:solidFill>
                <a:latin typeface="Calibri" panose="020F0502020204030204"/>
              </a:rPr>
              <a:t>Banks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0184A35-AB58-F13C-EEF3-94F99A590E32}"/>
              </a:ext>
            </a:extLst>
          </p:cNvPr>
          <p:cNvSpPr txBox="1"/>
          <p:nvPr/>
        </p:nvSpPr>
        <p:spPr>
          <a:xfrm>
            <a:off x="10901709" y="4510361"/>
            <a:ext cx="822960" cy="304800"/>
          </a:xfrm>
          <a:prstGeom prst="round2SameRect">
            <a:avLst/>
          </a:prstGeom>
          <a:solidFill>
            <a:sysClr val="window" lastClr="FFFFFF"/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algn="ctr" defTabSz="914354">
              <a:defRPr/>
            </a:pPr>
            <a:r>
              <a:rPr lang="en-US" sz="933" b="1" kern="0" dirty="0">
                <a:solidFill>
                  <a:srgbClr val="000000">
                    <a:lumMod val="95000"/>
                    <a:lumOff val="5000"/>
                  </a:srgbClr>
                </a:solidFill>
                <a:latin typeface="Calibri" panose="020F0502020204030204"/>
              </a:rPr>
              <a:t>Bank Integration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205B7310-35A3-C101-EDAE-19409D234643}"/>
              </a:ext>
            </a:extLst>
          </p:cNvPr>
          <p:cNvSpPr/>
          <p:nvPr/>
        </p:nvSpPr>
        <p:spPr>
          <a:xfrm>
            <a:off x="9513679" y="3532700"/>
            <a:ext cx="1097280" cy="609600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tIns="0" bIns="0" rtlCol="0" anchor="t"/>
          <a:lstStyle/>
          <a:p>
            <a:pPr algn="ctr" defTabSz="914354"/>
            <a:r>
              <a:rPr lang="en-US" sz="1067" b="1" kern="0" dirty="0">
                <a:solidFill>
                  <a:prstClr val="white"/>
                </a:solidFill>
                <a:latin typeface="Calibri" panose="020F0502020204030204"/>
              </a:rPr>
              <a:t>CDM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A2DF9CC-2940-4C06-376C-2EDF2C062F5A}"/>
              </a:ext>
            </a:extLst>
          </p:cNvPr>
          <p:cNvSpPr txBox="1"/>
          <p:nvPr/>
        </p:nvSpPr>
        <p:spPr>
          <a:xfrm>
            <a:off x="9615995" y="3791167"/>
            <a:ext cx="902533" cy="304800"/>
          </a:xfrm>
          <a:prstGeom prst="round2SameRect">
            <a:avLst/>
          </a:prstGeom>
          <a:solidFill>
            <a:sysClr val="window" lastClr="FFFFFF"/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algn="ctr" defTabSz="914354">
              <a:defRPr/>
            </a:pPr>
            <a:r>
              <a:rPr lang="en-US" sz="933" b="1" kern="0" dirty="0">
                <a:solidFill>
                  <a:srgbClr val="000000">
                    <a:lumMod val="95000"/>
                    <a:lumOff val="5000"/>
                  </a:srgbClr>
                </a:solidFill>
                <a:latin typeface="Calibri" panose="020F0502020204030204"/>
              </a:rPr>
              <a:t>Customer Master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091B2F1-4FE2-1C46-BB22-F2C83369C484}"/>
              </a:ext>
            </a:extLst>
          </p:cNvPr>
          <p:cNvGrpSpPr/>
          <p:nvPr/>
        </p:nvGrpSpPr>
        <p:grpSpPr>
          <a:xfrm>
            <a:off x="7258123" y="2291077"/>
            <a:ext cx="829131" cy="487680"/>
            <a:chOff x="12511888" y="1711452"/>
            <a:chExt cx="814094" cy="505079"/>
          </a:xfrm>
        </p:grpSpPr>
        <p:grpSp>
          <p:nvGrpSpPr>
            <p:cNvPr id="8" name="object 113">
              <a:extLst>
                <a:ext uri="{FF2B5EF4-FFF2-40B4-BE49-F238E27FC236}">
                  <a16:creationId xmlns:a16="http://schemas.microsoft.com/office/drawing/2014/main" id="{3C2F6CF5-09D8-6AB2-11B1-3C4DDEE8739C}"/>
                </a:ext>
              </a:extLst>
            </p:cNvPr>
            <p:cNvGrpSpPr/>
            <p:nvPr/>
          </p:nvGrpSpPr>
          <p:grpSpPr>
            <a:xfrm>
              <a:off x="12511888" y="1711452"/>
              <a:ext cx="814094" cy="505079"/>
              <a:chOff x="10182986" y="45338"/>
              <a:chExt cx="991869" cy="379095"/>
            </a:xfrm>
          </p:grpSpPr>
          <p:sp>
            <p:nvSpPr>
              <p:cNvPr id="34" name="object 114">
                <a:extLst>
                  <a:ext uri="{FF2B5EF4-FFF2-40B4-BE49-F238E27FC236}">
                    <a16:creationId xmlns:a16="http://schemas.microsoft.com/office/drawing/2014/main" id="{A0FFD93A-8E6A-B096-945E-E1CECA8F8260}"/>
                  </a:ext>
                </a:extLst>
              </p:cNvPr>
              <p:cNvSpPr/>
              <p:nvPr/>
            </p:nvSpPr>
            <p:spPr>
              <a:xfrm>
                <a:off x="10192511" y="54863"/>
                <a:ext cx="972819" cy="360045"/>
              </a:xfrm>
              <a:custGeom>
                <a:avLst/>
                <a:gdLst/>
                <a:ahLst/>
                <a:cxnLst/>
                <a:rect l="l" t="t" r="r" b="b"/>
                <a:pathLst>
                  <a:path w="972820" h="360045">
                    <a:moveTo>
                      <a:pt x="342646" y="0"/>
                    </a:moveTo>
                    <a:lnTo>
                      <a:pt x="285844" y="5157"/>
                    </a:lnTo>
                    <a:lnTo>
                      <a:pt x="234686" y="19708"/>
                    </a:lnTo>
                    <a:lnTo>
                      <a:pt x="191261" y="42275"/>
                    </a:lnTo>
                    <a:lnTo>
                      <a:pt x="157658" y="71477"/>
                    </a:lnTo>
                    <a:lnTo>
                      <a:pt x="135965" y="105936"/>
                    </a:lnTo>
                    <a:lnTo>
                      <a:pt x="128270" y="144271"/>
                    </a:lnTo>
                    <a:lnTo>
                      <a:pt x="128270" y="151891"/>
                    </a:lnTo>
                    <a:lnTo>
                      <a:pt x="129159" y="159892"/>
                    </a:lnTo>
                    <a:lnTo>
                      <a:pt x="131445" y="167385"/>
                    </a:lnTo>
                    <a:lnTo>
                      <a:pt x="135509" y="184657"/>
                    </a:lnTo>
                    <a:lnTo>
                      <a:pt x="66222" y="197252"/>
                    </a:lnTo>
                    <a:lnTo>
                      <a:pt x="31369" y="216455"/>
                    </a:lnTo>
                    <a:lnTo>
                      <a:pt x="0" y="272922"/>
                    </a:lnTo>
                    <a:lnTo>
                      <a:pt x="10076" y="306728"/>
                    </a:lnTo>
                    <a:lnTo>
                      <a:pt x="37560" y="334295"/>
                    </a:lnTo>
                    <a:lnTo>
                      <a:pt x="78331" y="352861"/>
                    </a:lnTo>
                    <a:lnTo>
                      <a:pt x="128270" y="359663"/>
                    </a:lnTo>
                    <a:lnTo>
                      <a:pt x="857504" y="359663"/>
                    </a:lnTo>
                    <a:lnTo>
                      <a:pt x="902017" y="353613"/>
                    </a:lnTo>
                    <a:lnTo>
                      <a:pt x="938529" y="337073"/>
                    </a:lnTo>
                    <a:lnTo>
                      <a:pt x="963231" y="312461"/>
                    </a:lnTo>
                    <a:lnTo>
                      <a:pt x="972312" y="282193"/>
                    </a:lnTo>
                    <a:lnTo>
                      <a:pt x="963231" y="252120"/>
                    </a:lnTo>
                    <a:lnTo>
                      <a:pt x="938530" y="227441"/>
                    </a:lnTo>
                    <a:lnTo>
                      <a:pt x="902017" y="210738"/>
                    </a:lnTo>
                    <a:lnTo>
                      <a:pt x="869470" y="206247"/>
                    </a:lnTo>
                    <a:lnTo>
                      <a:pt x="824103" y="206247"/>
                    </a:lnTo>
                    <a:lnTo>
                      <a:pt x="822452" y="188975"/>
                    </a:lnTo>
                    <a:lnTo>
                      <a:pt x="811638" y="154048"/>
                    </a:lnTo>
                    <a:lnTo>
                      <a:pt x="786572" y="123986"/>
                    </a:lnTo>
                    <a:lnTo>
                      <a:pt x="751052" y="101218"/>
                    </a:lnTo>
                    <a:lnTo>
                      <a:pt x="548259" y="101218"/>
                    </a:lnTo>
                    <a:lnTo>
                      <a:pt x="537210" y="85089"/>
                    </a:lnTo>
                    <a:lnTo>
                      <a:pt x="511842" y="56392"/>
                    </a:lnTo>
                    <a:lnTo>
                      <a:pt x="478013" y="32808"/>
                    </a:lnTo>
                    <a:lnTo>
                      <a:pt x="437412" y="15065"/>
                    </a:lnTo>
                    <a:lnTo>
                      <a:pt x="391726" y="3887"/>
                    </a:lnTo>
                    <a:lnTo>
                      <a:pt x="342646" y="0"/>
                    </a:lnTo>
                    <a:close/>
                  </a:path>
                  <a:path w="972820" h="360045">
                    <a:moveTo>
                      <a:pt x="857504" y="204596"/>
                    </a:moveTo>
                    <a:lnTo>
                      <a:pt x="855218" y="204596"/>
                    </a:lnTo>
                    <a:lnTo>
                      <a:pt x="852805" y="205104"/>
                    </a:lnTo>
                    <a:lnTo>
                      <a:pt x="849630" y="205104"/>
                    </a:lnTo>
                    <a:lnTo>
                      <a:pt x="824103" y="206247"/>
                    </a:lnTo>
                    <a:lnTo>
                      <a:pt x="869470" y="206247"/>
                    </a:lnTo>
                    <a:lnTo>
                      <a:pt x="857504" y="204596"/>
                    </a:lnTo>
                    <a:close/>
                  </a:path>
                  <a:path w="972820" h="360045">
                    <a:moveTo>
                      <a:pt x="651891" y="79628"/>
                    </a:moveTo>
                    <a:lnTo>
                      <a:pt x="610885" y="82930"/>
                    </a:lnTo>
                    <a:lnTo>
                      <a:pt x="572262" y="93090"/>
                    </a:lnTo>
                    <a:lnTo>
                      <a:pt x="548259" y="101218"/>
                    </a:lnTo>
                    <a:lnTo>
                      <a:pt x="751052" y="101218"/>
                    </a:lnTo>
                    <a:lnTo>
                      <a:pt x="749857" y="100452"/>
                    </a:lnTo>
                    <a:lnTo>
                      <a:pt x="704096" y="85112"/>
                    </a:lnTo>
                    <a:lnTo>
                      <a:pt x="651891" y="79628"/>
                    </a:lnTo>
                    <a:close/>
                  </a:path>
                </a:pathLst>
              </a:custGeom>
              <a:solidFill>
                <a:srgbClr val="008FD2"/>
              </a:solidFill>
            </p:spPr>
            <p:txBody>
              <a:bodyPr wrap="square" lIns="0" tIns="0" rIns="0" bIns="0" rtlCol="0" anchor="ctr"/>
              <a:lstStyle/>
              <a:p>
                <a:pPr algn="ctr" defTabSz="554047">
                  <a:defRPr/>
                </a:pPr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5" name="object 115">
                <a:extLst>
                  <a:ext uri="{FF2B5EF4-FFF2-40B4-BE49-F238E27FC236}">
                    <a16:creationId xmlns:a16="http://schemas.microsoft.com/office/drawing/2014/main" id="{E4763FA3-9D86-27C5-BB89-D99C4F7E614F}"/>
                  </a:ext>
                </a:extLst>
              </p:cNvPr>
              <p:cNvSpPr/>
              <p:nvPr/>
            </p:nvSpPr>
            <p:spPr>
              <a:xfrm>
                <a:off x="10192511" y="54863"/>
                <a:ext cx="972819" cy="360045"/>
              </a:xfrm>
              <a:custGeom>
                <a:avLst/>
                <a:gdLst/>
                <a:ahLst/>
                <a:cxnLst/>
                <a:rect l="l" t="t" r="r" b="b"/>
                <a:pathLst>
                  <a:path w="972820" h="360045">
                    <a:moveTo>
                      <a:pt x="128270" y="359663"/>
                    </a:moveTo>
                    <a:lnTo>
                      <a:pt x="78331" y="352861"/>
                    </a:lnTo>
                    <a:lnTo>
                      <a:pt x="37560" y="334295"/>
                    </a:lnTo>
                    <a:lnTo>
                      <a:pt x="10076" y="306728"/>
                    </a:lnTo>
                    <a:lnTo>
                      <a:pt x="0" y="272922"/>
                    </a:lnTo>
                    <a:lnTo>
                      <a:pt x="8326" y="242492"/>
                    </a:lnTo>
                    <a:lnTo>
                      <a:pt x="66222" y="197252"/>
                    </a:lnTo>
                    <a:lnTo>
                      <a:pt x="109982" y="187325"/>
                    </a:lnTo>
                    <a:lnTo>
                      <a:pt x="132318" y="184991"/>
                    </a:lnTo>
                    <a:lnTo>
                      <a:pt x="135110" y="184699"/>
                    </a:lnTo>
                    <a:lnTo>
                      <a:pt x="135509" y="184657"/>
                    </a:lnTo>
                    <a:lnTo>
                      <a:pt x="131445" y="167385"/>
                    </a:lnTo>
                    <a:lnTo>
                      <a:pt x="129159" y="159892"/>
                    </a:lnTo>
                    <a:lnTo>
                      <a:pt x="128270" y="151891"/>
                    </a:lnTo>
                    <a:lnTo>
                      <a:pt x="128270" y="144271"/>
                    </a:lnTo>
                    <a:lnTo>
                      <a:pt x="135965" y="105936"/>
                    </a:lnTo>
                    <a:lnTo>
                      <a:pt x="157658" y="71477"/>
                    </a:lnTo>
                    <a:lnTo>
                      <a:pt x="191261" y="42275"/>
                    </a:lnTo>
                    <a:lnTo>
                      <a:pt x="234686" y="19708"/>
                    </a:lnTo>
                    <a:lnTo>
                      <a:pt x="285844" y="5157"/>
                    </a:lnTo>
                    <a:lnTo>
                      <a:pt x="342646" y="0"/>
                    </a:lnTo>
                    <a:lnTo>
                      <a:pt x="391726" y="3887"/>
                    </a:lnTo>
                    <a:lnTo>
                      <a:pt x="437412" y="15065"/>
                    </a:lnTo>
                    <a:lnTo>
                      <a:pt x="478013" y="32808"/>
                    </a:lnTo>
                    <a:lnTo>
                      <a:pt x="511842" y="56392"/>
                    </a:lnTo>
                    <a:lnTo>
                      <a:pt x="537210" y="85089"/>
                    </a:lnTo>
                    <a:lnTo>
                      <a:pt x="548259" y="101218"/>
                    </a:lnTo>
                    <a:lnTo>
                      <a:pt x="572262" y="93090"/>
                    </a:lnTo>
                    <a:lnTo>
                      <a:pt x="591186" y="87129"/>
                    </a:lnTo>
                    <a:lnTo>
                      <a:pt x="610885" y="82930"/>
                    </a:lnTo>
                    <a:lnTo>
                      <a:pt x="631180" y="80446"/>
                    </a:lnTo>
                    <a:lnTo>
                      <a:pt x="651891" y="79628"/>
                    </a:lnTo>
                    <a:lnTo>
                      <a:pt x="704096" y="85112"/>
                    </a:lnTo>
                    <a:lnTo>
                      <a:pt x="749857" y="100452"/>
                    </a:lnTo>
                    <a:lnTo>
                      <a:pt x="786572" y="123986"/>
                    </a:lnTo>
                    <a:lnTo>
                      <a:pt x="811638" y="154048"/>
                    </a:lnTo>
                    <a:lnTo>
                      <a:pt x="824103" y="206247"/>
                    </a:lnTo>
                    <a:lnTo>
                      <a:pt x="838860" y="205587"/>
                    </a:lnTo>
                    <a:lnTo>
                      <a:pt x="846439" y="205247"/>
                    </a:lnTo>
                    <a:lnTo>
                      <a:pt x="849231" y="205122"/>
                    </a:lnTo>
                    <a:lnTo>
                      <a:pt x="849630" y="205104"/>
                    </a:lnTo>
                    <a:lnTo>
                      <a:pt x="852805" y="205104"/>
                    </a:lnTo>
                    <a:lnTo>
                      <a:pt x="855218" y="204596"/>
                    </a:lnTo>
                    <a:lnTo>
                      <a:pt x="857504" y="204596"/>
                    </a:lnTo>
                    <a:lnTo>
                      <a:pt x="902017" y="210738"/>
                    </a:lnTo>
                    <a:lnTo>
                      <a:pt x="938530" y="227441"/>
                    </a:lnTo>
                    <a:lnTo>
                      <a:pt x="963231" y="252120"/>
                    </a:lnTo>
                    <a:lnTo>
                      <a:pt x="972312" y="282193"/>
                    </a:lnTo>
                    <a:lnTo>
                      <a:pt x="963231" y="312461"/>
                    </a:lnTo>
                    <a:lnTo>
                      <a:pt x="938529" y="337073"/>
                    </a:lnTo>
                    <a:lnTo>
                      <a:pt x="902017" y="353613"/>
                    </a:lnTo>
                    <a:lnTo>
                      <a:pt x="857504" y="359663"/>
                    </a:lnTo>
                    <a:lnTo>
                      <a:pt x="128270" y="359663"/>
                    </a:lnTo>
                    <a:close/>
                  </a:path>
                </a:pathLst>
              </a:custGeom>
              <a:ln w="19050">
                <a:solidFill>
                  <a:srgbClr val="C3EBFF"/>
                </a:solidFill>
              </a:ln>
            </p:spPr>
            <p:txBody>
              <a:bodyPr wrap="square" lIns="0" tIns="0" rIns="0" bIns="0" rtlCol="0"/>
              <a:lstStyle/>
              <a:p>
                <a:pPr defTabSz="554047">
                  <a:defRPr/>
                </a:pPr>
                <a:endParaRPr sz="1091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24B33F4-ECCD-DA18-B2B5-C872417D250D}"/>
                </a:ext>
              </a:extLst>
            </p:cNvPr>
            <p:cNvSpPr txBox="1"/>
            <p:nvPr/>
          </p:nvSpPr>
          <p:spPr>
            <a:xfrm>
              <a:off x="12639102" y="1834616"/>
              <a:ext cx="588772" cy="3506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554047">
                <a:defRPr/>
              </a:pPr>
              <a:r>
                <a:rPr lang="en-US" sz="800">
                  <a:solidFill>
                    <a:prstClr val="white"/>
                  </a:solidFill>
                  <a:latin typeface="Calibri" panose="020F0502020204030204"/>
                </a:rPr>
                <a:t>Private </a:t>
              </a:r>
            </a:p>
            <a:p>
              <a:pPr defTabSz="554047">
                <a:defRPr/>
              </a:pPr>
              <a:r>
                <a:rPr lang="en-US" sz="800">
                  <a:solidFill>
                    <a:prstClr val="white"/>
                  </a:solidFill>
                  <a:latin typeface="Calibri" panose="020F0502020204030204"/>
                </a:rPr>
                <a:t>Cloud</a:t>
              </a:r>
            </a:p>
          </p:txBody>
        </p:sp>
      </p:grp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286936D3-6804-4E4B-3B57-6F42265E56DA}"/>
              </a:ext>
            </a:extLst>
          </p:cNvPr>
          <p:cNvSpPr/>
          <p:nvPr/>
        </p:nvSpPr>
        <p:spPr>
          <a:xfrm>
            <a:off x="9533460" y="4275367"/>
            <a:ext cx="1097280" cy="609600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tIns="0" bIns="0" rtlCol="0" anchor="t"/>
          <a:lstStyle/>
          <a:p>
            <a:pPr algn="ctr" defTabSz="914354"/>
            <a:r>
              <a:rPr lang="en-US" sz="1067" b="1" kern="0" dirty="0">
                <a:solidFill>
                  <a:prstClr val="white"/>
                </a:solidFill>
                <a:latin typeface="Calibri" panose="020F0502020204030204"/>
              </a:rPr>
              <a:t>HGS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CEB63B9-0378-F4D0-2445-52F47B1F0110}"/>
              </a:ext>
            </a:extLst>
          </p:cNvPr>
          <p:cNvSpPr txBox="1"/>
          <p:nvPr/>
        </p:nvSpPr>
        <p:spPr>
          <a:xfrm>
            <a:off x="9635776" y="4523044"/>
            <a:ext cx="902533" cy="304800"/>
          </a:xfrm>
          <a:prstGeom prst="round2SameRect">
            <a:avLst/>
          </a:prstGeom>
          <a:solidFill>
            <a:sysClr val="window" lastClr="FFFFFF"/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algn="ctr" defTabSz="914354">
              <a:defRPr/>
            </a:pPr>
            <a:r>
              <a:rPr lang="en-US" sz="933" b="1" kern="0" dirty="0">
                <a:solidFill>
                  <a:srgbClr val="000000">
                    <a:lumMod val="95000"/>
                    <a:lumOff val="5000"/>
                  </a:srgbClr>
                </a:solidFill>
                <a:latin typeface="Calibri" panose="020F0502020204030204"/>
              </a:rPr>
              <a:t>Payroll JV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3892946-46BE-679E-FC29-862EC8856A70}"/>
              </a:ext>
            </a:extLst>
          </p:cNvPr>
          <p:cNvCxnSpPr>
            <a:cxnSpLocks/>
            <a:stCxn id="36" idx="2"/>
          </p:cNvCxnSpPr>
          <p:nvPr/>
        </p:nvCxnSpPr>
        <p:spPr>
          <a:xfrm>
            <a:off x="8879805" y="3796945"/>
            <a:ext cx="331915" cy="0"/>
          </a:xfrm>
          <a:prstGeom prst="straightConnector1">
            <a:avLst/>
          </a:prstGeom>
          <a:noFill/>
          <a:ln w="19050" cap="flat" cmpd="sng" algn="ctr">
            <a:solidFill>
              <a:srgbClr val="0063BE">
                <a:shade val="95000"/>
                <a:satMod val="105000"/>
              </a:srgbClr>
            </a:solidFill>
            <a:prstDash val="solid"/>
            <a:headEnd type="triangle"/>
            <a:tailEnd type="triangle"/>
          </a:ln>
          <a:effectLst/>
        </p:spPr>
      </p:cxnSp>
      <p:cxnSp>
        <p:nvCxnSpPr>
          <p:cNvPr id="102" name="Connector: Elbow 101">
            <a:extLst>
              <a:ext uri="{FF2B5EF4-FFF2-40B4-BE49-F238E27FC236}">
                <a16:creationId xmlns:a16="http://schemas.microsoft.com/office/drawing/2014/main" id="{49559FFE-0984-F9DD-E6A5-7049E361D94A}"/>
              </a:ext>
            </a:extLst>
          </p:cNvPr>
          <p:cNvCxnSpPr>
            <a:cxnSpLocks/>
          </p:cNvCxnSpPr>
          <p:nvPr/>
        </p:nvCxnSpPr>
        <p:spPr>
          <a:xfrm>
            <a:off x="2033277" y="5922934"/>
            <a:ext cx="831728" cy="591367"/>
          </a:xfrm>
          <a:prstGeom prst="bentConnector3">
            <a:avLst>
              <a:gd name="adj1" fmla="val 50000"/>
            </a:avLst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DB594349-EE6E-979B-716E-3CB351611334}"/>
              </a:ext>
            </a:extLst>
          </p:cNvPr>
          <p:cNvSpPr/>
          <p:nvPr/>
        </p:nvSpPr>
        <p:spPr>
          <a:xfrm>
            <a:off x="787955" y="4698828"/>
            <a:ext cx="1097280" cy="250889"/>
          </a:xfrm>
          <a:prstGeom prst="roundRect">
            <a:avLst/>
          </a:prstGeom>
          <a:solidFill>
            <a:srgbClr val="008FD2"/>
          </a:solidFill>
        </p:spPr>
        <p:txBody>
          <a:bodyPr wrap="square" lIns="0" tIns="0" rIns="0" bIns="0" rtlCol="0" anchor="ctr"/>
          <a:lstStyle/>
          <a:p>
            <a:pPr algn="ctr" defTabSz="554061"/>
            <a:r>
              <a:rPr lang="en-US" sz="1200" dirty="0">
                <a:solidFill>
                  <a:prstClr val="white"/>
                </a:solidFill>
                <a:latin typeface="Calibri" panose="020F0502020204030204"/>
              </a:rPr>
              <a:t>DCS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2AE3D337-C22C-2A6B-F314-D0A8D2016CA0}"/>
              </a:ext>
            </a:extLst>
          </p:cNvPr>
          <p:cNvSpPr/>
          <p:nvPr/>
        </p:nvSpPr>
        <p:spPr>
          <a:xfrm>
            <a:off x="10012319" y="5772701"/>
            <a:ext cx="1097280" cy="515551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tIns="0" bIns="0" rtlCol="0" anchor="t"/>
          <a:lstStyle/>
          <a:p>
            <a:pPr algn="ctr" defTabSz="914354"/>
            <a:r>
              <a:rPr lang="en-US" sz="1067" b="1" kern="0" dirty="0">
                <a:solidFill>
                  <a:prstClr val="white"/>
                </a:solidFill>
                <a:latin typeface="Calibri" panose="020F0502020204030204"/>
              </a:rPr>
              <a:t>Anaplan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997484F-02AD-1AFD-F0E8-4FEB1798511F}"/>
              </a:ext>
            </a:extLst>
          </p:cNvPr>
          <p:cNvSpPr txBox="1"/>
          <p:nvPr/>
        </p:nvSpPr>
        <p:spPr>
          <a:xfrm>
            <a:off x="10136215" y="5988010"/>
            <a:ext cx="902533" cy="220909"/>
          </a:xfrm>
          <a:prstGeom prst="round2SameRect">
            <a:avLst/>
          </a:prstGeom>
          <a:solidFill>
            <a:sysClr val="window" lastClr="FFFFFF"/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algn="ctr" defTabSz="914354">
              <a:defRPr/>
            </a:pPr>
            <a:r>
              <a:rPr lang="en-US" sz="933" b="1" kern="0" dirty="0">
                <a:solidFill>
                  <a:srgbClr val="000000">
                    <a:lumMod val="95000"/>
                    <a:lumOff val="5000"/>
                  </a:srgbClr>
                </a:solidFill>
                <a:latin typeface="Calibri" panose="020F0502020204030204"/>
              </a:rPr>
              <a:t>RPT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F450410-B532-5FF1-1148-DE69E5C543C5}"/>
              </a:ext>
            </a:extLst>
          </p:cNvPr>
          <p:cNvSpPr txBox="1"/>
          <p:nvPr/>
        </p:nvSpPr>
        <p:spPr>
          <a:xfrm>
            <a:off x="5033871" y="6208919"/>
            <a:ext cx="3608591" cy="3711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 defTabSz="554047"/>
            <a:r>
              <a:rPr lang="en-US" sz="2133" dirty="0">
                <a:solidFill>
                  <a:srgbClr val="000000"/>
                </a:solidFill>
                <a:highlight>
                  <a:srgbClr val="FFFF00"/>
                </a:highlight>
                <a:latin typeface="Calibri"/>
              </a:rPr>
              <a:t>DMS : To be decided by IHCL 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2EAF18F-F991-02B8-5DD4-49B239C9A9F4}"/>
              </a:ext>
            </a:extLst>
          </p:cNvPr>
          <p:cNvGrpSpPr/>
          <p:nvPr/>
        </p:nvGrpSpPr>
        <p:grpSpPr>
          <a:xfrm>
            <a:off x="361497" y="4053049"/>
            <a:ext cx="829131" cy="487680"/>
            <a:chOff x="12511888" y="1711452"/>
            <a:chExt cx="814094" cy="505079"/>
          </a:xfrm>
        </p:grpSpPr>
        <p:grpSp>
          <p:nvGrpSpPr>
            <p:cNvPr id="69" name="object 113">
              <a:extLst>
                <a:ext uri="{FF2B5EF4-FFF2-40B4-BE49-F238E27FC236}">
                  <a16:creationId xmlns:a16="http://schemas.microsoft.com/office/drawing/2014/main" id="{FAF00771-2319-73D8-D71D-4A5C055B9FBD}"/>
                </a:ext>
              </a:extLst>
            </p:cNvPr>
            <p:cNvGrpSpPr/>
            <p:nvPr/>
          </p:nvGrpSpPr>
          <p:grpSpPr>
            <a:xfrm>
              <a:off x="12511888" y="1711452"/>
              <a:ext cx="814094" cy="505079"/>
              <a:chOff x="10182986" y="45338"/>
              <a:chExt cx="991869" cy="379095"/>
            </a:xfrm>
          </p:grpSpPr>
          <p:sp>
            <p:nvSpPr>
              <p:cNvPr id="72" name="object 114">
                <a:extLst>
                  <a:ext uri="{FF2B5EF4-FFF2-40B4-BE49-F238E27FC236}">
                    <a16:creationId xmlns:a16="http://schemas.microsoft.com/office/drawing/2014/main" id="{B072EA2D-C661-6CA2-86D6-9C434303315C}"/>
                  </a:ext>
                </a:extLst>
              </p:cNvPr>
              <p:cNvSpPr/>
              <p:nvPr/>
            </p:nvSpPr>
            <p:spPr>
              <a:xfrm>
                <a:off x="10192511" y="54863"/>
                <a:ext cx="972819" cy="360045"/>
              </a:xfrm>
              <a:custGeom>
                <a:avLst/>
                <a:gdLst/>
                <a:ahLst/>
                <a:cxnLst/>
                <a:rect l="l" t="t" r="r" b="b"/>
                <a:pathLst>
                  <a:path w="972820" h="360045">
                    <a:moveTo>
                      <a:pt x="342646" y="0"/>
                    </a:moveTo>
                    <a:lnTo>
                      <a:pt x="285844" y="5157"/>
                    </a:lnTo>
                    <a:lnTo>
                      <a:pt x="234686" y="19708"/>
                    </a:lnTo>
                    <a:lnTo>
                      <a:pt x="191261" y="42275"/>
                    </a:lnTo>
                    <a:lnTo>
                      <a:pt x="157658" y="71477"/>
                    </a:lnTo>
                    <a:lnTo>
                      <a:pt x="135965" y="105936"/>
                    </a:lnTo>
                    <a:lnTo>
                      <a:pt x="128270" y="144271"/>
                    </a:lnTo>
                    <a:lnTo>
                      <a:pt x="128270" y="151891"/>
                    </a:lnTo>
                    <a:lnTo>
                      <a:pt x="129159" y="159892"/>
                    </a:lnTo>
                    <a:lnTo>
                      <a:pt x="131445" y="167385"/>
                    </a:lnTo>
                    <a:lnTo>
                      <a:pt x="135509" y="184657"/>
                    </a:lnTo>
                    <a:lnTo>
                      <a:pt x="66222" y="197252"/>
                    </a:lnTo>
                    <a:lnTo>
                      <a:pt x="31369" y="216455"/>
                    </a:lnTo>
                    <a:lnTo>
                      <a:pt x="0" y="272922"/>
                    </a:lnTo>
                    <a:lnTo>
                      <a:pt x="10076" y="306728"/>
                    </a:lnTo>
                    <a:lnTo>
                      <a:pt x="37560" y="334295"/>
                    </a:lnTo>
                    <a:lnTo>
                      <a:pt x="78331" y="352861"/>
                    </a:lnTo>
                    <a:lnTo>
                      <a:pt x="128270" y="359663"/>
                    </a:lnTo>
                    <a:lnTo>
                      <a:pt x="857504" y="359663"/>
                    </a:lnTo>
                    <a:lnTo>
                      <a:pt x="902017" y="353613"/>
                    </a:lnTo>
                    <a:lnTo>
                      <a:pt x="938529" y="337073"/>
                    </a:lnTo>
                    <a:lnTo>
                      <a:pt x="963231" y="312461"/>
                    </a:lnTo>
                    <a:lnTo>
                      <a:pt x="972312" y="282193"/>
                    </a:lnTo>
                    <a:lnTo>
                      <a:pt x="963231" y="252120"/>
                    </a:lnTo>
                    <a:lnTo>
                      <a:pt x="938530" y="227441"/>
                    </a:lnTo>
                    <a:lnTo>
                      <a:pt x="902017" y="210738"/>
                    </a:lnTo>
                    <a:lnTo>
                      <a:pt x="869470" y="206247"/>
                    </a:lnTo>
                    <a:lnTo>
                      <a:pt x="824103" y="206247"/>
                    </a:lnTo>
                    <a:lnTo>
                      <a:pt x="822452" y="188975"/>
                    </a:lnTo>
                    <a:lnTo>
                      <a:pt x="811638" y="154048"/>
                    </a:lnTo>
                    <a:lnTo>
                      <a:pt x="786572" y="123986"/>
                    </a:lnTo>
                    <a:lnTo>
                      <a:pt x="751052" y="101218"/>
                    </a:lnTo>
                    <a:lnTo>
                      <a:pt x="548259" y="101218"/>
                    </a:lnTo>
                    <a:lnTo>
                      <a:pt x="537210" y="85089"/>
                    </a:lnTo>
                    <a:lnTo>
                      <a:pt x="511842" y="56392"/>
                    </a:lnTo>
                    <a:lnTo>
                      <a:pt x="478013" y="32808"/>
                    </a:lnTo>
                    <a:lnTo>
                      <a:pt x="437412" y="15065"/>
                    </a:lnTo>
                    <a:lnTo>
                      <a:pt x="391726" y="3887"/>
                    </a:lnTo>
                    <a:lnTo>
                      <a:pt x="342646" y="0"/>
                    </a:lnTo>
                    <a:close/>
                  </a:path>
                  <a:path w="972820" h="360045">
                    <a:moveTo>
                      <a:pt x="857504" y="204596"/>
                    </a:moveTo>
                    <a:lnTo>
                      <a:pt x="855218" y="204596"/>
                    </a:lnTo>
                    <a:lnTo>
                      <a:pt x="852805" y="205104"/>
                    </a:lnTo>
                    <a:lnTo>
                      <a:pt x="849630" y="205104"/>
                    </a:lnTo>
                    <a:lnTo>
                      <a:pt x="824103" y="206247"/>
                    </a:lnTo>
                    <a:lnTo>
                      <a:pt x="869470" y="206247"/>
                    </a:lnTo>
                    <a:lnTo>
                      <a:pt x="857504" y="204596"/>
                    </a:lnTo>
                    <a:close/>
                  </a:path>
                  <a:path w="972820" h="360045">
                    <a:moveTo>
                      <a:pt x="651891" y="79628"/>
                    </a:moveTo>
                    <a:lnTo>
                      <a:pt x="610885" y="82930"/>
                    </a:lnTo>
                    <a:lnTo>
                      <a:pt x="572262" y="93090"/>
                    </a:lnTo>
                    <a:lnTo>
                      <a:pt x="548259" y="101218"/>
                    </a:lnTo>
                    <a:lnTo>
                      <a:pt x="751052" y="101218"/>
                    </a:lnTo>
                    <a:lnTo>
                      <a:pt x="749857" y="100452"/>
                    </a:lnTo>
                    <a:lnTo>
                      <a:pt x="704096" y="85112"/>
                    </a:lnTo>
                    <a:lnTo>
                      <a:pt x="651891" y="79628"/>
                    </a:lnTo>
                    <a:close/>
                  </a:path>
                </a:pathLst>
              </a:custGeom>
              <a:solidFill>
                <a:srgbClr val="008FD2"/>
              </a:solidFill>
            </p:spPr>
            <p:txBody>
              <a:bodyPr wrap="square" lIns="0" tIns="0" rIns="0" bIns="0" rtlCol="0" anchor="ctr"/>
              <a:lstStyle/>
              <a:p>
                <a:pPr algn="ctr" defTabSz="554047">
                  <a:defRPr/>
                </a:pPr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84" name="object 115">
                <a:extLst>
                  <a:ext uri="{FF2B5EF4-FFF2-40B4-BE49-F238E27FC236}">
                    <a16:creationId xmlns:a16="http://schemas.microsoft.com/office/drawing/2014/main" id="{B42DC1D0-C5F8-BA5D-AB51-AB8892310042}"/>
                  </a:ext>
                </a:extLst>
              </p:cNvPr>
              <p:cNvSpPr/>
              <p:nvPr/>
            </p:nvSpPr>
            <p:spPr>
              <a:xfrm>
                <a:off x="10192511" y="54863"/>
                <a:ext cx="972819" cy="360045"/>
              </a:xfrm>
              <a:custGeom>
                <a:avLst/>
                <a:gdLst/>
                <a:ahLst/>
                <a:cxnLst/>
                <a:rect l="l" t="t" r="r" b="b"/>
                <a:pathLst>
                  <a:path w="972820" h="360045">
                    <a:moveTo>
                      <a:pt x="128270" y="359663"/>
                    </a:moveTo>
                    <a:lnTo>
                      <a:pt x="78331" y="352861"/>
                    </a:lnTo>
                    <a:lnTo>
                      <a:pt x="37560" y="334295"/>
                    </a:lnTo>
                    <a:lnTo>
                      <a:pt x="10076" y="306728"/>
                    </a:lnTo>
                    <a:lnTo>
                      <a:pt x="0" y="272922"/>
                    </a:lnTo>
                    <a:lnTo>
                      <a:pt x="8326" y="242492"/>
                    </a:lnTo>
                    <a:lnTo>
                      <a:pt x="66222" y="197252"/>
                    </a:lnTo>
                    <a:lnTo>
                      <a:pt x="109982" y="187325"/>
                    </a:lnTo>
                    <a:lnTo>
                      <a:pt x="132318" y="184991"/>
                    </a:lnTo>
                    <a:lnTo>
                      <a:pt x="135110" y="184699"/>
                    </a:lnTo>
                    <a:lnTo>
                      <a:pt x="135509" y="184657"/>
                    </a:lnTo>
                    <a:lnTo>
                      <a:pt x="131445" y="167385"/>
                    </a:lnTo>
                    <a:lnTo>
                      <a:pt x="129159" y="159892"/>
                    </a:lnTo>
                    <a:lnTo>
                      <a:pt x="128270" y="151891"/>
                    </a:lnTo>
                    <a:lnTo>
                      <a:pt x="128270" y="144271"/>
                    </a:lnTo>
                    <a:lnTo>
                      <a:pt x="135965" y="105936"/>
                    </a:lnTo>
                    <a:lnTo>
                      <a:pt x="157658" y="71477"/>
                    </a:lnTo>
                    <a:lnTo>
                      <a:pt x="191261" y="42275"/>
                    </a:lnTo>
                    <a:lnTo>
                      <a:pt x="234686" y="19708"/>
                    </a:lnTo>
                    <a:lnTo>
                      <a:pt x="285844" y="5157"/>
                    </a:lnTo>
                    <a:lnTo>
                      <a:pt x="342646" y="0"/>
                    </a:lnTo>
                    <a:lnTo>
                      <a:pt x="391726" y="3887"/>
                    </a:lnTo>
                    <a:lnTo>
                      <a:pt x="437412" y="15065"/>
                    </a:lnTo>
                    <a:lnTo>
                      <a:pt x="478013" y="32808"/>
                    </a:lnTo>
                    <a:lnTo>
                      <a:pt x="511842" y="56392"/>
                    </a:lnTo>
                    <a:lnTo>
                      <a:pt x="537210" y="85089"/>
                    </a:lnTo>
                    <a:lnTo>
                      <a:pt x="548259" y="101218"/>
                    </a:lnTo>
                    <a:lnTo>
                      <a:pt x="572262" y="93090"/>
                    </a:lnTo>
                    <a:lnTo>
                      <a:pt x="591186" y="87129"/>
                    </a:lnTo>
                    <a:lnTo>
                      <a:pt x="610885" y="82930"/>
                    </a:lnTo>
                    <a:lnTo>
                      <a:pt x="631180" y="80446"/>
                    </a:lnTo>
                    <a:lnTo>
                      <a:pt x="651891" y="79628"/>
                    </a:lnTo>
                    <a:lnTo>
                      <a:pt x="704096" y="85112"/>
                    </a:lnTo>
                    <a:lnTo>
                      <a:pt x="749857" y="100452"/>
                    </a:lnTo>
                    <a:lnTo>
                      <a:pt x="786572" y="123986"/>
                    </a:lnTo>
                    <a:lnTo>
                      <a:pt x="811638" y="154048"/>
                    </a:lnTo>
                    <a:lnTo>
                      <a:pt x="824103" y="206247"/>
                    </a:lnTo>
                    <a:lnTo>
                      <a:pt x="838860" y="205587"/>
                    </a:lnTo>
                    <a:lnTo>
                      <a:pt x="846439" y="205247"/>
                    </a:lnTo>
                    <a:lnTo>
                      <a:pt x="849231" y="205122"/>
                    </a:lnTo>
                    <a:lnTo>
                      <a:pt x="849630" y="205104"/>
                    </a:lnTo>
                    <a:lnTo>
                      <a:pt x="852805" y="205104"/>
                    </a:lnTo>
                    <a:lnTo>
                      <a:pt x="855218" y="204596"/>
                    </a:lnTo>
                    <a:lnTo>
                      <a:pt x="857504" y="204596"/>
                    </a:lnTo>
                    <a:lnTo>
                      <a:pt x="902017" y="210738"/>
                    </a:lnTo>
                    <a:lnTo>
                      <a:pt x="938530" y="227441"/>
                    </a:lnTo>
                    <a:lnTo>
                      <a:pt x="963231" y="252120"/>
                    </a:lnTo>
                    <a:lnTo>
                      <a:pt x="972312" y="282193"/>
                    </a:lnTo>
                    <a:lnTo>
                      <a:pt x="963231" y="312461"/>
                    </a:lnTo>
                    <a:lnTo>
                      <a:pt x="938529" y="337073"/>
                    </a:lnTo>
                    <a:lnTo>
                      <a:pt x="902017" y="353613"/>
                    </a:lnTo>
                    <a:lnTo>
                      <a:pt x="857504" y="359663"/>
                    </a:lnTo>
                    <a:lnTo>
                      <a:pt x="128270" y="359663"/>
                    </a:lnTo>
                    <a:close/>
                  </a:path>
                </a:pathLst>
              </a:custGeom>
              <a:ln w="19050">
                <a:solidFill>
                  <a:srgbClr val="C3EBFF"/>
                </a:solidFill>
              </a:ln>
            </p:spPr>
            <p:txBody>
              <a:bodyPr wrap="square" lIns="0" tIns="0" rIns="0" bIns="0" rtlCol="0"/>
              <a:lstStyle/>
              <a:p>
                <a:pPr defTabSz="554047">
                  <a:defRPr/>
                </a:pPr>
                <a:endParaRPr sz="1091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2AA61BD-CA89-794F-A38E-E9D8FD31ED74}"/>
                </a:ext>
              </a:extLst>
            </p:cNvPr>
            <p:cNvSpPr txBox="1"/>
            <p:nvPr/>
          </p:nvSpPr>
          <p:spPr>
            <a:xfrm>
              <a:off x="12639102" y="1834616"/>
              <a:ext cx="588772" cy="3506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554047">
                <a:defRPr/>
              </a:pPr>
              <a:r>
                <a:rPr lang="en-US" sz="800" dirty="0">
                  <a:solidFill>
                    <a:prstClr val="white"/>
                  </a:solidFill>
                  <a:latin typeface="Calibri" panose="020F0502020204030204"/>
                </a:rPr>
                <a:t>Public </a:t>
              </a:r>
            </a:p>
            <a:p>
              <a:pPr defTabSz="554047">
                <a:defRPr/>
              </a:pPr>
              <a:r>
                <a:rPr lang="en-US" sz="800" dirty="0">
                  <a:solidFill>
                    <a:prstClr val="white"/>
                  </a:solidFill>
                  <a:latin typeface="Calibri" panose="020F0502020204030204"/>
                </a:rPr>
                <a:t>Cloud</a:t>
              </a:r>
            </a:p>
          </p:txBody>
        </p:sp>
      </p:grp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80F964C6-C141-1272-B6AE-E058DA728C43}"/>
              </a:ext>
            </a:extLst>
          </p:cNvPr>
          <p:cNvSpPr/>
          <p:nvPr/>
        </p:nvSpPr>
        <p:spPr>
          <a:xfrm>
            <a:off x="2826959" y="6231363"/>
            <a:ext cx="1097280" cy="515551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tIns="0" bIns="0" rtlCol="0" anchor="t"/>
          <a:lstStyle/>
          <a:p>
            <a:pPr algn="ctr" defTabSz="914354"/>
            <a:r>
              <a:rPr lang="en-US" sz="1067" b="1" kern="0" dirty="0" err="1">
                <a:solidFill>
                  <a:prstClr val="white"/>
                </a:solidFill>
                <a:latin typeface="Calibri" panose="020F0502020204030204"/>
              </a:rPr>
              <a:t>Onespan</a:t>
            </a:r>
            <a:endParaRPr lang="en-US" sz="1067" b="1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E92125D-A151-FE12-F753-477BB8B4957C}"/>
              </a:ext>
            </a:extLst>
          </p:cNvPr>
          <p:cNvSpPr txBox="1"/>
          <p:nvPr/>
        </p:nvSpPr>
        <p:spPr>
          <a:xfrm>
            <a:off x="2929215" y="6426255"/>
            <a:ext cx="902533" cy="220909"/>
          </a:xfrm>
          <a:prstGeom prst="round2SameRect">
            <a:avLst/>
          </a:prstGeom>
          <a:solidFill>
            <a:sysClr val="window" lastClr="FFFFFF"/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algn="ctr" defTabSz="914354">
              <a:defRPr/>
            </a:pPr>
            <a:r>
              <a:rPr lang="en-US" sz="933" b="1" kern="0" dirty="0">
                <a:solidFill>
                  <a:srgbClr val="000000">
                    <a:lumMod val="95000"/>
                    <a:lumOff val="5000"/>
                  </a:srgbClr>
                </a:solidFill>
                <a:latin typeface="Calibri" panose="020F0502020204030204"/>
              </a:rPr>
              <a:t>Digital Signature</a:t>
            </a:r>
          </a:p>
        </p:txBody>
      </p:sp>
    </p:spTree>
    <p:extLst>
      <p:ext uri="{BB962C8B-B14F-4D97-AF65-F5344CB8AC3E}">
        <p14:creationId xmlns:p14="http://schemas.microsoft.com/office/powerpoint/2010/main" val="3134224953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 Slides_White">
  <a:themeElements>
    <a:clrScheme name="BOB Color 1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83EBE7"/>
      </a:accent1>
      <a:accent2>
        <a:srgbClr val="47A3EB"/>
      </a:accent2>
      <a:accent3>
        <a:srgbClr val="7159B1"/>
      </a:accent3>
      <a:accent4>
        <a:srgbClr val="CB336B"/>
      </a:accent4>
      <a:accent5>
        <a:srgbClr val="EF7333"/>
      </a:accent5>
      <a:accent6>
        <a:srgbClr val="FFEB33"/>
      </a:accent6>
      <a:hlink>
        <a:srgbClr val="F03782"/>
      </a:hlink>
      <a:folHlink>
        <a:srgbClr val="005B9C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03782"/>
        </a:solidFill>
        <a:ln>
          <a:noFill/>
        </a:ln>
      </a:spPr>
      <a:bodyPr rtlCol="0" anchor="ctr"/>
      <a:lstStyle>
        <a:defPPr algn="ctr">
          <a:defRPr sz="16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0378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TCS White">
      <a:srgbClr val="F4F3F9"/>
    </a:custClr>
    <a:custClr name="TCS Black">
      <a:srgbClr val="1E2323"/>
    </a:custClr>
    <a:custClr name="TCS Pink">
      <a:srgbClr val="F03782"/>
    </a:custClr>
    <a:custClr name="TCS Green 1">
      <a:srgbClr val="83EBE7"/>
    </a:custClr>
    <a:custClr name="TCS Green 2">
      <a:srgbClr val="A2F0ED"/>
    </a:custClr>
    <a:custClr name="TCS Green 3">
      <a:srgbClr val="C1F5F3"/>
    </a:custClr>
    <a:custClr name="TCS Blue 1">
      <a:srgbClr val="47A3EB"/>
    </a:custClr>
    <a:custClr name="TCS Blue 2">
      <a:srgbClr val="75BAF0"/>
    </a:custClr>
    <a:custClr name="TCS Blue 3">
      <a:srgbClr val="A3D1F5"/>
    </a:custClr>
    <a:custClr name="TCS Purple 1">
      <a:srgbClr val="7159B1"/>
    </a:custClr>
    <a:custClr name="TCS Purple 2">
      <a:srgbClr val="9482C5"/>
    </a:custClr>
    <a:custClr name="TCS Purple 3">
      <a:srgbClr val="B8ACD8"/>
    </a:custClr>
    <a:custClr name="TCS Magenta 1">
      <a:srgbClr val="CB336B"/>
    </a:custClr>
    <a:custClr name="TCS Magenta 2">
      <a:srgbClr val="D86690"/>
    </a:custClr>
    <a:custClr name="TCS Magenta 3">
      <a:srgbClr val="E599B5"/>
    </a:custClr>
    <a:custClr name="TCS Orange 1">
      <a:srgbClr val="EF7333"/>
    </a:custClr>
    <a:custClr name="TCS Orange 2">
      <a:srgbClr val="F39666"/>
    </a:custClr>
    <a:custClr name="TCS Orange 3">
      <a:srgbClr val="F7B999"/>
    </a:custClr>
    <a:custClr name="TCS Yellow 1">
      <a:srgbClr val="FFEB33"/>
    </a:custClr>
    <a:custClr name="TCS Yellow 2">
      <a:srgbClr val="FFF066"/>
    </a:custClr>
    <a:custClr name="TCS Yellow 3">
      <a:srgbClr val="FFF599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04b1967-6507-45ab-8a6d-7374a3f478be}" enabled="0" method="" siteId="{404b1967-6507-45ab-8a6d-7374a3f478b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629</Words>
  <Application>Microsoft Office PowerPoint</Application>
  <PresentationFormat>Widescreen</PresentationFormat>
  <Paragraphs>236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Calibri Light</vt:lpstr>
      <vt:lpstr>Courier New</vt:lpstr>
      <vt:lpstr>Myriad Pro</vt:lpstr>
      <vt:lpstr>Symbol</vt:lpstr>
      <vt:lpstr>Content Slides_White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Aravind Medur</dc:creator>
  <cp:lastModifiedBy>Aravind Medur</cp:lastModifiedBy>
  <cp:revision>1</cp:revision>
  <dcterms:created xsi:type="dcterms:W3CDTF">2024-09-01T16:51:29Z</dcterms:created>
  <dcterms:modified xsi:type="dcterms:W3CDTF">2024-09-01T16:52:34Z</dcterms:modified>
</cp:coreProperties>
</file>